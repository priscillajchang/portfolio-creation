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6858000" cy="9144000"/>
  <p:embeddedFontLst>
    <p:embeddedFont>
      <p:font typeface="DM Sans" panose="020F0502020204030204" pitchFamily="2" charset="0"/>
      <p:regular r:id="rId19"/>
    </p:embeddedFont>
    <p:embeddedFont>
      <p:font typeface="DM Sans Bold" panose="020B0604020202020204" charset="0"/>
      <p:regular r:id="rId20"/>
    </p:embeddedFont>
    <p:embeddedFont>
      <p:font typeface="Poppins" panose="020B0502040204020203" pitchFamily="2" charset="0"/>
      <p:regular r:id="rId21"/>
    </p:embeddedFont>
    <p:embeddedFont>
      <p:font typeface="Poppins Bold" panose="020B0604020202020204" charset="0"/>
      <p:regular r:id="rId22"/>
    </p:embeddedFont>
    <p:embeddedFont>
      <p:font typeface="Poppins Light" panose="020B0502040204020203" pitchFamily="2"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62" d="100"/>
          <a:sy n="62" d="100"/>
        </p:scale>
        <p:origin x="120" y="1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04.12.2025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Oldest entrepreneurial organization at Rutgers.</a:t>
            </a:r>
          </a:p>
          <a:p>
            <a:endParaRPr lang="en-US"/>
          </a:p>
          <a:p>
            <a:r>
              <a:rPr lang="en-US"/>
              <a:t>Mainly student-run and strives to make a community for innovators, inventors, and entrepreneurs who are dedicated to building for the future.</a:t>
            </a:r>
          </a:p>
          <a:p>
            <a:endParaRPr lang="en-US"/>
          </a:p>
          <a:p>
            <a:r>
              <a:rPr lang="en-US"/>
              <a:t>RBS + Hatchery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 seniors, 1 junior, and 2 sophomores</a:t>
            </a:r>
          </a:p>
          <a:p>
            <a:endParaRPr lang="en-US"/>
          </a:p>
          <a:p>
            <a:r>
              <a:rPr lang="en-US"/>
              <a:t>2 Presidents, 2 Vice Presidents, 1 Senior Advisor, 1 Treasurer, 1 Director of Marketing, and 1 Director of Outreach</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Road to Silicon V/Alley, the Venture Capital Club, the Innovation Design and Entrepreneurship Academy (IDEA), Blueprint, Enactus, RU Makers, and the Biomedical Entrepreneurship Network (BEN)</a:t>
            </a:r>
          </a:p>
          <a:p>
            <a:endParaRPr lang="en-US"/>
          </a:p>
          <a:p>
            <a:endParaRPr lang="en-US"/>
          </a:p>
          <a:p>
            <a:r>
              <a:rPr lang="en-US"/>
              <a:t>World Economic Forum.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don't talk about goals, work ethic -&gt; misinterpretation regarding commitment levels.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svg"/></Relationships>
</file>

<file path=ppt/slides/_rels/slide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 Id="rId9" Type="http://schemas.openxmlformats.org/officeDocument/2006/relationships/image" Target="../media/image22.png"/></Relationships>
</file>

<file path=ppt/slides/_rels/slide5.xml.rels><?xml version="1.0" encoding="UTF-8" standalone="yes"?>
<Relationships xmlns="http://schemas.openxmlformats.org/package/2006/relationships"><Relationship Id="rId3" Type="http://schemas.openxmlformats.org/officeDocument/2006/relationships/image" Target="../media/image24.svg"/><Relationship Id="rId7" Type="http://schemas.openxmlformats.org/officeDocument/2006/relationships/image" Target="../media/image26.png"/><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25.png"/></Relationships>
</file>

<file path=ppt/slides/_rels/slide6.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svg"/><Relationship Id="rId4" Type="http://schemas.openxmlformats.org/officeDocument/2006/relationships/image" Target="../media/image29.png"/></Relationships>
</file>

<file path=ppt/slides/_rels/slide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4.sv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32.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1.svg"/></Relationships>
</file>

<file path=ppt/slides/_rels/slide9.xml.rels><?xml version="1.0" encoding="UTF-8" standalone="yes"?>
<Relationships xmlns="http://schemas.openxmlformats.org/package/2006/relationships"><Relationship Id="rId8" Type="http://schemas.openxmlformats.org/officeDocument/2006/relationships/image" Target="../media/image33.jpeg"/><Relationship Id="rId3" Type="http://schemas.openxmlformats.org/officeDocument/2006/relationships/image" Target="../media/image28.svg"/><Relationship Id="rId7" Type="http://schemas.openxmlformats.org/officeDocument/2006/relationships/image" Target="../media/image19.sv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30.svg"/><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1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12.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13.xml.rels><?xml version="1.0" encoding="UTF-8" standalone="yes"?>
<Relationships xmlns="http://schemas.openxmlformats.org/package/2006/relationships"><Relationship Id="rId3" Type="http://schemas.openxmlformats.org/officeDocument/2006/relationships/image" Target="../media/image17.svg"/><Relationship Id="rId7" Type="http://schemas.openxmlformats.org/officeDocument/2006/relationships/image" Target="../media/image40.sv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19.sv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15.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7.svg"/><Relationship Id="rId7" Type="http://schemas.openxmlformats.org/officeDocument/2006/relationships/image" Target="../media/image40.sv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19.sv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2EF"/>
        </a:solidFill>
        <a:effectLst/>
      </p:bgPr>
    </p:bg>
    <p:spTree>
      <p:nvGrpSpPr>
        <p:cNvPr id="1" name=""/>
        <p:cNvGrpSpPr/>
        <p:nvPr/>
      </p:nvGrpSpPr>
      <p:grpSpPr>
        <a:xfrm>
          <a:off x="0" y="0"/>
          <a:ext cx="0" cy="0"/>
          <a:chOff x="0" y="0"/>
          <a:chExt cx="0" cy="0"/>
        </a:xfrm>
      </p:grpSpPr>
      <p:sp>
        <p:nvSpPr>
          <p:cNvPr id="2" name="Freeform 2"/>
          <p:cNvSpPr/>
          <p:nvPr/>
        </p:nvSpPr>
        <p:spPr>
          <a:xfrm>
            <a:off x="8416992" y="-11430"/>
            <a:ext cx="10287260" cy="10298430"/>
          </a:xfrm>
          <a:custGeom>
            <a:avLst/>
            <a:gdLst/>
            <a:ahLst/>
            <a:cxnLst/>
            <a:rect l="l" t="t" r="r" b="b"/>
            <a:pathLst>
              <a:path w="10287260" h="10298430">
                <a:moveTo>
                  <a:pt x="0" y="0"/>
                </a:moveTo>
                <a:lnTo>
                  <a:pt x="10287260" y="0"/>
                </a:lnTo>
                <a:lnTo>
                  <a:pt x="10287260" y="10298430"/>
                </a:lnTo>
                <a:lnTo>
                  <a:pt x="0" y="102984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16026515" y="6977131"/>
            <a:ext cx="1232785" cy="1232785"/>
          </a:xfrm>
          <a:custGeom>
            <a:avLst/>
            <a:gdLst/>
            <a:ahLst/>
            <a:cxnLst/>
            <a:rect l="l" t="t" r="r" b="b"/>
            <a:pathLst>
              <a:path w="1232785" h="1232785">
                <a:moveTo>
                  <a:pt x="0" y="0"/>
                </a:moveTo>
                <a:lnTo>
                  <a:pt x="1232785" y="0"/>
                </a:lnTo>
                <a:lnTo>
                  <a:pt x="1232785" y="1232784"/>
                </a:lnTo>
                <a:lnTo>
                  <a:pt x="0" y="123278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TextBox 4"/>
          <p:cNvSpPr txBox="1"/>
          <p:nvPr/>
        </p:nvSpPr>
        <p:spPr>
          <a:xfrm>
            <a:off x="840636" y="2972984"/>
            <a:ext cx="14346677" cy="4172994"/>
          </a:xfrm>
          <a:prstGeom prst="rect">
            <a:avLst/>
          </a:prstGeom>
        </p:spPr>
        <p:txBody>
          <a:bodyPr lIns="0" tIns="0" rIns="0" bIns="0" rtlCol="0" anchor="t">
            <a:spAutoFit/>
          </a:bodyPr>
          <a:lstStyle/>
          <a:p>
            <a:pPr algn="l">
              <a:lnSpc>
                <a:spcPts val="10541"/>
              </a:lnSpc>
            </a:pPr>
            <a:r>
              <a:rPr lang="en-US" sz="10541">
                <a:solidFill>
                  <a:srgbClr val="000000"/>
                </a:solidFill>
                <a:latin typeface="Poppins"/>
                <a:ea typeface="Poppins"/>
                <a:cs typeface="Poppins"/>
                <a:sym typeface="Poppins"/>
              </a:rPr>
              <a:t>RUTGERS</a:t>
            </a:r>
          </a:p>
          <a:p>
            <a:pPr algn="l">
              <a:lnSpc>
                <a:spcPts val="10541"/>
              </a:lnSpc>
            </a:pPr>
            <a:r>
              <a:rPr lang="en-US" sz="10541">
                <a:solidFill>
                  <a:srgbClr val="000000"/>
                </a:solidFill>
                <a:latin typeface="Poppins"/>
                <a:ea typeface="Poppins"/>
                <a:cs typeface="Poppins"/>
                <a:sym typeface="Poppins"/>
              </a:rPr>
              <a:t>ENTREPRENEURIAL</a:t>
            </a:r>
          </a:p>
          <a:p>
            <a:pPr algn="l">
              <a:lnSpc>
                <a:spcPts val="10541"/>
              </a:lnSpc>
            </a:pPr>
            <a:r>
              <a:rPr lang="en-US" sz="10541">
                <a:solidFill>
                  <a:srgbClr val="000000"/>
                </a:solidFill>
                <a:latin typeface="Poppins"/>
                <a:ea typeface="Poppins"/>
                <a:cs typeface="Poppins"/>
                <a:sym typeface="Poppins"/>
              </a:rPr>
              <a:t>SOCIETY </a:t>
            </a:r>
          </a:p>
        </p:txBody>
      </p:sp>
      <p:sp>
        <p:nvSpPr>
          <p:cNvPr id="5" name="TextBox 5"/>
          <p:cNvSpPr txBox="1"/>
          <p:nvPr/>
        </p:nvSpPr>
        <p:spPr>
          <a:xfrm>
            <a:off x="840636" y="7783849"/>
            <a:ext cx="6610427" cy="547370"/>
          </a:xfrm>
          <a:prstGeom prst="rect">
            <a:avLst/>
          </a:prstGeom>
        </p:spPr>
        <p:txBody>
          <a:bodyPr lIns="0" tIns="0" rIns="0" bIns="0" rtlCol="0" anchor="t">
            <a:spAutoFit/>
          </a:bodyPr>
          <a:lstStyle/>
          <a:p>
            <a:pPr algn="l">
              <a:lnSpc>
                <a:spcPts val="4480"/>
              </a:lnSpc>
            </a:pPr>
            <a:r>
              <a:rPr lang="en-US" sz="3200">
                <a:solidFill>
                  <a:srgbClr val="A31212"/>
                </a:solidFill>
                <a:latin typeface="DM Sans"/>
                <a:ea typeface="DM Sans"/>
                <a:cs typeface="DM Sans"/>
                <a:sym typeface="DM Sans"/>
              </a:rPr>
              <a:t>TEAM 2 - MANAGEMENT SKILLS</a:t>
            </a:r>
          </a:p>
        </p:txBody>
      </p:sp>
      <p:sp>
        <p:nvSpPr>
          <p:cNvPr id="6" name="TextBox 6"/>
          <p:cNvSpPr txBox="1"/>
          <p:nvPr/>
        </p:nvSpPr>
        <p:spPr>
          <a:xfrm>
            <a:off x="14807952" y="8846820"/>
            <a:ext cx="2451348" cy="405765"/>
          </a:xfrm>
          <a:prstGeom prst="rect">
            <a:avLst/>
          </a:prstGeom>
        </p:spPr>
        <p:txBody>
          <a:bodyPr lIns="0" tIns="0" rIns="0" bIns="0" rtlCol="0" anchor="t">
            <a:spAutoFit/>
          </a:bodyPr>
          <a:lstStyle/>
          <a:p>
            <a:pPr algn="r">
              <a:lnSpc>
                <a:spcPts val="3359"/>
              </a:lnSpc>
            </a:pPr>
            <a:r>
              <a:rPr lang="en-US" sz="2400">
                <a:solidFill>
                  <a:srgbClr val="FFFFFF"/>
                </a:solidFill>
                <a:latin typeface="DM Sans"/>
                <a:ea typeface="DM Sans"/>
                <a:cs typeface="DM Sans"/>
                <a:sym typeface="DM Sans"/>
              </a:rPr>
              <a:t>DECEMBER, 2025</a:t>
            </a:r>
          </a:p>
        </p:txBody>
      </p:sp>
      <p:sp>
        <p:nvSpPr>
          <p:cNvPr id="7" name="TextBox 7"/>
          <p:cNvSpPr txBox="1"/>
          <p:nvPr/>
        </p:nvSpPr>
        <p:spPr>
          <a:xfrm>
            <a:off x="840636" y="1247400"/>
            <a:ext cx="5133019" cy="547370"/>
          </a:xfrm>
          <a:prstGeom prst="rect">
            <a:avLst/>
          </a:prstGeom>
        </p:spPr>
        <p:txBody>
          <a:bodyPr lIns="0" tIns="0" rIns="0" bIns="0" rtlCol="0" anchor="t">
            <a:spAutoFit/>
          </a:bodyPr>
          <a:lstStyle/>
          <a:p>
            <a:pPr algn="l">
              <a:lnSpc>
                <a:spcPts val="4480"/>
              </a:lnSpc>
            </a:pPr>
            <a:r>
              <a:rPr lang="en-US" sz="3200">
                <a:solidFill>
                  <a:srgbClr val="A31212"/>
                </a:solidFill>
                <a:latin typeface="DM Sans"/>
                <a:ea typeface="DM Sans"/>
                <a:cs typeface="DM Sans"/>
                <a:sym typeface="DM Sans"/>
              </a:rPr>
              <a:t>FINAL PRESENTATION</a:t>
            </a:r>
          </a:p>
        </p:txBody>
      </p:sp>
      <p:sp>
        <p:nvSpPr>
          <p:cNvPr id="8" name="TextBox 8"/>
          <p:cNvSpPr txBox="1"/>
          <p:nvPr/>
        </p:nvSpPr>
        <p:spPr>
          <a:xfrm>
            <a:off x="840636" y="8663305"/>
            <a:ext cx="6365944" cy="772794"/>
          </a:xfrm>
          <a:prstGeom prst="rect">
            <a:avLst/>
          </a:prstGeom>
        </p:spPr>
        <p:txBody>
          <a:bodyPr lIns="0" tIns="0" rIns="0" bIns="0" rtlCol="0" anchor="t">
            <a:spAutoFit/>
          </a:bodyPr>
          <a:lstStyle/>
          <a:p>
            <a:pPr algn="l">
              <a:lnSpc>
                <a:spcPts val="3080"/>
              </a:lnSpc>
            </a:pPr>
            <a:r>
              <a:rPr lang="en-US" sz="2200">
                <a:solidFill>
                  <a:srgbClr val="A31212"/>
                </a:solidFill>
                <a:latin typeface="DM Sans"/>
                <a:ea typeface="DM Sans"/>
                <a:cs typeface="DM Sans"/>
                <a:sym typeface="DM Sans"/>
              </a:rPr>
              <a:t>SHYLA MIRWANI, HARIKA NAREDDY, PRISCILLA CHANG, ALEKSEY SERGEEV, ETHAN SMITH</a:t>
            </a:r>
          </a:p>
        </p:txBody>
      </p:sp>
      <p:sp>
        <p:nvSpPr>
          <p:cNvPr id="9" name="TextBox 9"/>
          <p:cNvSpPr txBox="1"/>
          <p:nvPr/>
        </p:nvSpPr>
        <p:spPr>
          <a:xfrm>
            <a:off x="17820590" y="9239566"/>
            <a:ext cx="191095" cy="842646"/>
          </a:xfrm>
          <a:prstGeom prst="rect">
            <a:avLst/>
          </a:prstGeom>
        </p:spPr>
        <p:txBody>
          <a:bodyPr lIns="0" tIns="0" rIns="0" bIns="0" rtlCol="0" anchor="t">
            <a:spAutoFit/>
          </a:bodyPr>
          <a:lstStyle/>
          <a:p>
            <a:pPr algn="ctr">
              <a:lnSpc>
                <a:spcPts val="6579"/>
              </a:lnSpc>
              <a:spcBef>
                <a:spcPct val="0"/>
              </a:spcBef>
            </a:pPr>
            <a:r>
              <a:rPr lang="en-US" sz="4699">
                <a:solidFill>
                  <a:srgbClr val="F5F2EF"/>
                </a:solidFill>
                <a:latin typeface="Poppins"/>
                <a:ea typeface="Poppins"/>
                <a:cs typeface="Poppins"/>
                <a:sym typeface="Poppins"/>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2EF"/>
        </a:solidFill>
        <a:effectLst/>
      </p:bgPr>
    </p:bg>
    <p:spTree>
      <p:nvGrpSpPr>
        <p:cNvPr id="1" name=""/>
        <p:cNvGrpSpPr/>
        <p:nvPr/>
      </p:nvGrpSpPr>
      <p:grpSpPr>
        <a:xfrm>
          <a:off x="0" y="0"/>
          <a:ext cx="0" cy="0"/>
          <a:chOff x="0" y="0"/>
          <a:chExt cx="0" cy="0"/>
        </a:xfrm>
      </p:grpSpPr>
      <p:sp>
        <p:nvSpPr>
          <p:cNvPr id="2" name="Freeform 2"/>
          <p:cNvSpPr/>
          <p:nvPr/>
        </p:nvSpPr>
        <p:spPr>
          <a:xfrm>
            <a:off x="0" y="-103435"/>
            <a:ext cx="10390435" cy="10390435"/>
          </a:xfrm>
          <a:custGeom>
            <a:avLst/>
            <a:gdLst/>
            <a:ahLst/>
            <a:cxnLst/>
            <a:rect l="l" t="t" r="r" b="b"/>
            <a:pathLst>
              <a:path w="10390435" h="10390435">
                <a:moveTo>
                  <a:pt x="0" y="0"/>
                </a:moveTo>
                <a:lnTo>
                  <a:pt x="10390435" y="0"/>
                </a:lnTo>
                <a:lnTo>
                  <a:pt x="10390435" y="10390435"/>
                </a:lnTo>
                <a:lnTo>
                  <a:pt x="0" y="1039043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a:off x="1068659" y="2888031"/>
            <a:ext cx="871730" cy="871730"/>
          </a:xfrm>
          <a:custGeom>
            <a:avLst/>
            <a:gdLst/>
            <a:ahLst/>
            <a:cxnLst/>
            <a:rect l="l" t="t" r="r" b="b"/>
            <a:pathLst>
              <a:path w="871730" h="871730">
                <a:moveTo>
                  <a:pt x="0" y="0"/>
                </a:moveTo>
                <a:lnTo>
                  <a:pt x="871731" y="0"/>
                </a:lnTo>
                <a:lnTo>
                  <a:pt x="871731" y="871731"/>
                </a:lnTo>
                <a:lnTo>
                  <a:pt x="0" y="87173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4" name="Freeform 4"/>
          <p:cNvSpPr/>
          <p:nvPr/>
        </p:nvSpPr>
        <p:spPr>
          <a:xfrm>
            <a:off x="10390435" y="-189355"/>
            <a:ext cx="8429792" cy="5281137"/>
          </a:xfrm>
          <a:custGeom>
            <a:avLst/>
            <a:gdLst/>
            <a:ahLst/>
            <a:cxnLst/>
            <a:rect l="l" t="t" r="r" b="b"/>
            <a:pathLst>
              <a:path w="8429792" h="5281137">
                <a:moveTo>
                  <a:pt x="0" y="0"/>
                </a:moveTo>
                <a:lnTo>
                  <a:pt x="8429792" y="0"/>
                </a:lnTo>
                <a:lnTo>
                  <a:pt x="8429792" y="5281138"/>
                </a:lnTo>
                <a:lnTo>
                  <a:pt x="0" y="5281138"/>
                </a:lnTo>
                <a:lnTo>
                  <a:pt x="0" y="0"/>
                </a:lnTo>
                <a:close/>
              </a:path>
            </a:pathLst>
          </a:custGeom>
          <a:blipFill>
            <a:blip r:embed="rId7"/>
            <a:stretch>
              <a:fillRect l="-7284" t="-15686" b="-32229"/>
            </a:stretch>
          </a:blipFill>
        </p:spPr>
        <p:txBody>
          <a:bodyPr/>
          <a:lstStyle/>
          <a:p>
            <a:endParaRPr lang="en-US"/>
          </a:p>
        </p:txBody>
      </p:sp>
      <p:sp>
        <p:nvSpPr>
          <p:cNvPr id="5" name="TextBox 5"/>
          <p:cNvSpPr txBox="1"/>
          <p:nvPr/>
        </p:nvSpPr>
        <p:spPr>
          <a:xfrm>
            <a:off x="5949576" y="5648476"/>
            <a:ext cx="9633972" cy="1146176"/>
          </a:xfrm>
          <a:prstGeom prst="rect">
            <a:avLst/>
          </a:prstGeom>
        </p:spPr>
        <p:txBody>
          <a:bodyPr lIns="0" tIns="0" rIns="0" bIns="0" rtlCol="0" anchor="t">
            <a:spAutoFit/>
          </a:bodyPr>
          <a:lstStyle/>
          <a:p>
            <a:pPr algn="l">
              <a:lnSpc>
                <a:spcPts val="8000"/>
              </a:lnSpc>
            </a:pPr>
            <a:r>
              <a:rPr lang="en-US" sz="8000">
                <a:solidFill>
                  <a:srgbClr val="000000"/>
                </a:solidFill>
                <a:latin typeface="Poppins Light"/>
                <a:ea typeface="Poppins Light"/>
                <a:cs typeface="Poppins Light"/>
                <a:sym typeface="Poppins Light"/>
              </a:rPr>
              <a:t>COMPANY ACCESS</a:t>
            </a:r>
          </a:p>
        </p:txBody>
      </p:sp>
      <p:sp>
        <p:nvSpPr>
          <p:cNvPr id="6" name="TextBox 6"/>
          <p:cNvSpPr txBox="1"/>
          <p:nvPr/>
        </p:nvSpPr>
        <p:spPr>
          <a:xfrm>
            <a:off x="5949576" y="7098879"/>
            <a:ext cx="11309724" cy="2501265"/>
          </a:xfrm>
          <a:prstGeom prst="rect">
            <a:avLst/>
          </a:prstGeom>
        </p:spPr>
        <p:txBody>
          <a:bodyPr lIns="0" tIns="0" rIns="0" bIns="0" rtlCol="0" anchor="t">
            <a:spAutoFit/>
          </a:bodyPr>
          <a:lstStyle/>
          <a:p>
            <a:pPr marL="518160" lvl="1" indent="-259080" algn="just">
              <a:lnSpc>
                <a:spcPts val="3359"/>
              </a:lnSpc>
              <a:buFont typeface="Arial"/>
              <a:buChar char="•"/>
            </a:pPr>
            <a:r>
              <a:rPr lang="en-US" sz="2400" b="1">
                <a:solidFill>
                  <a:srgbClr val="A31212"/>
                </a:solidFill>
                <a:latin typeface="DM Sans Bold"/>
                <a:ea typeface="DM Sans Bold"/>
                <a:cs typeface="DM Sans Bold"/>
                <a:sym typeface="DM Sans Bold"/>
              </a:rPr>
              <a:t>Rutgers Entrepreneurial Society (RES)</a:t>
            </a:r>
          </a:p>
          <a:p>
            <a:pPr marL="1036320" lvl="2" indent="-345440" algn="just">
              <a:lnSpc>
                <a:spcPts val="3359"/>
              </a:lnSpc>
              <a:buFont typeface="Arial"/>
              <a:buChar char="⚬"/>
            </a:pPr>
            <a:r>
              <a:rPr lang="en-US" sz="2400">
                <a:solidFill>
                  <a:srgbClr val="A31212"/>
                </a:solidFill>
                <a:latin typeface="DM Sans"/>
                <a:ea typeface="DM Sans"/>
                <a:cs typeface="DM Sans"/>
                <a:sym typeface="DM Sans"/>
              </a:rPr>
              <a:t>Founded: 2009</a:t>
            </a:r>
          </a:p>
          <a:p>
            <a:pPr marL="1036320" lvl="2" indent="-345440" algn="just">
              <a:lnSpc>
                <a:spcPts val="3359"/>
              </a:lnSpc>
              <a:buFont typeface="Arial"/>
              <a:buChar char="⚬"/>
            </a:pPr>
            <a:r>
              <a:rPr lang="en-US" sz="2400">
                <a:solidFill>
                  <a:srgbClr val="A31212"/>
                </a:solidFill>
                <a:latin typeface="DM Sans"/>
                <a:ea typeface="DM Sans"/>
                <a:cs typeface="DM Sans"/>
                <a:sym typeface="DM Sans"/>
              </a:rPr>
              <a:t>Rutgers SharkTank, workshops, speaker events, trips to NYC and SF</a:t>
            </a:r>
          </a:p>
          <a:p>
            <a:pPr marL="518160" lvl="1" indent="-259080" algn="just">
              <a:lnSpc>
                <a:spcPts val="3359"/>
              </a:lnSpc>
              <a:buFont typeface="Arial"/>
              <a:buChar char="•"/>
            </a:pPr>
            <a:r>
              <a:rPr lang="en-US" sz="2400" b="1">
                <a:solidFill>
                  <a:srgbClr val="A31212"/>
                </a:solidFill>
                <a:latin typeface="DM Sans Bold"/>
                <a:ea typeface="DM Sans Bold"/>
                <a:cs typeface="DM Sans Bold"/>
                <a:sym typeface="DM Sans Bold"/>
              </a:rPr>
              <a:t>President Max Hayden</a:t>
            </a:r>
          </a:p>
          <a:p>
            <a:pPr marL="1036320" lvl="2" indent="-345440" algn="just">
              <a:lnSpc>
                <a:spcPts val="3359"/>
              </a:lnSpc>
              <a:buFont typeface="Arial"/>
              <a:buChar char="⚬"/>
            </a:pPr>
            <a:r>
              <a:rPr lang="en-US" sz="2400">
                <a:solidFill>
                  <a:srgbClr val="A31212"/>
                </a:solidFill>
                <a:latin typeface="DM Sans"/>
                <a:ea typeface="DM Sans"/>
                <a:cs typeface="DM Sans"/>
                <a:sym typeface="DM Sans"/>
              </a:rPr>
              <a:t>mjh386@scarletmail.rutgers.edu</a:t>
            </a:r>
          </a:p>
          <a:p>
            <a:pPr marL="1036320" lvl="2" indent="-345440" algn="just">
              <a:lnSpc>
                <a:spcPts val="3359"/>
              </a:lnSpc>
              <a:buFont typeface="Arial"/>
              <a:buChar char="⚬"/>
            </a:pPr>
            <a:r>
              <a:rPr lang="en-US" sz="2400">
                <a:solidFill>
                  <a:srgbClr val="A31212"/>
                </a:solidFill>
                <a:latin typeface="DM Sans"/>
                <a:ea typeface="DM Sans"/>
                <a:cs typeface="DM Sans"/>
                <a:sym typeface="DM Sans"/>
              </a:rPr>
              <a:t>(609) 285-8256</a:t>
            </a:r>
          </a:p>
        </p:txBody>
      </p:sp>
      <p:sp>
        <p:nvSpPr>
          <p:cNvPr id="7" name="TextBox 7"/>
          <p:cNvSpPr txBox="1"/>
          <p:nvPr/>
        </p:nvSpPr>
        <p:spPr>
          <a:xfrm>
            <a:off x="181119" y="9277706"/>
            <a:ext cx="343346" cy="842646"/>
          </a:xfrm>
          <a:prstGeom prst="rect">
            <a:avLst/>
          </a:prstGeom>
        </p:spPr>
        <p:txBody>
          <a:bodyPr lIns="0" tIns="0" rIns="0" bIns="0" rtlCol="0" anchor="t">
            <a:spAutoFit/>
          </a:bodyPr>
          <a:lstStyle/>
          <a:p>
            <a:pPr algn="ctr">
              <a:lnSpc>
                <a:spcPts val="6579"/>
              </a:lnSpc>
              <a:spcBef>
                <a:spcPct val="0"/>
              </a:spcBef>
            </a:pPr>
            <a:r>
              <a:rPr lang="en-US" sz="4699">
                <a:solidFill>
                  <a:srgbClr val="F5F2EF"/>
                </a:solidFill>
                <a:latin typeface="Poppins"/>
                <a:ea typeface="Poppins"/>
                <a:cs typeface="Poppins"/>
                <a:sym typeface="Poppins"/>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2EF"/>
        </a:solidFill>
        <a:effectLst/>
      </p:bgPr>
    </p:bg>
    <p:spTree>
      <p:nvGrpSpPr>
        <p:cNvPr id="1" name=""/>
        <p:cNvGrpSpPr/>
        <p:nvPr/>
      </p:nvGrpSpPr>
      <p:grpSpPr>
        <a:xfrm>
          <a:off x="0" y="0"/>
          <a:ext cx="0" cy="0"/>
          <a:chOff x="0" y="0"/>
          <a:chExt cx="0" cy="0"/>
        </a:xfrm>
      </p:grpSpPr>
      <p:sp>
        <p:nvSpPr>
          <p:cNvPr id="2" name="Freeform 2"/>
          <p:cNvSpPr/>
          <p:nvPr/>
        </p:nvSpPr>
        <p:spPr>
          <a:xfrm>
            <a:off x="10390412" y="-1662788"/>
            <a:ext cx="11949788" cy="11949788"/>
          </a:xfrm>
          <a:custGeom>
            <a:avLst/>
            <a:gdLst/>
            <a:ahLst/>
            <a:cxnLst/>
            <a:rect l="l" t="t" r="r" b="b"/>
            <a:pathLst>
              <a:path w="11949788" h="11949788">
                <a:moveTo>
                  <a:pt x="0" y="0"/>
                </a:moveTo>
                <a:lnTo>
                  <a:pt x="11949788" y="0"/>
                </a:lnTo>
                <a:lnTo>
                  <a:pt x="11949788" y="11949788"/>
                </a:lnTo>
                <a:lnTo>
                  <a:pt x="0" y="1194978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a:off x="9853879" y="3446521"/>
            <a:ext cx="4383097" cy="2865450"/>
          </a:xfrm>
          <a:custGeom>
            <a:avLst/>
            <a:gdLst/>
            <a:ahLst/>
            <a:cxnLst/>
            <a:rect l="l" t="t" r="r" b="b"/>
            <a:pathLst>
              <a:path w="4383097" h="2865450">
                <a:moveTo>
                  <a:pt x="0" y="0"/>
                </a:moveTo>
                <a:lnTo>
                  <a:pt x="4383098" y="0"/>
                </a:lnTo>
                <a:lnTo>
                  <a:pt x="4383098" y="2865450"/>
                </a:lnTo>
                <a:lnTo>
                  <a:pt x="0" y="2865450"/>
                </a:lnTo>
                <a:lnTo>
                  <a:pt x="0" y="0"/>
                </a:lnTo>
                <a:close/>
              </a:path>
            </a:pathLst>
          </a:custGeom>
          <a:blipFill>
            <a:blip r:embed="rId5"/>
            <a:stretch>
              <a:fillRect/>
            </a:stretch>
          </a:blipFill>
        </p:spPr>
        <p:txBody>
          <a:bodyPr/>
          <a:lstStyle/>
          <a:p>
            <a:endParaRPr lang="en-US"/>
          </a:p>
        </p:txBody>
      </p:sp>
      <p:sp>
        <p:nvSpPr>
          <p:cNvPr id="4" name="TextBox 4"/>
          <p:cNvSpPr txBox="1"/>
          <p:nvPr/>
        </p:nvSpPr>
        <p:spPr>
          <a:xfrm>
            <a:off x="420883" y="2866400"/>
            <a:ext cx="11426169" cy="7111365"/>
          </a:xfrm>
          <a:prstGeom prst="rect">
            <a:avLst/>
          </a:prstGeom>
        </p:spPr>
        <p:txBody>
          <a:bodyPr lIns="0" tIns="0" rIns="0" bIns="0" rtlCol="0" anchor="t">
            <a:spAutoFit/>
          </a:bodyPr>
          <a:lstStyle/>
          <a:p>
            <a:pPr marL="518160" lvl="1" indent="-259080" algn="just">
              <a:lnSpc>
                <a:spcPts val="3359"/>
              </a:lnSpc>
              <a:buFont typeface="Arial"/>
              <a:buChar char="•"/>
            </a:pPr>
            <a:r>
              <a:rPr lang="en-US" sz="2400" b="1">
                <a:solidFill>
                  <a:srgbClr val="A31212"/>
                </a:solidFill>
                <a:latin typeface="DM Sans Bold"/>
                <a:ea typeface="DM Sans Bold"/>
                <a:cs typeface="DM Sans Bold"/>
                <a:sym typeface="DM Sans Bold"/>
              </a:rPr>
              <a:t>Strategy:</a:t>
            </a:r>
            <a:r>
              <a:rPr lang="en-US" sz="2400">
                <a:solidFill>
                  <a:srgbClr val="A31212"/>
                </a:solidFill>
                <a:latin typeface="DM Sans"/>
                <a:ea typeface="DM Sans"/>
                <a:cs typeface="DM Sans"/>
                <a:sym typeface="DM Sans"/>
              </a:rPr>
              <a:t> Professional benefit for members/attendees</a:t>
            </a:r>
          </a:p>
          <a:p>
            <a:pPr marL="1036320" lvl="2" indent="-345440" algn="just">
              <a:lnSpc>
                <a:spcPts val="3359"/>
              </a:lnSpc>
              <a:buFont typeface="Arial"/>
              <a:buChar char="⚬"/>
            </a:pPr>
            <a:r>
              <a:rPr lang="en-US" sz="2400">
                <a:solidFill>
                  <a:srgbClr val="A31212"/>
                </a:solidFill>
                <a:latin typeface="DM Sans"/>
                <a:ea typeface="DM Sans"/>
                <a:cs typeface="DM Sans"/>
                <a:sym typeface="DM Sans"/>
              </a:rPr>
              <a:t>Social media, word-of-mouth, email blasts</a:t>
            </a:r>
          </a:p>
          <a:p>
            <a:pPr marL="518160" lvl="1" indent="-259080" algn="just">
              <a:lnSpc>
                <a:spcPts val="3359"/>
              </a:lnSpc>
              <a:buFont typeface="Arial"/>
              <a:buChar char="•"/>
            </a:pPr>
            <a:r>
              <a:rPr lang="en-US" sz="2400" b="1">
                <a:solidFill>
                  <a:srgbClr val="A31212"/>
                </a:solidFill>
                <a:latin typeface="DM Sans Bold"/>
                <a:ea typeface="DM Sans Bold"/>
                <a:cs typeface="DM Sans Bold"/>
                <a:sym typeface="DM Sans Bold"/>
              </a:rPr>
              <a:t>Roles:</a:t>
            </a:r>
          </a:p>
          <a:p>
            <a:pPr marL="1036320" lvl="2" indent="-345440" algn="just">
              <a:lnSpc>
                <a:spcPts val="3359"/>
              </a:lnSpc>
              <a:buFont typeface="Arial"/>
              <a:buChar char="⚬"/>
            </a:pPr>
            <a:r>
              <a:rPr lang="en-US" sz="2400">
                <a:solidFill>
                  <a:srgbClr val="A31212"/>
                </a:solidFill>
                <a:latin typeface="DM Sans"/>
                <a:ea typeface="DM Sans"/>
                <a:cs typeface="DM Sans"/>
                <a:sym typeface="DM Sans"/>
              </a:rPr>
              <a:t>Co-presidents</a:t>
            </a:r>
          </a:p>
          <a:p>
            <a:pPr marL="1036320" lvl="2" indent="-345440" algn="just">
              <a:lnSpc>
                <a:spcPts val="3359"/>
              </a:lnSpc>
              <a:buFont typeface="Arial"/>
              <a:buChar char="⚬"/>
            </a:pPr>
            <a:r>
              <a:rPr lang="en-US" sz="2400">
                <a:solidFill>
                  <a:srgbClr val="A31212"/>
                </a:solidFill>
                <a:latin typeface="DM Sans"/>
                <a:ea typeface="DM Sans"/>
                <a:cs typeface="DM Sans"/>
                <a:sym typeface="DM Sans"/>
              </a:rPr>
              <a:t>Co-vice presidents</a:t>
            </a:r>
          </a:p>
          <a:p>
            <a:pPr marL="1036320" lvl="2" indent="-345440" algn="just">
              <a:lnSpc>
                <a:spcPts val="3359"/>
              </a:lnSpc>
              <a:buFont typeface="Arial"/>
              <a:buChar char="⚬"/>
            </a:pPr>
            <a:r>
              <a:rPr lang="en-US" sz="2400">
                <a:solidFill>
                  <a:srgbClr val="A31212"/>
                </a:solidFill>
                <a:latin typeface="DM Sans"/>
                <a:ea typeface="DM Sans"/>
                <a:cs typeface="DM Sans"/>
                <a:sym typeface="DM Sans"/>
              </a:rPr>
              <a:t>Senior advisor</a:t>
            </a:r>
          </a:p>
          <a:p>
            <a:pPr marL="1036320" lvl="2" indent="-345440" algn="just">
              <a:lnSpc>
                <a:spcPts val="3359"/>
              </a:lnSpc>
              <a:buFont typeface="Arial"/>
              <a:buChar char="⚬"/>
            </a:pPr>
            <a:r>
              <a:rPr lang="en-US" sz="2400">
                <a:solidFill>
                  <a:srgbClr val="A31212"/>
                </a:solidFill>
                <a:latin typeface="DM Sans"/>
                <a:ea typeface="DM Sans"/>
                <a:cs typeface="DM Sans"/>
                <a:sym typeface="DM Sans"/>
              </a:rPr>
              <a:t>Treasurer</a:t>
            </a:r>
          </a:p>
          <a:p>
            <a:pPr marL="1036320" lvl="2" indent="-345440" algn="just">
              <a:lnSpc>
                <a:spcPts val="3359"/>
              </a:lnSpc>
              <a:buFont typeface="Arial"/>
              <a:buChar char="⚬"/>
            </a:pPr>
            <a:r>
              <a:rPr lang="en-US" sz="2400">
                <a:solidFill>
                  <a:srgbClr val="A31212"/>
                </a:solidFill>
                <a:latin typeface="DM Sans"/>
                <a:ea typeface="DM Sans"/>
                <a:cs typeface="DM Sans"/>
                <a:sym typeface="DM Sans"/>
              </a:rPr>
              <a:t>Director of marketing</a:t>
            </a:r>
          </a:p>
          <a:p>
            <a:pPr marL="1036320" lvl="2" indent="-345440" algn="just">
              <a:lnSpc>
                <a:spcPts val="3359"/>
              </a:lnSpc>
              <a:buFont typeface="Arial"/>
              <a:buChar char="⚬"/>
            </a:pPr>
            <a:r>
              <a:rPr lang="en-US" sz="2400">
                <a:solidFill>
                  <a:srgbClr val="A31212"/>
                </a:solidFill>
                <a:latin typeface="DM Sans"/>
                <a:ea typeface="DM Sans"/>
                <a:cs typeface="DM Sans"/>
                <a:sym typeface="DM Sans"/>
              </a:rPr>
              <a:t>Director of outreach</a:t>
            </a:r>
          </a:p>
          <a:p>
            <a:pPr marL="518160" lvl="1" indent="-259080" algn="just">
              <a:lnSpc>
                <a:spcPts val="3359"/>
              </a:lnSpc>
              <a:buFont typeface="Arial"/>
              <a:buChar char="•"/>
            </a:pPr>
            <a:r>
              <a:rPr lang="en-US" sz="2400" b="1">
                <a:solidFill>
                  <a:srgbClr val="A31212"/>
                </a:solidFill>
                <a:latin typeface="DM Sans Bold"/>
                <a:ea typeface="DM Sans Bold"/>
                <a:cs typeface="DM Sans Bold"/>
                <a:sym typeface="DM Sans Bold"/>
              </a:rPr>
              <a:t>Competition:</a:t>
            </a:r>
          </a:p>
          <a:p>
            <a:pPr marL="1036320" lvl="2" indent="-345440" algn="just">
              <a:lnSpc>
                <a:spcPts val="3359"/>
              </a:lnSpc>
              <a:buFont typeface="Arial"/>
              <a:buChar char="⚬"/>
            </a:pPr>
            <a:r>
              <a:rPr lang="en-US" sz="2400">
                <a:solidFill>
                  <a:srgbClr val="A31212"/>
                </a:solidFill>
                <a:latin typeface="DM Sans"/>
                <a:ea typeface="DM Sans"/>
                <a:cs typeface="DM Sans"/>
                <a:sym typeface="DM Sans"/>
              </a:rPr>
              <a:t>Rutgers VC Club, ENACTUS, Rutgers Blueprint, IDEA</a:t>
            </a:r>
          </a:p>
          <a:p>
            <a:pPr marL="518160" lvl="1" indent="-259080" algn="just">
              <a:lnSpc>
                <a:spcPts val="3359"/>
              </a:lnSpc>
              <a:buFont typeface="Arial"/>
              <a:buChar char="•"/>
            </a:pPr>
            <a:r>
              <a:rPr lang="en-US" sz="2400" b="1">
                <a:solidFill>
                  <a:srgbClr val="A31212"/>
                </a:solidFill>
                <a:latin typeface="DM Sans Bold"/>
                <a:ea typeface="DM Sans Bold"/>
                <a:cs typeface="DM Sans Bold"/>
                <a:sym typeface="DM Sans Bold"/>
              </a:rPr>
              <a:t>Demographics:</a:t>
            </a:r>
          </a:p>
          <a:p>
            <a:pPr marL="1036320" lvl="2" indent="-345440" algn="just">
              <a:lnSpc>
                <a:spcPts val="3359"/>
              </a:lnSpc>
              <a:buFont typeface="Arial"/>
              <a:buChar char="⚬"/>
            </a:pPr>
            <a:r>
              <a:rPr lang="en-US" sz="2400">
                <a:solidFill>
                  <a:srgbClr val="A31212"/>
                </a:solidFill>
                <a:latin typeface="DM Sans"/>
                <a:ea typeface="DM Sans"/>
                <a:cs typeface="DM Sans"/>
                <a:sym typeface="DM Sans"/>
              </a:rPr>
              <a:t>18 to 22 year-olds</a:t>
            </a:r>
          </a:p>
          <a:p>
            <a:pPr marL="1036320" lvl="2" indent="-345440" algn="just">
              <a:lnSpc>
                <a:spcPts val="3359"/>
              </a:lnSpc>
              <a:buFont typeface="Arial"/>
              <a:buChar char="⚬"/>
            </a:pPr>
            <a:r>
              <a:rPr lang="en-US" sz="2400">
                <a:solidFill>
                  <a:srgbClr val="A31212"/>
                </a:solidFill>
                <a:latin typeface="DM Sans"/>
                <a:ea typeface="DM Sans"/>
                <a:cs typeface="DM Sans"/>
                <a:sym typeface="DM Sans"/>
              </a:rPr>
              <a:t>No race/ethnicity data available</a:t>
            </a:r>
          </a:p>
          <a:p>
            <a:pPr marL="1036320" lvl="2" indent="-345440" algn="just">
              <a:lnSpc>
                <a:spcPts val="3359"/>
              </a:lnSpc>
              <a:buFont typeface="Arial"/>
              <a:buChar char="⚬"/>
            </a:pPr>
            <a:r>
              <a:rPr lang="en-US" sz="2400">
                <a:solidFill>
                  <a:srgbClr val="A31212"/>
                </a:solidFill>
                <a:latin typeface="DM Sans"/>
                <a:ea typeface="DM Sans"/>
                <a:cs typeface="DM Sans"/>
                <a:sym typeface="DM Sans"/>
              </a:rPr>
              <a:t>Leadership</a:t>
            </a:r>
          </a:p>
          <a:p>
            <a:pPr marL="1554480" lvl="3" indent="-388620" algn="just">
              <a:lnSpc>
                <a:spcPts val="3359"/>
              </a:lnSpc>
              <a:buFont typeface="Arial"/>
              <a:buChar char="￭"/>
            </a:pPr>
            <a:r>
              <a:rPr lang="en-US" sz="2400">
                <a:solidFill>
                  <a:srgbClr val="A31212"/>
                </a:solidFill>
                <a:latin typeface="DM Sans"/>
                <a:ea typeface="DM Sans"/>
                <a:cs typeface="DM Sans"/>
                <a:sym typeface="DM Sans"/>
              </a:rPr>
              <a:t>7 males and 1 female</a:t>
            </a:r>
          </a:p>
          <a:p>
            <a:pPr marL="1554480" lvl="3" indent="-388620" algn="just">
              <a:lnSpc>
                <a:spcPts val="3359"/>
              </a:lnSpc>
              <a:buFont typeface="Arial"/>
              <a:buChar char="￭"/>
            </a:pPr>
            <a:r>
              <a:rPr lang="en-US" sz="2400">
                <a:solidFill>
                  <a:srgbClr val="A31212"/>
                </a:solidFill>
                <a:latin typeface="DM Sans"/>
                <a:ea typeface="DM Sans"/>
                <a:cs typeface="DM Sans"/>
                <a:sym typeface="DM Sans"/>
              </a:rPr>
              <a:t>5 seniors, 1 junior, and 2 sophomores</a:t>
            </a:r>
          </a:p>
        </p:txBody>
      </p:sp>
      <p:sp>
        <p:nvSpPr>
          <p:cNvPr id="5" name="Freeform 5"/>
          <p:cNvSpPr/>
          <p:nvPr/>
        </p:nvSpPr>
        <p:spPr>
          <a:xfrm>
            <a:off x="12432934" y="6311971"/>
            <a:ext cx="1804043" cy="1819868"/>
          </a:xfrm>
          <a:custGeom>
            <a:avLst/>
            <a:gdLst/>
            <a:ahLst/>
            <a:cxnLst/>
            <a:rect l="l" t="t" r="r" b="b"/>
            <a:pathLst>
              <a:path w="1804043" h="1819868">
                <a:moveTo>
                  <a:pt x="0" y="0"/>
                </a:moveTo>
                <a:lnTo>
                  <a:pt x="1804043" y="0"/>
                </a:lnTo>
                <a:lnTo>
                  <a:pt x="1804043" y="1819868"/>
                </a:lnTo>
                <a:lnTo>
                  <a:pt x="0" y="1819868"/>
                </a:lnTo>
                <a:lnTo>
                  <a:pt x="0" y="0"/>
                </a:lnTo>
                <a:close/>
              </a:path>
            </a:pathLst>
          </a:custGeom>
          <a:blipFill>
            <a:blip r:embed="rId6"/>
            <a:stretch>
              <a:fillRect/>
            </a:stretch>
          </a:blipFill>
        </p:spPr>
        <p:txBody>
          <a:bodyPr/>
          <a:lstStyle/>
          <a:p>
            <a:endParaRPr lang="en-US"/>
          </a:p>
        </p:txBody>
      </p:sp>
      <p:sp>
        <p:nvSpPr>
          <p:cNvPr id="6" name="Freeform 6"/>
          <p:cNvSpPr/>
          <p:nvPr/>
        </p:nvSpPr>
        <p:spPr>
          <a:xfrm>
            <a:off x="14236977" y="2392713"/>
            <a:ext cx="2812571" cy="2812571"/>
          </a:xfrm>
          <a:custGeom>
            <a:avLst/>
            <a:gdLst/>
            <a:ahLst/>
            <a:cxnLst/>
            <a:rect l="l" t="t" r="r" b="b"/>
            <a:pathLst>
              <a:path w="2812571" h="2812571">
                <a:moveTo>
                  <a:pt x="0" y="0"/>
                </a:moveTo>
                <a:lnTo>
                  <a:pt x="2812570" y="0"/>
                </a:lnTo>
                <a:lnTo>
                  <a:pt x="2812570" y="2812571"/>
                </a:lnTo>
                <a:lnTo>
                  <a:pt x="0" y="2812571"/>
                </a:lnTo>
                <a:lnTo>
                  <a:pt x="0" y="0"/>
                </a:lnTo>
                <a:close/>
              </a:path>
            </a:pathLst>
          </a:custGeom>
          <a:blipFill>
            <a:blip r:embed="rId7"/>
            <a:stretch>
              <a:fillRect/>
            </a:stretch>
          </a:blipFill>
        </p:spPr>
        <p:txBody>
          <a:bodyPr/>
          <a:lstStyle/>
          <a:p>
            <a:endParaRPr lang="en-US"/>
          </a:p>
        </p:txBody>
      </p:sp>
      <p:sp>
        <p:nvSpPr>
          <p:cNvPr id="7" name="Freeform 7"/>
          <p:cNvSpPr/>
          <p:nvPr/>
        </p:nvSpPr>
        <p:spPr>
          <a:xfrm>
            <a:off x="14236977" y="5205284"/>
            <a:ext cx="4051023" cy="3450154"/>
          </a:xfrm>
          <a:custGeom>
            <a:avLst/>
            <a:gdLst/>
            <a:ahLst/>
            <a:cxnLst/>
            <a:rect l="l" t="t" r="r" b="b"/>
            <a:pathLst>
              <a:path w="4051023" h="3450154">
                <a:moveTo>
                  <a:pt x="0" y="0"/>
                </a:moveTo>
                <a:lnTo>
                  <a:pt x="4051023" y="0"/>
                </a:lnTo>
                <a:lnTo>
                  <a:pt x="4051023" y="3450154"/>
                </a:lnTo>
                <a:lnTo>
                  <a:pt x="0" y="3450154"/>
                </a:lnTo>
                <a:lnTo>
                  <a:pt x="0" y="0"/>
                </a:lnTo>
                <a:close/>
              </a:path>
            </a:pathLst>
          </a:custGeom>
          <a:blipFill>
            <a:blip r:embed="rId8"/>
            <a:stretch>
              <a:fillRect/>
            </a:stretch>
          </a:blipFill>
        </p:spPr>
        <p:txBody>
          <a:bodyPr/>
          <a:lstStyle/>
          <a:p>
            <a:endParaRPr lang="en-US"/>
          </a:p>
        </p:txBody>
      </p:sp>
      <p:sp>
        <p:nvSpPr>
          <p:cNvPr id="8" name="TextBox 8"/>
          <p:cNvSpPr txBox="1"/>
          <p:nvPr/>
        </p:nvSpPr>
        <p:spPr>
          <a:xfrm>
            <a:off x="420883" y="399092"/>
            <a:ext cx="9666314" cy="2156477"/>
          </a:xfrm>
          <a:prstGeom prst="rect">
            <a:avLst/>
          </a:prstGeom>
        </p:spPr>
        <p:txBody>
          <a:bodyPr lIns="0" tIns="0" rIns="0" bIns="0" rtlCol="0" anchor="t">
            <a:spAutoFit/>
          </a:bodyPr>
          <a:lstStyle/>
          <a:p>
            <a:pPr algn="l">
              <a:lnSpc>
                <a:spcPts val="5400"/>
              </a:lnSpc>
            </a:pPr>
            <a:r>
              <a:rPr lang="en-US" sz="5400">
                <a:solidFill>
                  <a:srgbClr val="000000"/>
                </a:solidFill>
                <a:latin typeface="Poppins Light"/>
                <a:ea typeface="Poppins Light"/>
                <a:cs typeface="Poppins Light"/>
                <a:sym typeface="Poppins Light"/>
              </a:rPr>
              <a:t>BACKGROUND INFORMATION &amp; SECONDARY DATA RESEARCH</a:t>
            </a:r>
          </a:p>
        </p:txBody>
      </p:sp>
      <p:sp>
        <p:nvSpPr>
          <p:cNvPr id="9" name="TextBox 9"/>
          <p:cNvSpPr txBox="1"/>
          <p:nvPr/>
        </p:nvSpPr>
        <p:spPr>
          <a:xfrm>
            <a:off x="17740297" y="9239566"/>
            <a:ext cx="351681" cy="842646"/>
          </a:xfrm>
          <a:prstGeom prst="rect">
            <a:avLst/>
          </a:prstGeom>
        </p:spPr>
        <p:txBody>
          <a:bodyPr lIns="0" tIns="0" rIns="0" bIns="0" rtlCol="0" anchor="t">
            <a:spAutoFit/>
          </a:bodyPr>
          <a:lstStyle/>
          <a:p>
            <a:pPr algn="ctr">
              <a:lnSpc>
                <a:spcPts val="6579"/>
              </a:lnSpc>
              <a:spcBef>
                <a:spcPct val="0"/>
              </a:spcBef>
            </a:pPr>
            <a:r>
              <a:rPr lang="en-US" sz="4699">
                <a:solidFill>
                  <a:srgbClr val="F5F2EF"/>
                </a:solidFill>
                <a:latin typeface="Poppins"/>
                <a:ea typeface="Poppins"/>
                <a:cs typeface="Poppins"/>
                <a:sym typeface="Poppins"/>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2EF"/>
        </a:solidFill>
        <a:effectLst/>
      </p:bgPr>
    </p:bg>
    <p:spTree>
      <p:nvGrpSpPr>
        <p:cNvPr id="1" name=""/>
        <p:cNvGrpSpPr/>
        <p:nvPr/>
      </p:nvGrpSpPr>
      <p:grpSpPr>
        <a:xfrm>
          <a:off x="0" y="0"/>
          <a:ext cx="0" cy="0"/>
          <a:chOff x="0" y="0"/>
          <a:chExt cx="0" cy="0"/>
        </a:xfrm>
      </p:grpSpPr>
      <p:sp>
        <p:nvSpPr>
          <p:cNvPr id="2" name="Freeform 2"/>
          <p:cNvSpPr/>
          <p:nvPr/>
        </p:nvSpPr>
        <p:spPr>
          <a:xfrm flipV="1">
            <a:off x="10119043" y="-386890"/>
            <a:ext cx="10287260" cy="10298430"/>
          </a:xfrm>
          <a:custGeom>
            <a:avLst/>
            <a:gdLst/>
            <a:ahLst/>
            <a:cxnLst/>
            <a:rect l="l" t="t" r="r" b="b"/>
            <a:pathLst>
              <a:path w="10287260" h="10298430">
                <a:moveTo>
                  <a:pt x="0" y="10298430"/>
                </a:moveTo>
                <a:lnTo>
                  <a:pt x="10287260" y="10298430"/>
                </a:lnTo>
                <a:lnTo>
                  <a:pt x="10287260" y="0"/>
                </a:lnTo>
                <a:lnTo>
                  <a:pt x="0" y="0"/>
                </a:lnTo>
                <a:lnTo>
                  <a:pt x="0" y="1029843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flipH="1">
            <a:off x="17020438" y="592835"/>
            <a:ext cx="871730" cy="871730"/>
          </a:xfrm>
          <a:custGeom>
            <a:avLst/>
            <a:gdLst/>
            <a:ahLst/>
            <a:cxnLst/>
            <a:rect l="l" t="t" r="r" b="b"/>
            <a:pathLst>
              <a:path w="871730" h="871730">
                <a:moveTo>
                  <a:pt x="871730" y="0"/>
                </a:moveTo>
                <a:lnTo>
                  <a:pt x="0" y="0"/>
                </a:lnTo>
                <a:lnTo>
                  <a:pt x="0" y="871730"/>
                </a:lnTo>
                <a:lnTo>
                  <a:pt x="871730" y="871730"/>
                </a:lnTo>
                <a:lnTo>
                  <a:pt x="87173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4" name="Freeform 4"/>
          <p:cNvSpPr/>
          <p:nvPr/>
        </p:nvSpPr>
        <p:spPr>
          <a:xfrm>
            <a:off x="13377094" y="2010591"/>
            <a:ext cx="2554190" cy="2554190"/>
          </a:xfrm>
          <a:custGeom>
            <a:avLst/>
            <a:gdLst/>
            <a:ahLst/>
            <a:cxnLst/>
            <a:rect l="l" t="t" r="r" b="b"/>
            <a:pathLst>
              <a:path w="2554190" h="2554190">
                <a:moveTo>
                  <a:pt x="0" y="0"/>
                </a:moveTo>
                <a:lnTo>
                  <a:pt x="2554189" y="0"/>
                </a:lnTo>
                <a:lnTo>
                  <a:pt x="2554189" y="2554189"/>
                </a:lnTo>
                <a:lnTo>
                  <a:pt x="0" y="2554189"/>
                </a:lnTo>
                <a:lnTo>
                  <a:pt x="0" y="0"/>
                </a:lnTo>
                <a:close/>
              </a:path>
            </a:pathLst>
          </a:custGeom>
          <a:blipFill>
            <a:blip r:embed="rId7"/>
            <a:stretch>
              <a:fillRect/>
            </a:stretch>
          </a:blipFill>
        </p:spPr>
        <p:txBody>
          <a:bodyPr/>
          <a:lstStyle/>
          <a:p>
            <a:endParaRPr lang="en-US"/>
          </a:p>
        </p:txBody>
      </p:sp>
      <p:sp>
        <p:nvSpPr>
          <p:cNvPr id="5" name="Freeform 5"/>
          <p:cNvSpPr/>
          <p:nvPr/>
        </p:nvSpPr>
        <p:spPr>
          <a:xfrm>
            <a:off x="15931283" y="3423623"/>
            <a:ext cx="2356717" cy="2356717"/>
          </a:xfrm>
          <a:custGeom>
            <a:avLst/>
            <a:gdLst/>
            <a:ahLst/>
            <a:cxnLst/>
            <a:rect l="l" t="t" r="r" b="b"/>
            <a:pathLst>
              <a:path w="2356717" h="2356717">
                <a:moveTo>
                  <a:pt x="0" y="0"/>
                </a:moveTo>
                <a:lnTo>
                  <a:pt x="2356717" y="0"/>
                </a:lnTo>
                <a:lnTo>
                  <a:pt x="2356717" y="2356716"/>
                </a:lnTo>
                <a:lnTo>
                  <a:pt x="0" y="2356716"/>
                </a:lnTo>
                <a:lnTo>
                  <a:pt x="0" y="0"/>
                </a:lnTo>
                <a:close/>
              </a:path>
            </a:pathLst>
          </a:custGeom>
          <a:blipFill>
            <a:blip r:embed="rId8"/>
            <a:stretch>
              <a:fillRect/>
            </a:stretch>
          </a:blipFill>
        </p:spPr>
        <p:txBody>
          <a:bodyPr/>
          <a:lstStyle/>
          <a:p>
            <a:endParaRPr lang="en-US"/>
          </a:p>
        </p:txBody>
      </p:sp>
      <p:sp>
        <p:nvSpPr>
          <p:cNvPr id="6" name="Freeform 6"/>
          <p:cNvSpPr/>
          <p:nvPr/>
        </p:nvSpPr>
        <p:spPr>
          <a:xfrm>
            <a:off x="10849284" y="1100660"/>
            <a:ext cx="2527810" cy="2322963"/>
          </a:xfrm>
          <a:custGeom>
            <a:avLst/>
            <a:gdLst/>
            <a:ahLst/>
            <a:cxnLst/>
            <a:rect l="l" t="t" r="r" b="b"/>
            <a:pathLst>
              <a:path w="2527810" h="2322963">
                <a:moveTo>
                  <a:pt x="0" y="0"/>
                </a:moveTo>
                <a:lnTo>
                  <a:pt x="2527810" y="0"/>
                </a:lnTo>
                <a:lnTo>
                  <a:pt x="2527810" y="2322963"/>
                </a:lnTo>
                <a:lnTo>
                  <a:pt x="0" y="2322963"/>
                </a:lnTo>
                <a:lnTo>
                  <a:pt x="0" y="0"/>
                </a:lnTo>
                <a:close/>
              </a:path>
            </a:pathLst>
          </a:custGeom>
          <a:blipFill>
            <a:blip r:embed="rId9"/>
            <a:stretch>
              <a:fillRect l="-38886" r="-39120"/>
            </a:stretch>
          </a:blipFill>
        </p:spPr>
        <p:txBody>
          <a:bodyPr/>
          <a:lstStyle/>
          <a:p>
            <a:endParaRPr lang="en-US"/>
          </a:p>
        </p:txBody>
      </p:sp>
      <p:sp>
        <p:nvSpPr>
          <p:cNvPr id="7" name="TextBox 7"/>
          <p:cNvSpPr txBox="1"/>
          <p:nvPr/>
        </p:nvSpPr>
        <p:spPr>
          <a:xfrm>
            <a:off x="352792" y="349402"/>
            <a:ext cx="12072819" cy="2050430"/>
          </a:xfrm>
          <a:prstGeom prst="rect">
            <a:avLst/>
          </a:prstGeom>
        </p:spPr>
        <p:txBody>
          <a:bodyPr lIns="0" tIns="0" rIns="0" bIns="0" rtlCol="0" anchor="t">
            <a:spAutoFit/>
          </a:bodyPr>
          <a:lstStyle/>
          <a:p>
            <a:pPr algn="l">
              <a:lnSpc>
                <a:spcPts val="7600"/>
              </a:lnSpc>
            </a:pPr>
            <a:r>
              <a:rPr lang="en-US" sz="7600">
                <a:solidFill>
                  <a:srgbClr val="000000"/>
                </a:solidFill>
                <a:latin typeface="Poppins Light"/>
                <a:ea typeface="Poppins Light"/>
                <a:cs typeface="Poppins Light"/>
                <a:sym typeface="Poppins Light"/>
              </a:rPr>
              <a:t>DATA COLLECTION METHODS &amp; TIMELINE</a:t>
            </a:r>
          </a:p>
        </p:txBody>
      </p:sp>
      <p:sp>
        <p:nvSpPr>
          <p:cNvPr id="8" name="TextBox 8"/>
          <p:cNvSpPr txBox="1"/>
          <p:nvPr/>
        </p:nvSpPr>
        <p:spPr>
          <a:xfrm>
            <a:off x="607171" y="3593939"/>
            <a:ext cx="8536829" cy="6545483"/>
          </a:xfrm>
          <a:prstGeom prst="rect">
            <a:avLst/>
          </a:prstGeom>
        </p:spPr>
        <p:txBody>
          <a:bodyPr lIns="0" tIns="0" rIns="0" bIns="0" rtlCol="0" anchor="t">
            <a:spAutoFit/>
          </a:bodyPr>
          <a:lstStyle/>
          <a:p>
            <a:pPr marL="561339" lvl="1" indent="-280670" algn="l">
              <a:lnSpc>
                <a:spcPts val="2599"/>
              </a:lnSpc>
              <a:buFont typeface="Arial"/>
              <a:buChar char="•"/>
            </a:pPr>
            <a:r>
              <a:rPr lang="en-US" sz="2599" b="1">
                <a:solidFill>
                  <a:srgbClr val="000000"/>
                </a:solidFill>
                <a:latin typeface="DM Sans Bold"/>
                <a:ea typeface="DM Sans Bold"/>
                <a:cs typeface="DM Sans Bold"/>
                <a:sym typeface="DM Sans Bold"/>
              </a:rPr>
              <a:t>SATURDAY, OCTOBER 4TH: MAX HAYDEN</a:t>
            </a:r>
          </a:p>
          <a:p>
            <a:pPr marL="1122679" lvl="2" indent="-374226" algn="l">
              <a:lnSpc>
                <a:spcPts val="2599"/>
              </a:lnSpc>
              <a:buFont typeface="Arial"/>
              <a:buChar char="⚬"/>
            </a:pPr>
            <a:r>
              <a:rPr lang="en-US" sz="2599">
                <a:solidFill>
                  <a:srgbClr val="000000"/>
                </a:solidFill>
                <a:latin typeface="DM Sans"/>
                <a:ea typeface="DM Sans"/>
                <a:cs typeface="DM Sans"/>
                <a:sym typeface="DM Sans"/>
              </a:rPr>
              <a:t>MANAGERIAL PERSPECTIVE</a:t>
            </a:r>
          </a:p>
          <a:p>
            <a:pPr marL="1122679" lvl="2" indent="-374226" algn="l">
              <a:lnSpc>
                <a:spcPts val="2599"/>
              </a:lnSpc>
              <a:buFont typeface="Arial"/>
              <a:buChar char="⚬"/>
            </a:pPr>
            <a:r>
              <a:rPr lang="en-US" sz="2599">
                <a:solidFill>
                  <a:srgbClr val="000000"/>
                </a:solidFill>
                <a:latin typeface="DM Sans"/>
                <a:ea typeface="DM Sans"/>
                <a:cs typeface="DM Sans"/>
                <a:sym typeface="DM Sans"/>
              </a:rPr>
              <a:t>RESEARCHED OUTPUT PROBLEM</a:t>
            </a:r>
          </a:p>
          <a:p>
            <a:pPr marL="1122679" lvl="2" indent="-374226" algn="l">
              <a:lnSpc>
                <a:spcPts val="2599"/>
              </a:lnSpc>
              <a:buFont typeface="Arial"/>
              <a:buChar char="⚬"/>
            </a:pPr>
            <a:r>
              <a:rPr lang="en-US" sz="2599">
                <a:solidFill>
                  <a:srgbClr val="000000"/>
                </a:solidFill>
                <a:latin typeface="DM Sans"/>
                <a:ea typeface="DM Sans"/>
                <a:cs typeface="DM Sans"/>
                <a:sym typeface="DM Sans"/>
              </a:rPr>
              <a:t>Understood reasons behind issue</a:t>
            </a:r>
          </a:p>
          <a:p>
            <a:pPr algn="l">
              <a:lnSpc>
                <a:spcPts val="800"/>
              </a:lnSpc>
            </a:pPr>
            <a:endParaRPr lang="en-US" sz="2599">
              <a:solidFill>
                <a:srgbClr val="000000"/>
              </a:solidFill>
              <a:latin typeface="DM Sans"/>
              <a:ea typeface="DM Sans"/>
              <a:cs typeface="DM Sans"/>
              <a:sym typeface="DM Sans"/>
            </a:endParaRPr>
          </a:p>
          <a:p>
            <a:pPr marL="561339" lvl="1" indent="-280670" algn="l">
              <a:lnSpc>
                <a:spcPts val="2599"/>
              </a:lnSpc>
              <a:buFont typeface="Arial"/>
              <a:buChar char="•"/>
            </a:pPr>
            <a:r>
              <a:rPr lang="en-US" sz="2599" b="1">
                <a:solidFill>
                  <a:srgbClr val="000000"/>
                </a:solidFill>
                <a:latin typeface="DM Sans Bold"/>
                <a:ea typeface="DM Sans Bold"/>
                <a:cs typeface="DM Sans Bold"/>
                <a:sym typeface="DM Sans Bold"/>
              </a:rPr>
              <a:t>TUESDAY, OCTOBER 28TH: MEHER BAATH</a:t>
            </a:r>
          </a:p>
          <a:p>
            <a:pPr marL="1122679" lvl="2" indent="-374226" algn="l">
              <a:lnSpc>
                <a:spcPts val="2599"/>
              </a:lnSpc>
              <a:buFont typeface="Arial"/>
              <a:buChar char="⚬"/>
            </a:pPr>
            <a:r>
              <a:rPr lang="en-US" sz="2599">
                <a:solidFill>
                  <a:srgbClr val="000000"/>
                </a:solidFill>
                <a:latin typeface="DM Sans"/>
                <a:ea typeface="DM Sans"/>
                <a:cs typeface="DM Sans"/>
                <a:sym typeface="DM Sans"/>
              </a:rPr>
              <a:t>GENERAL MEMBER PERSPECTIVE</a:t>
            </a:r>
          </a:p>
          <a:p>
            <a:pPr marL="1122679" lvl="2" indent="-374226" algn="l">
              <a:lnSpc>
                <a:spcPts val="2599"/>
              </a:lnSpc>
              <a:buFont typeface="Arial"/>
              <a:buChar char="⚬"/>
            </a:pPr>
            <a:r>
              <a:rPr lang="en-US" sz="2599">
                <a:solidFill>
                  <a:srgbClr val="000000"/>
                </a:solidFill>
                <a:latin typeface="DM Sans"/>
                <a:ea typeface="DM Sans"/>
                <a:cs typeface="DM Sans"/>
                <a:sym typeface="DM Sans"/>
              </a:rPr>
              <a:t>Continuing secondary research</a:t>
            </a:r>
          </a:p>
          <a:p>
            <a:pPr marL="1122679" lvl="2" indent="-374226" algn="l">
              <a:lnSpc>
                <a:spcPts val="2599"/>
              </a:lnSpc>
              <a:buFont typeface="Arial"/>
              <a:buChar char="⚬"/>
            </a:pPr>
            <a:r>
              <a:rPr lang="en-US" sz="2599">
                <a:solidFill>
                  <a:srgbClr val="000000"/>
                </a:solidFill>
                <a:latin typeface="DM Sans"/>
                <a:ea typeface="DM Sans"/>
                <a:cs typeface="DM Sans"/>
                <a:sym typeface="DM Sans"/>
              </a:rPr>
              <a:t>Gained clarity about member motivation</a:t>
            </a:r>
          </a:p>
          <a:p>
            <a:pPr algn="l">
              <a:lnSpc>
                <a:spcPts val="2599"/>
              </a:lnSpc>
            </a:pPr>
            <a:endParaRPr lang="en-US" sz="2599">
              <a:solidFill>
                <a:srgbClr val="000000"/>
              </a:solidFill>
              <a:latin typeface="DM Sans"/>
              <a:ea typeface="DM Sans"/>
              <a:cs typeface="DM Sans"/>
              <a:sym typeface="DM Sans"/>
            </a:endParaRPr>
          </a:p>
          <a:p>
            <a:pPr algn="l">
              <a:lnSpc>
                <a:spcPts val="2599"/>
              </a:lnSpc>
            </a:pPr>
            <a:r>
              <a:rPr lang="en-US" sz="2599" b="1">
                <a:solidFill>
                  <a:srgbClr val="000000"/>
                </a:solidFill>
                <a:latin typeface="DM Sans Bold"/>
                <a:ea typeface="DM Sans Bold"/>
                <a:cs typeface="DM Sans Bold"/>
                <a:sym typeface="DM Sans Bold"/>
              </a:rPr>
              <a:t>SYNTHESIZE RESULTS &amp; ANALYZE INFORMATION</a:t>
            </a:r>
          </a:p>
          <a:p>
            <a:pPr algn="l">
              <a:lnSpc>
                <a:spcPts val="2599"/>
              </a:lnSpc>
            </a:pPr>
            <a:endParaRPr lang="en-US" sz="2599" b="1">
              <a:solidFill>
                <a:srgbClr val="000000"/>
              </a:solidFill>
              <a:latin typeface="DM Sans Bold"/>
              <a:ea typeface="DM Sans Bold"/>
              <a:cs typeface="DM Sans Bold"/>
              <a:sym typeface="DM Sans Bold"/>
            </a:endParaRPr>
          </a:p>
          <a:p>
            <a:pPr marL="561339" lvl="1" indent="-280670" algn="l">
              <a:lnSpc>
                <a:spcPts val="2599"/>
              </a:lnSpc>
              <a:buFont typeface="Arial"/>
              <a:buChar char="•"/>
            </a:pPr>
            <a:r>
              <a:rPr lang="en-US" sz="2599" b="1">
                <a:solidFill>
                  <a:srgbClr val="000000"/>
                </a:solidFill>
                <a:latin typeface="DM Sans Bold"/>
                <a:ea typeface="DM Sans Bold"/>
                <a:cs typeface="DM Sans Bold"/>
                <a:sym typeface="DM Sans Bold"/>
              </a:rPr>
              <a:t>TUESDAY, OCTOBER 28TH: ALEKSEY SERGEEV</a:t>
            </a:r>
          </a:p>
          <a:p>
            <a:pPr marL="1122679" lvl="2" indent="-374226" algn="l">
              <a:lnSpc>
                <a:spcPts val="2599"/>
              </a:lnSpc>
              <a:buFont typeface="Arial"/>
              <a:buChar char="⚬"/>
            </a:pPr>
            <a:r>
              <a:rPr lang="en-US" sz="2599">
                <a:solidFill>
                  <a:srgbClr val="000000"/>
                </a:solidFill>
                <a:latin typeface="DM Sans"/>
                <a:ea typeface="DM Sans"/>
                <a:cs typeface="DM Sans"/>
                <a:sym typeface="DM Sans"/>
              </a:rPr>
              <a:t>DIRECTOR OF OUTREACH’S PERSPECTIVE</a:t>
            </a:r>
          </a:p>
          <a:p>
            <a:pPr marL="1122679" lvl="2" indent="-374226" algn="l">
              <a:lnSpc>
                <a:spcPts val="2599"/>
              </a:lnSpc>
              <a:buFont typeface="Arial"/>
              <a:buChar char="⚬"/>
            </a:pPr>
            <a:r>
              <a:rPr lang="en-US" sz="2599">
                <a:solidFill>
                  <a:srgbClr val="000000"/>
                </a:solidFill>
                <a:latin typeface="DM Sans"/>
                <a:ea typeface="DM Sans"/>
                <a:cs typeface="DM Sans"/>
                <a:sym typeface="DM Sans"/>
              </a:rPr>
              <a:t>Event turnout</a:t>
            </a:r>
          </a:p>
          <a:p>
            <a:pPr marL="1122679" lvl="2" indent="-374226" algn="l">
              <a:lnSpc>
                <a:spcPts val="2599"/>
              </a:lnSpc>
              <a:buFont typeface="Arial"/>
              <a:buChar char="⚬"/>
            </a:pPr>
            <a:r>
              <a:rPr lang="en-US" sz="2599">
                <a:solidFill>
                  <a:srgbClr val="000000"/>
                </a:solidFill>
                <a:latin typeface="DM Sans"/>
                <a:ea typeface="DM Sans"/>
                <a:cs typeface="DM Sans"/>
                <a:sym typeface="DM Sans"/>
              </a:rPr>
              <a:t>Leadership’s impact on the members</a:t>
            </a:r>
          </a:p>
          <a:p>
            <a:pPr marL="561339" lvl="1" indent="-280670" algn="l">
              <a:lnSpc>
                <a:spcPts val="2599"/>
              </a:lnSpc>
              <a:buFont typeface="Arial"/>
              <a:buChar char="•"/>
            </a:pPr>
            <a:r>
              <a:rPr lang="en-US" sz="2599" b="1">
                <a:solidFill>
                  <a:srgbClr val="000000"/>
                </a:solidFill>
                <a:latin typeface="DM Sans Bold"/>
                <a:ea typeface="DM Sans Bold"/>
                <a:cs typeface="DM Sans Bold"/>
                <a:sym typeface="DM Sans Bold"/>
              </a:rPr>
              <a:t>TUESDAY, NOVEMBER 24TH: MEHER BAATH + MAX HAYDEN</a:t>
            </a:r>
          </a:p>
          <a:p>
            <a:pPr marL="1122679" lvl="2" indent="-374226" algn="l">
              <a:lnSpc>
                <a:spcPts val="2599"/>
              </a:lnSpc>
              <a:buFont typeface="Arial"/>
              <a:buChar char="⚬"/>
            </a:pPr>
            <a:r>
              <a:rPr lang="en-US" sz="2599">
                <a:solidFill>
                  <a:srgbClr val="000000"/>
                </a:solidFill>
                <a:latin typeface="DM Sans"/>
                <a:ea typeface="DM Sans"/>
                <a:cs typeface="DM Sans"/>
                <a:sym typeface="DM Sans"/>
              </a:rPr>
              <a:t>FOLLOW-UP QUESTIONS AND CLARIFICATIONS</a:t>
            </a:r>
          </a:p>
          <a:p>
            <a:pPr algn="l">
              <a:lnSpc>
                <a:spcPts val="2599"/>
              </a:lnSpc>
            </a:pPr>
            <a:endParaRPr lang="en-US" sz="2599">
              <a:solidFill>
                <a:srgbClr val="000000"/>
              </a:solidFill>
              <a:latin typeface="DM Sans"/>
              <a:ea typeface="DM Sans"/>
              <a:cs typeface="DM Sans"/>
              <a:sym typeface="DM Sans"/>
            </a:endParaRPr>
          </a:p>
          <a:p>
            <a:pPr algn="l">
              <a:lnSpc>
                <a:spcPts val="2599"/>
              </a:lnSpc>
            </a:pPr>
            <a:r>
              <a:rPr lang="en-US" sz="2599" b="1">
                <a:solidFill>
                  <a:srgbClr val="000000"/>
                </a:solidFill>
                <a:latin typeface="DM Sans Bold"/>
                <a:ea typeface="DM Sans Bold"/>
                <a:cs typeface="DM Sans Bold"/>
                <a:sym typeface="DM Sans Bold"/>
              </a:rPr>
              <a:t>Consult data &amp; make recommendations</a:t>
            </a:r>
          </a:p>
        </p:txBody>
      </p:sp>
      <p:sp>
        <p:nvSpPr>
          <p:cNvPr id="9" name="TextBox 9"/>
          <p:cNvSpPr txBox="1"/>
          <p:nvPr/>
        </p:nvSpPr>
        <p:spPr>
          <a:xfrm>
            <a:off x="165046" y="9296776"/>
            <a:ext cx="375493" cy="842646"/>
          </a:xfrm>
          <a:prstGeom prst="rect">
            <a:avLst/>
          </a:prstGeom>
        </p:spPr>
        <p:txBody>
          <a:bodyPr lIns="0" tIns="0" rIns="0" bIns="0" rtlCol="0" anchor="t">
            <a:spAutoFit/>
          </a:bodyPr>
          <a:lstStyle/>
          <a:p>
            <a:pPr algn="ctr">
              <a:lnSpc>
                <a:spcPts val="6579"/>
              </a:lnSpc>
              <a:spcBef>
                <a:spcPct val="0"/>
              </a:spcBef>
            </a:pPr>
            <a:r>
              <a:rPr lang="en-US" sz="4699">
                <a:solidFill>
                  <a:srgbClr val="F5F2EF"/>
                </a:solidFill>
                <a:latin typeface="Poppins"/>
                <a:ea typeface="Poppins"/>
                <a:cs typeface="Poppins"/>
                <a:sym typeface="Poppins"/>
              </a:rPr>
              <a:t>4</a:t>
            </a:r>
          </a:p>
        </p:txBody>
      </p:sp>
      <p:sp>
        <p:nvSpPr>
          <p:cNvPr id="10" name="TextBox 10"/>
          <p:cNvSpPr txBox="1"/>
          <p:nvPr/>
        </p:nvSpPr>
        <p:spPr>
          <a:xfrm>
            <a:off x="9914394" y="5855970"/>
            <a:ext cx="6016889" cy="4011930"/>
          </a:xfrm>
          <a:prstGeom prst="rect">
            <a:avLst/>
          </a:prstGeom>
        </p:spPr>
        <p:txBody>
          <a:bodyPr lIns="0" tIns="0" rIns="0" bIns="0" rtlCol="0" anchor="t">
            <a:spAutoFit/>
          </a:bodyPr>
          <a:lstStyle/>
          <a:p>
            <a:pPr marL="582928" lvl="1" indent="-291464" algn="l">
              <a:lnSpc>
                <a:spcPts val="2699"/>
              </a:lnSpc>
              <a:buFont typeface="Arial"/>
              <a:buChar char="•"/>
            </a:pPr>
            <a:r>
              <a:rPr lang="en-US" sz="2699" b="1">
                <a:solidFill>
                  <a:srgbClr val="000000"/>
                </a:solidFill>
                <a:latin typeface="DM Sans Bold"/>
                <a:ea typeface="DM Sans Bold"/>
                <a:cs typeface="DM Sans Bold"/>
                <a:sym typeface="DM Sans Bold"/>
              </a:rPr>
              <a:t>CLUB WEBSITES/SOCIAL MEDIA</a:t>
            </a:r>
          </a:p>
          <a:p>
            <a:pPr marL="1165857" lvl="2" indent="-388619" algn="l">
              <a:lnSpc>
                <a:spcPts val="2699"/>
              </a:lnSpc>
              <a:buFont typeface="Arial"/>
              <a:buChar char="⚬"/>
            </a:pPr>
            <a:r>
              <a:rPr lang="en-US" sz="2699">
                <a:solidFill>
                  <a:srgbClr val="000000"/>
                </a:solidFill>
                <a:latin typeface="DM Sans"/>
                <a:ea typeface="DM Sans"/>
                <a:cs typeface="DM Sans"/>
                <a:sym typeface="DM Sans"/>
              </a:rPr>
              <a:t>INDUSTRY: OTHER RUTGERS CLUBS</a:t>
            </a:r>
          </a:p>
          <a:p>
            <a:pPr marL="1165857" lvl="2" indent="-388619" algn="l">
              <a:lnSpc>
                <a:spcPts val="2699"/>
              </a:lnSpc>
              <a:buFont typeface="Arial"/>
              <a:buChar char="⚬"/>
            </a:pPr>
            <a:r>
              <a:rPr lang="en-US" sz="2699">
                <a:solidFill>
                  <a:srgbClr val="000000"/>
                </a:solidFill>
                <a:latin typeface="DM Sans"/>
                <a:ea typeface="DM Sans"/>
                <a:cs typeface="DM Sans"/>
                <a:sym typeface="DM Sans"/>
              </a:rPr>
              <a:t>Similar practices: MPowered Entrepreneurship</a:t>
            </a:r>
          </a:p>
          <a:p>
            <a:pPr marL="582928" lvl="1" indent="-291464" algn="l">
              <a:lnSpc>
                <a:spcPts val="2699"/>
              </a:lnSpc>
              <a:buFont typeface="Arial"/>
              <a:buChar char="•"/>
            </a:pPr>
            <a:r>
              <a:rPr lang="en-US" sz="2699" b="1">
                <a:solidFill>
                  <a:srgbClr val="000000"/>
                </a:solidFill>
                <a:latin typeface="DM Sans Bold"/>
                <a:ea typeface="DM Sans Bold"/>
                <a:cs typeface="DM Sans Bold"/>
                <a:sym typeface="DM Sans Bold"/>
              </a:rPr>
              <a:t>rutgers getinvolved</a:t>
            </a:r>
          </a:p>
          <a:p>
            <a:pPr marL="582928" lvl="1" indent="-291464" algn="l">
              <a:lnSpc>
                <a:spcPts val="2699"/>
              </a:lnSpc>
              <a:buFont typeface="Arial"/>
              <a:buChar char="•"/>
            </a:pPr>
            <a:r>
              <a:rPr lang="en-US" sz="2699" b="1">
                <a:solidFill>
                  <a:srgbClr val="000000"/>
                </a:solidFill>
                <a:latin typeface="DM Sans Bold"/>
                <a:ea typeface="DM Sans Bold"/>
                <a:cs typeface="DM Sans Bold"/>
                <a:sym typeface="DM Sans Bold"/>
              </a:rPr>
              <a:t>RUTGERS LIBRARIES</a:t>
            </a:r>
          </a:p>
          <a:p>
            <a:pPr marL="582928" lvl="1" indent="-291464" algn="l">
              <a:lnSpc>
                <a:spcPts val="2699"/>
              </a:lnSpc>
              <a:buFont typeface="Arial"/>
              <a:buChar char="•"/>
            </a:pPr>
            <a:r>
              <a:rPr lang="en-US" sz="2699" b="1">
                <a:solidFill>
                  <a:srgbClr val="000000"/>
                </a:solidFill>
                <a:latin typeface="DM Sans Bold"/>
                <a:ea typeface="DM Sans Bold"/>
                <a:cs typeface="DM Sans Bold"/>
                <a:sym typeface="DM Sans Bold"/>
              </a:rPr>
              <a:t>DAILY TARGUM</a:t>
            </a:r>
          </a:p>
          <a:p>
            <a:pPr marL="582928" lvl="1" indent="-291464" algn="l">
              <a:lnSpc>
                <a:spcPts val="2699"/>
              </a:lnSpc>
              <a:buFont typeface="Arial"/>
              <a:buChar char="•"/>
            </a:pPr>
            <a:r>
              <a:rPr lang="en-US" sz="2699" b="1">
                <a:solidFill>
                  <a:srgbClr val="000000"/>
                </a:solidFill>
                <a:latin typeface="DM Sans Bold"/>
                <a:ea typeface="DM Sans Bold"/>
                <a:cs typeface="DM Sans Bold"/>
                <a:sym typeface="DM Sans Bold"/>
              </a:rPr>
              <a:t>Non-profit organization websites</a:t>
            </a:r>
          </a:p>
          <a:p>
            <a:pPr marL="1165857" lvl="2" indent="-388619" algn="l">
              <a:lnSpc>
                <a:spcPts val="2699"/>
              </a:lnSpc>
              <a:buFont typeface="Arial"/>
              <a:buChar char="⚬"/>
            </a:pPr>
            <a:r>
              <a:rPr lang="en-US" sz="2699">
                <a:solidFill>
                  <a:srgbClr val="000000"/>
                </a:solidFill>
                <a:latin typeface="DM Sans"/>
                <a:ea typeface="DM Sans"/>
                <a:cs typeface="DM Sans"/>
                <a:sym typeface="DM Sans"/>
              </a:rPr>
              <a:t>EXAMINATION OF AI TRENDS</a:t>
            </a:r>
          </a:p>
          <a:p>
            <a:pPr marL="1165857" lvl="2" indent="-388619" algn="l">
              <a:lnSpc>
                <a:spcPts val="2699"/>
              </a:lnSpc>
              <a:buFont typeface="Arial"/>
              <a:buChar char="⚬"/>
            </a:pPr>
            <a:r>
              <a:rPr lang="en-US" sz="2699">
                <a:solidFill>
                  <a:srgbClr val="000000"/>
                </a:solidFill>
                <a:latin typeface="DM Sans"/>
                <a:ea typeface="DM Sans"/>
                <a:cs typeface="DM Sans"/>
                <a:sym typeface="DM Sans"/>
              </a:rPr>
              <a:t>Introduction of AI to entrepreneurial clubs</a:t>
            </a:r>
          </a:p>
        </p:txBody>
      </p:sp>
      <p:sp>
        <p:nvSpPr>
          <p:cNvPr id="11" name="TextBox 11"/>
          <p:cNvSpPr txBox="1"/>
          <p:nvPr/>
        </p:nvSpPr>
        <p:spPr>
          <a:xfrm>
            <a:off x="10119043" y="5223579"/>
            <a:ext cx="3980977" cy="401475"/>
          </a:xfrm>
          <a:prstGeom prst="rect">
            <a:avLst/>
          </a:prstGeom>
        </p:spPr>
        <p:txBody>
          <a:bodyPr lIns="0" tIns="0" rIns="0" bIns="0" rtlCol="0" anchor="t">
            <a:spAutoFit/>
          </a:bodyPr>
          <a:lstStyle/>
          <a:p>
            <a:pPr algn="l">
              <a:lnSpc>
                <a:spcPts val="3056"/>
              </a:lnSpc>
            </a:pPr>
            <a:r>
              <a:rPr lang="en-US" sz="3056" b="1">
                <a:solidFill>
                  <a:srgbClr val="A31212"/>
                </a:solidFill>
                <a:latin typeface="DM Sans Bold"/>
                <a:ea typeface="DM Sans Bold"/>
                <a:cs typeface="DM Sans Bold"/>
                <a:sym typeface="DM Sans Bold"/>
              </a:rPr>
              <a:t>METHODS</a:t>
            </a:r>
          </a:p>
        </p:txBody>
      </p:sp>
      <p:sp>
        <p:nvSpPr>
          <p:cNvPr id="12" name="TextBox 12"/>
          <p:cNvSpPr txBox="1"/>
          <p:nvPr/>
        </p:nvSpPr>
        <p:spPr>
          <a:xfrm>
            <a:off x="607171" y="2886210"/>
            <a:ext cx="3980977" cy="401475"/>
          </a:xfrm>
          <a:prstGeom prst="rect">
            <a:avLst/>
          </a:prstGeom>
        </p:spPr>
        <p:txBody>
          <a:bodyPr lIns="0" tIns="0" rIns="0" bIns="0" rtlCol="0" anchor="t">
            <a:spAutoFit/>
          </a:bodyPr>
          <a:lstStyle/>
          <a:p>
            <a:pPr algn="l">
              <a:lnSpc>
                <a:spcPts val="3056"/>
              </a:lnSpc>
            </a:pPr>
            <a:r>
              <a:rPr lang="en-US" sz="3056" b="1">
                <a:solidFill>
                  <a:srgbClr val="A31212"/>
                </a:solidFill>
                <a:latin typeface="DM Sans Bold"/>
                <a:ea typeface="DM Sans Bold"/>
                <a:cs typeface="DM Sans Bold"/>
                <a:sym typeface="DM Sans Bold"/>
              </a:rPr>
              <a:t>TIMELINE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2EF"/>
        </a:solidFill>
        <a:effectLst/>
      </p:bgPr>
    </p:bg>
    <p:spTree>
      <p:nvGrpSpPr>
        <p:cNvPr id="1" name=""/>
        <p:cNvGrpSpPr/>
        <p:nvPr/>
      </p:nvGrpSpPr>
      <p:grpSpPr>
        <a:xfrm>
          <a:off x="0" y="0"/>
          <a:ext cx="0" cy="0"/>
          <a:chOff x="0" y="0"/>
          <a:chExt cx="0" cy="0"/>
        </a:xfrm>
      </p:grpSpPr>
      <p:grpSp>
        <p:nvGrpSpPr>
          <p:cNvPr id="2" name="Group 2"/>
          <p:cNvGrpSpPr/>
          <p:nvPr/>
        </p:nvGrpSpPr>
        <p:grpSpPr>
          <a:xfrm>
            <a:off x="17259300" y="-106930"/>
            <a:ext cx="1435371" cy="10649231"/>
            <a:chOff x="0" y="0"/>
            <a:chExt cx="378040" cy="2804736"/>
          </a:xfrm>
        </p:grpSpPr>
        <p:sp>
          <p:nvSpPr>
            <p:cNvPr id="3" name="Freeform 3"/>
            <p:cNvSpPr/>
            <p:nvPr/>
          </p:nvSpPr>
          <p:spPr>
            <a:xfrm>
              <a:off x="0" y="0"/>
              <a:ext cx="378040" cy="2804736"/>
            </a:xfrm>
            <a:custGeom>
              <a:avLst/>
              <a:gdLst/>
              <a:ahLst/>
              <a:cxnLst/>
              <a:rect l="l" t="t" r="r" b="b"/>
              <a:pathLst>
                <a:path w="378040" h="2804736">
                  <a:moveTo>
                    <a:pt x="0" y="0"/>
                  </a:moveTo>
                  <a:lnTo>
                    <a:pt x="378040" y="0"/>
                  </a:lnTo>
                  <a:lnTo>
                    <a:pt x="378040" y="2804736"/>
                  </a:lnTo>
                  <a:lnTo>
                    <a:pt x="0" y="2804736"/>
                  </a:lnTo>
                  <a:close/>
                </a:path>
              </a:pathLst>
            </a:custGeom>
            <a:solidFill>
              <a:srgbClr val="A31212"/>
            </a:solidFill>
          </p:spPr>
          <p:txBody>
            <a:bodyPr/>
            <a:lstStyle/>
            <a:p>
              <a:endParaRPr lang="en-US"/>
            </a:p>
          </p:txBody>
        </p:sp>
        <p:sp>
          <p:nvSpPr>
            <p:cNvPr id="4" name="TextBox 4"/>
            <p:cNvSpPr txBox="1"/>
            <p:nvPr/>
          </p:nvSpPr>
          <p:spPr>
            <a:xfrm>
              <a:off x="0" y="-47625"/>
              <a:ext cx="378040" cy="2852361"/>
            </a:xfrm>
            <a:prstGeom prst="rect">
              <a:avLst/>
            </a:prstGeom>
          </p:spPr>
          <p:txBody>
            <a:bodyPr lIns="50800" tIns="50800" rIns="50800" bIns="50800" rtlCol="0" anchor="ctr"/>
            <a:lstStyle/>
            <a:p>
              <a:pPr algn="ctr">
                <a:lnSpc>
                  <a:spcPts val="3359"/>
                </a:lnSpc>
              </a:pPr>
              <a:endParaRPr/>
            </a:p>
          </p:txBody>
        </p:sp>
      </p:grpSp>
      <p:sp>
        <p:nvSpPr>
          <p:cNvPr id="5" name="Freeform 5"/>
          <p:cNvSpPr/>
          <p:nvPr/>
        </p:nvSpPr>
        <p:spPr>
          <a:xfrm>
            <a:off x="8476816" y="0"/>
            <a:ext cx="10244002" cy="10419413"/>
          </a:xfrm>
          <a:custGeom>
            <a:avLst/>
            <a:gdLst/>
            <a:ahLst/>
            <a:cxnLst/>
            <a:rect l="l" t="t" r="r" b="b"/>
            <a:pathLst>
              <a:path w="10244002" h="10419413">
                <a:moveTo>
                  <a:pt x="0" y="0"/>
                </a:moveTo>
                <a:lnTo>
                  <a:pt x="10244002" y="0"/>
                </a:lnTo>
                <a:lnTo>
                  <a:pt x="10244002" y="10419413"/>
                </a:lnTo>
                <a:lnTo>
                  <a:pt x="0" y="1041941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6" name="Group 6"/>
          <p:cNvGrpSpPr/>
          <p:nvPr/>
        </p:nvGrpSpPr>
        <p:grpSpPr>
          <a:xfrm>
            <a:off x="-44867" y="-20384"/>
            <a:ext cx="4494434" cy="3411765"/>
            <a:chOff x="0" y="0"/>
            <a:chExt cx="696305" cy="528572"/>
          </a:xfrm>
        </p:grpSpPr>
        <p:sp>
          <p:nvSpPr>
            <p:cNvPr id="7" name="Freeform 7"/>
            <p:cNvSpPr/>
            <p:nvPr/>
          </p:nvSpPr>
          <p:spPr>
            <a:xfrm>
              <a:off x="0" y="0"/>
              <a:ext cx="696305" cy="528572"/>
            </a:xfrm>
            <a:custGeom>
              <a:avLst/>
              <a:gdLst/>
              <a:ahLst/>
              <a:cxnLst/>
              <a:rect l="l" t="t" r="r" b="b"/>
              <a:pathLst>
                <a:path w="696305" h="528572">
                  <a:moveTo>
                    <a:pt x="0" y="0"/>
                  </a:moveTo>
                  <a:lnTo>
                    <a:pt x="696305" y="0"/>
                  </a:lnTo>
                  <a:lnTo>
                    <a:pt x="696305" y="528572"/>
                  </a:lnTo>
                  <a:lnTo>
                    <a:pt x="0" y="528572"/>
                  </a:lnTo>
                  <a:close/>
                </a:path>
              </a:pathLst>
            </a:custGeom>
            <a:blipFill>
              <a:blip r:embed="rId4"/>
              <a:stretch>
                <a:fillRect t="-15866" b="-15866"/>
              </a:stretch>
            </a:blipFill>
          </p:spPr>
          <p:txBody>
            <a:bodyPr/>
            <a:lstStyle/>
            <a:p>
              <a:endParaRPr lang="en-US"/>
            </a:p>
          </p:txBody>
        </p:sp>
      </p:grpSp>
      <p:grpSp>
        <p:nvGrpSpPr>
          <p:cNvPr id="8" name="Group 8"/>
          <p:cNvGrpSpPr/>
          <p:nvPr/>
        </p:nvGrpSpPr>
        <p:grpSpPr>
          <a:xfrm>
            <a:off x="-952632" y="6961680"/>
            <a:ext cx="9613146" cy="3421391"/>
            <a:chOff x="0" y="0"/>
            <a:chExt cx="2531857" cy="901107"/>
          </a:xfrm>
        </p:grpSpPr>
        <p:sp>
          <p:nvSpPr>
            <p:cNvPr id="9" name="Freeform 9"/>
            <p:cNvSpPr/>
            <p:nvPr/>
          </p:nvSpPr>
          <p:spPr>
            <a:xfrm>
              <a:off x="0" y="0"/>
              <a:ext cx="2531857" cy="901107"/>
            </a:xfrm>
            <a:custGeom>
              <a:avLst/>
              <a:gdLst/>
              <a:ahLst/>
              <a:cxnLst/>
              <a:rect l="l" t="t" r="r" b="b"/>
              <a:pathLst>
                <a:path w="2531857" h="901107">
                  <a:moveTo>
                    <a:pt x="0" y="0"/>
                  </a:moveTo>
                  <a:lnTo>
                    <a:pt x="2531857" y="0"/>
                  </a:lnTo>
                  <a:lnTo>
                    <a:pt x="2531857" y="901107"/>
                  </a:lnTo>
                  <a:lnTo>
                    <a:pt x="0" y="901107"/>
                  </a:lnTo>
                  <a:close/>
                </a:path>
              </a:pathLst>
            </a:custGeom>
            <a:solidFill>
              <a:srgbClr val="751212"/>
            </a:solidFill>
          </p:spPr>
          <p:txBody>
            <a:bodyPr/>
            <a:lstStyle/>
            <a:p>
              <a:endParaRPr lang="en-US"/>
            </a:p>
          </p:txBody>
        </p:sp>
        <p:sp>
          <p:nvSpPr>
            <p:cNvPr id="10" name="TextBox 10"/>
            <p:cNvSpPr txBox="1"/>
            <p:nvPr/>
          </p:nvSpPr>
          <p:spPr>
            <a:xfrm>
              <a:off x="0" y="-47625"/>
              <a:ext cx="2531857" cy="948732"/>
            </a:xfrm>
            <a:prstGeom prst="rect">
              <a:avLst/>
            </a:prstGeom>
          </p:spPr>
          <p:txBody>
            <a:bodyPr lIns="50800" tIns="50800" rIns="50800" bIns="50800" rtlCol="0" anchor="ctr"/>
            <a:lstStyle/>
            <a:p>
              <a:pPr algn="ctr">
                <a:lnSpc>
                  <a:spcPts val="3359"/>
                </a:lnSpc>
              </a:pPr>
              <a:endParaRPr/>
            </a:p>
          </p:txBody>
        </p:sp>
      </p:grpSp>
      <p:sp>
        <p:nvSpPr>
          <p:cNvPr id="11" name="Freeform 11"/>
          <p:cNvSpPr/>
          <p:nvPr/>
        </p:nvSpPr>
        <p:spPr>
          <a:xfrm>
            <a:off x="16213451" y="2519651"/>
            <a:ext cx="871730" cy="871730"/>
          </a:xfrm>
          <a:custGeom>
            <a:avLst/>
            <a:gdLst/>
            <a:ahLst/>
            <a:cxnLst/>
            <a:rect l="l" t="t" r="r" b="b"/>
            <a:pathLst>
              <a:path w="871730" h="871730">
                <a:moveTo>
                  <a:pt x="0" y="0"/>
                </a:moveTo>
                <a:lnTo>
                  <a:pt x="871730" y="0"/>
                </a:lnTo>
                <a:lnTo>
                  <a:pt x="871730" y="871730"/>
                </a:lnTo>
                <a:lnTo>
                  <a:pt x="0" y="8717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12" name="Group 12"/>
          <p:cNvGrpSpPr/>
          <p:nvPr/>
        </p:nvGrpSpPr>
        <p:grpSpPr>
          <a:xfrm>
            <a:off x="-44867" y="3358350"/>
            <a:ext cx="4494434" cy="3570299"/>
            <a:chOff x="0" y="0"/>
            <a:chExt cx="696305" cy="553133"/>
          </a:xfrm>
        </p:grpSpPr>
        <p:sp>
          <p:nvSpPr>
            <p:cNvPr id="13" name="Freeform 13"/>
            <p:cNvSpPr/>
            <p:nvPr/>
          </p:nvSpPr>
          <p:spPr>
            <a:xfrm>
              <a:off x="0" y="0"/>
              <a:ext cx="696305" cy="553133"/>
            </a:xfrm>
            <a:custGeom>
              <a:avLst/>
              <a:gdLst/>
              <a:ahLst/>
              <a:cxnLst/>
              <a:rect l="l" t="t" r="r" b="b"/>
              <a:pathLst>
                <a:path w="696305" h="553133">
                  <a:moveTo>
                    <a:pt x="0" y="0"/>
                  </a:moveTo>
                  <a:lnTo>
                    <a:pt x="696305" y="0"/>
                  </a:lnTo>
                  <a:lnTo>
                    <a:pt x="696305" y="553133"/>
                  </a:lnTo>
                  <a:lnTo>
                    <a:pt x="0" y="553133"/>
                  </a:lnTo>
                  <a:close/>
                </a:path>
              </a:pathLst>
            </a:custGeom>
            <a:solidFill>
              <a:srgbClr val="FFFFFF"/>
            </a:solidFill>
            <a:ln w="12700">
              <a:solidFill>
                <a:srgbClr val="000000"/>
              </a:solidFill>
            </a:ln>
          </p:spPr>
          <p:txBody>
            <a:bodyPr/>
            <a:lstStyle/>
            <a:p>
              <a:endParaRPr lang="en-US"/>
            </a:p>
          </p:txBody>
        </p:sp>
      </p:grpSp>
      <p:grpSp>
        <p:nvGrpSpPr>
          <p:cNvPr id="14" name="Group 14"/>
          <p:cNvGrpSpPr/>
          <p:nvPr/>
        </p:nvGrpSpPr>
        <p:grpSpPr>
          <a:xfrm>
            <a:off x="0" y="3520413"/>
            <a:ext cx="4494434" cy="3570299"/>
            <a:chOff x="0" y="0"/>
            <a:chExt cx="696305" cy="553133"/>
          </a:xfrm>
        </p:grpSpPr>
        <p:sp>
          <p:nvSpPr>
            <p:cNvPr id="15" name="Freeform 15"/>
            <p:cNvSpPr/>
            <p:nvPr/>
          </p:nvSpPr>
          <p:spPr>
            <a:xfrm>
              <a:off x="0" y="0"/>
              <a:ext cx="696305" cy="553133"/>
            </a:xfrm>
            <a:custGeom>
              <a:avLst/>
              <a:gdLst/>
              <a:ahLst/>
              <a:cxnLst/>
              <a:rect l="l" t="t" r="r" b="b"/>
              <a:pathLst>
                <a:path w="696305" h="553133">
                  <a:moveTo>
                    <a:pt x="0" y="0"/>
                  </a:moveTo>
                  <a:lnTo>
                    <a:pt x="696305" y="0"/>
                  </a:lnTo>
                  <a:lnTo>
                    <a:pt x="696305" y="553133"/>
                  </a:lnTo>
                  <a:lnTo>
                    <a:pt x="0" y="553133"/>
                  </a:lnTo>
                  <a:close/>
                </a:path>
              </a:pathLst>
            </a:custGeom>
            <a:blipFill>
              <a:blip r:embed="rId7"/>
              <a:stretch>
                <a:fillRect t="-12941" b="-12941"/>
              </a:stretch>
            </a:blipFill>
          </p:spPr>
          <p:txBody>
            <a:bodyPr/>
            <a:lstStyle/>
            <a:p>
              <a:endParaRPr lang="en-US"/>
            </a:p>
          </p:txBody>
        </p:sp>
      </p:grpSp>
      <p:sp>
        <p:nvSpPr>
          <p:cNvPr id="16" name="TextBox 16"/>
          <p:cNvSpPr txBox="1"/>
          <p:nvPr/>
        </p:nvSpPr>
        <p:spPr>
          <a:xfrm>
            <a:off x="9949944" y="6450505"/>
            <a:ext cx="7305278" cy="2155826"/>
          </a:xfrm>
          <a:prstGeom prst="rect">
            <a:avLst/>
          </a:prstGeom>
        </p:spPr>
        <p:txBody>
          <a:bodyPr lIns="0" tIns="0" rIns="0" bIns="0" rtlCol="0" anchor="t">
            <a:spAutoFit/>
          </a:bodyPr>
          <a:lstStyle/>
          <a:p>
            <a:pPr algn="r">
              <a:lnSpc>
                <a:spcPts val="8000"/>
              </a:lnSpc>
            </a:pPr>
            <a:r>
              <a:rPr lang="en-US" sz="8000">
                <a:solidFill>
                  <a:srgbClr val="F5F2EF"/>
                </a:solidFill>
                <a:latin typeface="Poppins Light"/>
                <a:ea typeface="Poppins Light"/>
                <a:cs typeface="Poppins Light"/>
                <a:sym typeface="Poppins Light"/>
              </a:rPr>
              <a:t>OUTPUT PROBLEM</a:t>
            </a:r>
          </a:p>
        </p:txBody>
      </p:sp>
      <p:sp>
        <p:nvSpPr>
          <p:cNvPr id="17" name="TextBox 17"/>
          <p:cNvSpPr txBox="1"/>
          <p:nvPr/>
        </p:nvSpPr>
        <p:spPr>
          <a:xfrm>
            <a:off x="1028700" y="7077285"/>
            <a:ext cx="6290350" cy="417795"/>
          </a:xfrm>
          <a:prstGeom prst="rect">
            <a:avLst/>
          </a:prstGeom>
        </p:spPr>
        <p:txBody>
          <a:bodyPr lIns="0" tIns="0" rIns="0" bIns="0" rtlCol="0" anchor="t">
            <a:spAutoFit/>
          </a:bodyPr>
          <a:lstStyle/>
          <a:p>
            <a:pPr algn="l">
              <a:lnSpc>
                <a:spcPts val="3492"/>
              </a:lnSpc>
            </a:pPr>
            <a:r>
              <a:rPr lang="en-US" sz="2749" b="1">
                <a:solidFill>
                  <a:srgbClr val="FFFFFF"/>
                </a:solidFill>
                <a:latin typeface="DM Sans Bold"/>
                <a:ea typeface="DM Sans Bold"/>
                <a:cs typeface="DM Sans Bold"/>
                <a:sym typeface="DM Sans Bold"/>
              </a:rPr>
              <a:t>OVERVIEW OF OUTPUT PROBLEM</a:t>
            </a:r>
          </a:p>
        </p:txBody>
      </p:sp>
      <p:sp>
        <p:nvSpPr>
          <p:cNvPr id="18" name="TextBox 18"/>
          <p:cNvSpPr txBox="1"/>
          <p:nvPr/>
        </p:nvSpPr>
        <p:spPr>
          <a:xfrm>
            <a:off x="17728689" y="9239566"/>
            <a:ext cx="374898" cy="842646"/>
          </a:xfrm>
          <a:prstGeom prst="rect">
            <a:avLst/>
          </a:prstGeom>
        </p:spPr>
        <p:txBody>
          <a:bodyPr lIns="0" tIns="0" rIns="0" bIns="0" rtlCol="0" anchor="t">
            <a:spAutoFit/>
          </a:bodyPr>
          <a:lstStyle/>
          <a:p>
            <a:pPr algn="ctr">
              <a:lnSpc>
                <a:spcPts val="6579"/>
              </a:lnSpc>
              <a:spcBef>
                <a:spcPct val="0"/>
              </a:spcBef>
            </a:pPr>
            <a:r>
              <a:rPr lang="en-US" sz="4699">
                <a:solidFill>
                  <a:srgbClr val="F5F2EF"/>
                </a:solidFill>
                <a:latin typeface="Poppins"/>
                <a:ea typeface="Poppins"/>
                <a:cs typeface="Poppins"/>
                <a:sym typeface="Poppins"/>
              </a:rPr>
              <a:t>5</a:t>
            </a:r>
          </a:p>
        </p:txBody>
      </p:sp>
      <p:grpSp>
        <p:nvGrpSpPr>
          <p:cNvPr id="19" name="Group 19"/>
          <p:cNvGrpSpPr/>
          <p:nvPr/>
        </p:nvGrpSpPr>
        <p:grpSpPr>
          <a:xfrm>
            <a:off x="5037970" y="445334"/>
            <a:ext cx="5503926" cy="2616237"/>
            <a:chOff x="0" y="0"/>
            <a:chExt cx="7338568" cy="3488315"/>
          </a:xfrm>
        </p:grpSpPr>
        <p:sp>
          <p:nvSpPr>
            <p:cNvPr id="20" name="TextBox 20"/>
            <p:cNvSpPr txBox="1"/>
            <p:nvPr/>
          </p:nvSpPr>
          <p:spPr>
            <a:xfrm>
              <a:off x="590366" y="66675"/>
              <a:ext cx="6748203" cy="1126072"/>
            </a:xfrm>
            <a:prstGeom prst="rect">
              <a:avLst/>
            </a:prstGeom>
          </p:spPr>
          <p:txBody>
            <a:bodyPr lIns="0" tIns="0" rIns="0" bIns="0" rtlCol="0" anchor="t">
              <a:spAutoFit/>
            </a:bodyPr>
            <a:lstStyle/>
            <a:p>
              <a:pPr algn="l">
                <a:lnSpc>
                  <a:spcPts val="3258"/>
                </a:lnSpc>
              </a:pPr>
              <a:r>
                <a:rPr lang="en-US" sz="3258">
                  <a:solidFill>
                    <a:srgbClr val="A31212"/>
                  </a:solidFill>
                  <a:latin typeface="DM Sans"/>
                  <a:ea typeface="DM Sans"/>
                  <a:cs typeface="DM Sans"/>
                  <a:sym typeface="DM Sans"/>
                </a:rPr>
                <a:t>MANAGER PERSPECTIVE</a:t>
              </a:r>
            </a:p>
            <a:p>
              <a:pPr algn="l">
                <a:lnSpc>
                  <a:spcPts val="3258"/>
                </a:lnSpc>
              </a:pPr>
              <a:endParaRPr lang="en-US" sz="3258">
                <a:solidFill>
                  <a:srgbClr val="A31212"/>
                </a:solidFill>
                <a:latin typeface="DM Sans"/>
                <a:ea typeface="DM Sans"/>
                <a:cs typeface="DM Sans"/>
                <a:sym typeface="DM Sans"/>
              </a:endParaRPr>
            </a:p>
          </p:txBody>
        </p:sp>
        <p:sp>
          <p:nvSpPr>
            <p:cNvPr id="21" name="TextBox 21"/>
            <p:cNvSpPr txBox="1"/>
            <p:nvPr/>
          </p:nvSpPr>
          <p:spPr>
            <a:xfrm>
              <a:off x="0" y="782196"/>
              <a:ext cx="6748203" cy="2706119"/>
            </a:xfrm>
            <a:prstGeom prst="rect">
              <a:avLst/>
            </a:prstGeom>
          </p:spPr>
          <p:txBody>
            <a:bodyPr lIns="0" tIns="0" rIns="0" bIns="0" rtlCol="0" anchor="t">
              <a:spAutoFit/>
            </a:bodyPr>
            <a:lstStyle/>
            <a:p>
              <a:pPr algn="ctr">
                <a:lnSpc>
                  <a:spcPts val="2632"/>
                </a:lnSpc>
              </a:pPr>
              <a:r>
                <a:rPr lang="en-US" sz="2632">
                  <a:solidFill>
                    <a:srgbClr val="000000"/>
                  </a:solidFill>
                  <a:latin typeface="DM Sans"/>
                  <a:ea typeface="DM Sans"/>
                  <a:cs typeface="DM Sans"/>
                  <a:sym typeface="DM Sans"/>
                </a:rPr>
                <a:t>THE ISSUE OF DECLINING ATTENDANCE IS DUE TO COMMUNICATION, AND IT CAN BE AMMENDED IF THE E-BOARD PUTS MORE EFFORT INTO THE ORGANIZATION</a:t>
              </a:r>
            </a:p>
          </p:txBody>
        </p:sp>
      </p:grpSp>
      <p:grpSp>
        <p:nvGrpSpPr>
          <p:cNvPr id="22" name="Group 22"/>
          <p:cNvGrpSpPr/>
          <p:nvPr/>
        </p:nvGrpSpPr>
        <p:grpSpPr>
          <a:xfrm>
            <a:off x="5037970" y="3709438"/>
            <a:ext cx="5345736" cy="2541042"/>
            <a:chOff x="0" y="0"/>
            <a:chExt cx="7127648" cy="3388056"/>
          </a:xfrm>
        </p:grpSpPr>
        <p:sp>
          <p:nvSpPr>
            <p:cNvPr id="23" name="TextBox 23"/>
            <p:cNvSpPr txBox="1"/>
            <p:nvPr/>
          </p:nvSpPr>
          <p:spPr>
            <a:xfrm>
              <a:off x="573398" y="57150"/>
              <a:ext cx="6554250" cy="1101316"/>
            </a:xfrm>
            <a:prstGeom prst="rect">
              <a:avLst/>
            </a:prstGeom>
          </p:spPr>
          <p:txBody>
            <a:bodyPr lIns="0" tIns="0" rIns="0" bIns="0" rtlCol="0" anchor="t">
              <a:spAutoFit/>
            </a:bodyPr>
            <a:lstStyle/>
            <a:p>
              <a:pPr algn="l">
                <a:lnSpc>
                  <a:spcPts val="3165"/>
                </a:lnSpc>
              </a:pPr>
              <a:r>
                <a:rPr lang="en-US" sz="3165">
                  <a:solidFill>
                    <a:srgbClr val="A31212"/>
                  </a:solidFill>
                  <a:latin typeface="DM Sans"/>
                  <a:ea typeface="DM Sans"/>
                  <a:cs typeface="DM Sans"/>
                  <a:sym typeface="DM Sans"/>
                </a:rPr>
                <a:t>EMPLOYEE PERSPECTIVE</a:t>
              </a:r>
            </a:p>
            <a:p>
              <a:pPr algn="l">
                <a:lnSpc>
                  <a:spcPts val="3165"/>
                </a:lnSpc>
              </a:pPr>
              <a:endParaRPr lang="en-US" sz="3165">
                <a:solidFill>
                  <a:srgbClr val="A31212"/>
                </a:solidFill>
                <a:latin typeface="DM Sans"/>
                <a:ea typeface="DM Sans"/>
                <a:cs typeface="DM Sans"/>
                <a:sym typeface="DM Sans"/>
              </a:endParaRPr>
            </a:p>
          </p:txBody>
        </p:sp>
        <p:sp>
          <p:nvSpPr>
            <p:cNvPr id="24" name="TextBox 24"/>
            <p:cNvSpPr txBox="1"/>
            <p:nvPr/>
          </p:nvSpPr>
          <p:spPr>
            <a:xfrm>
              <a:off x="0" y="751832"/>
              <a:ext cx="6554250" cy="2636224"/>
            </a:xfrm>
            <a:prstGeom prst="rect">
              <a:avLst/>
            </a:prstGeom>
          </p:spPr>
          <p:txBody>
            <a:bodyPr lIns="0" tIns="0" rIns="0" bIns="0" rtlCol="0" anchor="t">
              <a:spAutoFit/>
            </a:bodyPr>
            <a:lstStyle/>
            <a:p>
              <a:pPr algn="ctr">
                <a:lnSpc>
                  <a:spcPts val="2556"/>
                </a:lnSpc>
              </a:pPr>
              <a:r>
                <a:rPr lang="en-US" sz="2556">
                  <a:solidFill>
                    <a:srgbClr val="000000"/>
                  </a:solidFill>
                  <a:latin typeface="DM Sans"/>
                  <a:ea typeface="DM Sans"/>
                  <a:cs typeface="DM Sans"/>
                  <a:sym typeface="DM Sans"/>
                </a:rPr>
                <a:t>BELIEVE THE CAUSE OF THE ATTENDANCE NOT KNOWING  WHEN MEETINGS ARE HAPPENING AND NOT HAVING ENOUGH PERSONAL BENEFITS TO GO</a:t>
              </a:r>
            </a:p>
          </p:txBody>
        </p:sp>
      </p:grpSp>
      <p:sp>
        <p:nvSpPr>
          <p:cNvPr id="25" name="TextBox 25"/>
          <p:cNvSpPr txBox="1"/>
          <p:nvPr/>
        </p:nvSpPr>
        <p:spPr>
          <a:xfrm>
            <a:off x="679167" y="7544371"/>
            <a:ext cx="6349548" cy="2537841"/>
          </a:xfrm>
          <a:prstGeom prst="rect">
            <a:avLst/>
          </a:prstGeom>
        </p:spPr>
        <p:txBody>
          <a:bodyPr lIns="0" tIns="0" rIns="0" bIns="0" rtlCol="0" anchor="t">
            <a:spAutoFit/>
          </a:bodyPr>
          <a:lstStyle/>
          <a:p>
            <a:pPr marL="493312" lvl="1" indent="-246656" algn="l">
              <a:lnSpc>
                <a:spcPts val="2901"/>
              </a:lnSpc>
              <a:buFont typeface="Arial"/>
              <a:buChar char="•"/>
            </a:pPr>
            <a:r>
              <a:rPr lang="en-US" sz="2284">
                <a:solidFill>
                  <a:srgbClr val="FFFFFF"/>
                </a:solidFill>
                <a:latin typeface="DM Sans"/>
                <a:ea typeface="DM Sans"/>
                <a:cs typeface="DM Sans"/>
                <a:sym typeface="DM Sans"/>
              </a:rPr>
              <a:t>THERE IS A LARGE DECLINE IN ATTENDANCE NUMBERS FOR GENERAL RUTGERS ENTREPRENEURIAL SOCIETY MEETINGS</a:t>
            </a:r>
          </a:p>
          <a:p>
            <a:pPr marL="493312" lvl="1" indent="-246656" algn="l">
              <a:lnSpc>
                <a:spcPts val="2901"/>
              </a:lnSpc>
              <a:buFont typeface="Arial"/>
              <a:buChar char="•"/>
            </a:pPr>
            <a:r>
              <a:rPr lang="en-US" sz="2284">
                <a:solidFill>
                  <a:srgbClr val="FFFFFF"/>
                </a:solidFill>
                <a:latin typeface="DM Sans"/>
                <a:ea typeface="DM Sans"/>
                <a:cs typeface="DM Sans"/>
                <a:sym typeface="DM Sans"/>
              </a:rPr>
              <a:t>PEOPLE AREN’T ATTENDING MANY MEETINGS OTHER THAN THE MOST POPULAR ONES, SUCH AS SHARKTANK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2EF"/>
        </a:solidFill>
        <a:effectLst/>
      </p:bgPr>
    </p:bg>
    <p:spTree>
      <p:nvGrpSpPr>
        <p:cNvPr id="1" name=""/>
        <p:cNvGrpSpPr/>
        <p:nvPr/>
      </p:nvGrpSpPr>
      <p:grpSpPr>
        <a:xfrm>
          <a:off x="0" y="0"/>
          <a:ext cx="0" cy="0"/>
          <a:chOff x="0" y="0"/>
          <a:chExt cx="0" cy="0"/>
        </a:xfrm>
      </p:grpSpPr>
      <p:sp>
        <p:nvSpPr>
          <p:cNvPr id="2" name="Freeform 2"/>
          <p:cNvSpPr/>
          <p:nvPr/>
        </p:nvSpPr>
        <p:spPr>
          <a:xfrm>
            <a:off x="-119135" y="-90560"/>
            <a:ext cx="5262635" cy="5262635"/>
          </a:xfrm>
          <a:custGeom>
            <a:avLst/>
            <a:gdLst/>
            <a:ahLst/>
            <a:cxnLst/>
            <a:rect l="l" t="t" r="r" b="b"/>
            <a:pathLst>
              <a:path w="5262635" h="5262635">
                <a:moveTo>
                  <a:pt x="0" y="0"/>
                </a:moveTo>
                <a:lnTo>
                  <a:pt x="5262635" y="0"/>
                </a:lnTo>
                <a:lnTo>
                  <a:pt x="5262635" y="5262635"/>
                </a:lnTo>
                <a:lnTo>
                  <a:pt x="0" y="52626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flipV="1">
            <a:off x="0" y="5153025"/>
            <a:ext cx="5143500" cy="5143500"/>
          </a:xfrm>
          <a:custGeom>
            <a:avLst/>
            <a:gdLst/>
            <a:ahLst/>
            <a:cxnLst/>
            <a:rect l="l" t="t" r="r" b="b"/>
            <a:pathLst>
              <a:path w="5143500" h="5143500">
                <a:moveTo>
                  <a:pt x="0" y="5143500"/>
                </a:moveTo>
                <a:lnTo>
                  <a:pt x="5143500" y="5143500"/>
                </a:lnTo>
                <a:lnTo>
                  <a:pt x="5143500" y="0"/>
                </a:lnTo>
                <a:lnTo>
                  <a:pt x="0" y="0"/>
                </a:lnTo>
                <a:lnTo>
                  <a:pt x="0" y="514350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aphicFrame>
        <p:nvGraphicFramePr>
          <p:cNvPr id="4" name="Table 4"/>
          <p:cNvGraphicFramePr>
            <a:graphicFrameLocks noGrp="1"/>
          </p:cNvGraphicFramePr>
          <p:nvPr/>
        </p:nvGraphicFramePr>
        <p:xfrm>
          <a:off x="5452932" y="2400300"/>
          <a:ext cx="11806368" cy="2562225"/>
        </p:xfrm>
        <a:graphic>
          <a:graphicData uri="http://schemas.openxmlformats.org/drawingml/2006/table">
            <a:tbl>
              <a:tblPr/>
              <a:tblGrid>
                <a:gridCol w="11806368">
                  <a:extLst>
                    <a:ext uri="{9D8B030D-6E8A-4147-A177-3AD203B41FA5}">
                      <a16:colId xmlns:a16="http://schemas.microsoft.com/office/drawing/2014/main" val="20000"/>
                    </a:ext>
                  </a:extLst>
                </a:gridCol>
              </a:tblGrid>
              <a:tr h="2562225">
                <a:tc>
                  <a:txBody>
                    <a:bodyPr/>
                    <a:lstStyle/>
                    <a:p>
                      <a:pPr algn="l">
                        <a:lnSpc>
                          <a:spcPts val="4200"/>
                        </a:lnSpc>
                        <a:defRPr/>
                      </a:pPr>
                      <a:r>
                        <a:rPr lang="en-US" sz="3000">
                          <a:solidFill>
                            <a:srgbClr val="000000"/>
                          </a:solidFill>
                          <a:latin typeface="DM Sans"/>
                          <a:ea typeface="DM Sans"/>
                          <a:cs typeface="DM Sans"/>
                          <a:sym typeface="DM Sans"/>
                        </a:rPr>
                        <a:t>Proper communication involves the exchange of information, opinions, ideas, and feelings, taking on various forms of delivery. Whether verbal, nonverbal, or written, the goal is to build understanding between the two parties.</a:t>
                      </a:r>
                      <a:endParaRPr lang="en-US" sz="1100"/>
                    </a:p>
                  </a:txBody>
                  <a:tcPr marL="190500" marR="190500" marT="190500" marB="1905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5" name="Freeform 5"/>
          <p:cNvSpPr/>
          <p:nvPr/>
        </p:nvSpPr>
        <p:spPr>
          <a:xfrm>
            <a:off x="0" y="3496812"/>
            <a:ext cx="5143500" cy="3350527"/>
          </a:xfrm>
          <a:custGeom>
            <a:avLst/>
            <a:gdLst/>
            <a:ahLst/>
            <a:cxnLst/>
            <a:rect l="l" t="t" r="r" b="b"/>
            <a:pathLst>
              <a:path w="5143500" h="3350527">
                <a:moveTo>
                  <a:pt x="0" y="0"/>
                </a:moveTo>
                <a:lnTo>
                  <a:pt x="5143500" y="0"/>
                </a:lnTo>
                <a:lnTo>
                  <a:pt x="5143500" y="3350526"/>
                </a:lnTo>
                <a:lnTo>
                  <a:pt x="0" y="3350526"/>
                </a:lnTo>
                <a:lnTo>
                  <a:pt x="0" y="0"/>
                </a:lnTo>
                <a:close/>
              </a:path>
            </a:pathLst>
          </a:custGeom>
          <a:blipFill>
            <a:blip r:embed="rId6"/>
            <a:stretch>
              <a:fillRect t="-1130" b="-1130"/>
            </a:stretch>
          </a:blipFill>
        </p:spPr>
        <p:txBody>
          <a:bodyPr/>
          <a:lstStyle/>
          <a:p>
            <a:endParaRPr lang="en-US"/>
          </a:p>
        </p:txBody>
      </p:sp>
      <p:sp>
        <p:nvSpPr>
          <p:cNvPr id="6" name="TextBox 6"/>
          <p:cNvSpPr txBox="1"/>
          <p:nvPr/>
        </p:nvSpPr>
        <p:spPr>
          <a:xfrm>
            <a:off x="5452932" y="1114425"/>
            <a:ext cx="11806368" cy="1285875"/>
          </a:xfrm>
          <a:prstGeom prst="rect">
            <a:avLst/>
          </a:prstGeom>
        </p:spPr>
        <p:txBody>
          <a:bodyPr lIns="0" tIns="0" rIns="0" bIns="0" rtlCol="0" anchor="t">
            <a:spAutoFit/>
          </a:bodyPr>
          <a:lstStyle/>
          <a:p>
            <a:pPr algn="l">
              <a:lnSpc>
                <a:spcPts val="9000"/>
              </a:lnSpc>
            </a:pPr>
            <a:r>
              <a:rPr lang="en-US" sz="9000" b="1">
                <a:solidFill>
                  <a:srgbClr val="000000"/>
                </a:solidFill>
                <a:latin typeface="Poppins Bold"/>
                <a:ea typeface="Poppins Bold"/>
                <a:cs typeface="Poppins Bold"/>
                <a:sym typeface="Poppins Bold"/>
              </a:rPr>
              <a:t>COMMUNICATION</a:t>
            </a:r>
          </a:p>
        </p:txBody>
      </p:sp>
      <p:sp>
        <p:nvSpPr>
          <p:cNvPr id="7" name="TextBox 7"/>
          <p:cNvSpPr txBox="1"/>
          <p:nvPr/>
        </p:nvSpPr>
        <p:spPr>
          <a:xfrm>
            <a:off x="136568" y="9444354"/>
            <a:ext cx="379065" cy="842646"/>
          </a:xfrm>
          <a:prstGeom prst="rect">
            <a:avLst/>
          </a:prstGeom>
        </p:spPr>
        <p:txBody>
          <a:bodyPr lIns="0" tIns="0" rIns="0" bIns="0" rtlCol="0" anchor="t">
            <a:spAutoFit/>
          </a:bodyPr>
          <a:lstStyle/>
          <a:p>
            <a:pPr algn="ctr">
              <a:lnSpc>
                <a:spcPts val="6579"/>
              </a:lnSpc>
              <a:spcBef>
                <a:spcPct val="0"/>
              </a:spcBef>
            </a:pPr>
            <a:r>
              <a:rPr lang="en-US" sz="4699">
                <a:solidFill>
                  <a:srgbClr val="F5F2EF"/>
                </a:solidFill>
                <a:latin typeface="Poppins"/>
                <a:ea typeface="Poppins"/>
                <a:cs typeface="Poppins"/>
                <a:sym typeface="Poppins"/>
              </a:rPr>
              <a:t>6</a:t>
            </a:r>
          </a:p>
        </p:txBody>
      </p:sp>
      <p:sp>
        <p:nvSpPr>
          <p:cNvPr id="8" name="TextBox 8"/>
          <p:cNvSpPr txBox="1"/>
          <p:nvPr/>
        </p:nvSpPr>
        <p:spPr>
          <a:xfrm>
            <a:off x="5452932" y="5210175"/>
            <a:ext cx="11806368" cy="739151"/>
          </a:xfrm>
          <a:prstGeom prst="rect">
            <a:avLst/>
          </a:prstGeom>
        </p:spPr>
        <p:txBody>
          <a:bodyPr lIns="0" tIns="0" rIns="0" bIns="0" rtlCol="0" anchor="t">
            <a:spAutoFit/>
          </a:bodyPr>
          <a:lstStyle/>
          <a:p>
            <a:pPr algn="l">
              <a:lnSpc>
                <a:spcPts val="5100"/>
              </a:lnSpc>
            </a:pPr>
            <a:r>
              <a:rPr lang="en-US" sz="5100" b="1">
                <a:solidFill>
                  <a:srgbClr val="000000"/>
                </a:solidFill>
                <a:latin typeface="Poppins Bold"/>
                <a:ea typeface="Poppins Bold"/>
                <a:cs typeface="Poppins Bold"/>
                <a:sym typeface="Poppins Bold"/>
              </a:rPr>
              <a:t>RELATION TO OUTPUT PROBLEM</a:t>
            </a:r>
          </a:p>
        </p:txBody>
      </p:sp>
      <p:graphicFrame>
        <p:nvGraphicFramePr>
          <p:cNvPr id="9" name="Table 9"/>
          <p:cNvGraphicFramePr>
            <a:graphicFrameLocks noGrp="1"/>
          </p:cNvGraphicFramePr>
          <p:nvPr/>
        </p:nvGraphicFramePr>
        <p:xfrm>
          <a:off x="5452932" y="5733262"/>
          <a:ext cx="11806368" cy="3983026"/>
        </p:xfrm>
        <a:graphic>
          <a:graphicData uri="http://schemas.openxmlformats.org/drawingml/2006/table">
            <a:tbl>
              <a:tblPr/>
              <a:tblGrid>
                <a:gridCol w="11806368">
                  <a:extLst>
                    <a:ext uri="{9D8B030D-6E8A-4147-A177-3AD203B41FA5}">
                      <a16:colId xmlns:a16="http://schemas.microsoft.com/office/drawing/2014/main" val="20000"/>
                    </a:ext>
                  </a:extLst>
                </a:gridCol>
              </a:tblGrid>
              <a:tr h="3983026">
                <a:tc>
                  <a:txBody>
                    <a:bodyPr/>
                    <a:lstStyle/>
                    <a:p>
                      <a:pPr marL="647700" lvl="1" indent="-323850" algn="l">
                        <a:lnSpc>
                          <a:spcPts val="4200"/>
                        </a:lnSpc>
                        <a:buFont typeface="Arial"/>
                        <a:buChar char="•"/>
                        <a:defRPr/>
                      </a:pPr>
                      <a:r>
                        <a:rPr lang="en-US" sz="3000">
                          <a:solidFill>
                            <a:srgbClr val="000000"/>
                          </a:solidFill>
                          <a:latin typeface="DM Sans"/>
                          <a:ea typeface="DM Sans"/>
                          <a:cs typeface="DM Sans"/>
                          <a:sym typeface="DM Sans"/>
                        </a:rPr>
                        <a:t>General members aren’t always aware of when meetings are happening</a:t>
                      </a:r>
                      <a:endParaRPr lang="en-US" sz="1100"/>
                    </a:p>
                    <a:p>
                      <a:pPr marL="647700" lvl="1" indent="-323850" algn="l">
                        <a:lnSpc>
                          <a:spcPts val="4200"/>
                        </a:lnSpc>
                        <a:buFont typeface="Arial"/>
                        <a:buChar char="•"/>
                      </a:pPr>
                      <a:r>
                        <a:rPr lang="en-US" sz="3000">
                          <a:solidFill>
                            <a:srgbClr val="000000"/>
                          </a:solidFill>
                          <a:latin typeface="DM Sans"/>
                          <a:ea typeface="DM Sans"/>
                          <a:cs typeface="DM Sans"/>
                          <a:sym typeface="DM Sans"/>
                        </a:rPr>
                        <a:t>Club relies on Instagram for advertising, but is not always up to date</a:t>
                      </a:r>
                    </a:p>
                    <a:p>
                      <a:pPr marL="647700" lvl="1" indent="-323850" algn="l">
                        <a:lnSpc>
                          <a:spcPts val="4200"/>
                        </a:lnSpc>
                        <a:buFont typeface="Arial"/>
                        <a:buChar char="•"/>
                      </a:pPr>
                      <a:r>
                        <a:rPr lang="en-US" sz="3000">
                          <a:solidFill>
                            <a:srgbClr val="000000"/>
                          </a:solidFill>
                          <a:latin typeface="DM Sans"/>
                          <a:ea typeface="DM Sans"/>
                          <a:cs typeface="DM Sans"/>
                          <a:sym typeface="DM Sans"/>
                        </a:rPr>
                        <a:t>Board members did not communicate about commitment and root cause of issues. </a:t>
                      </a:r>
                    </a:p>
                  </a:txBody>
                  <a:tcPr marL="190500" marR="190500" marT="190500" marB="1905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2EF"/>
        </a:solidFill>
        <a:effectLst/>
      </p:bgPr>
    </p:bg>
    <p:spTree>
      <p:nvGrpSpPr>
        <p:cNvPr id="1" name=""/>
        <p:cNvGrpSpPr/>
        <p:nvPr/>
      </p:nvGrpSpPr>
      <p:grpSpPr>
        <a:xfrm>
          <a:off x="0" y="0"/>
          <a:ext cx="0" cy="0"/>
          <a:chOff x="0" y="0"/>
          <a:chExt cx="0" cy="0"/>
        </a:xfrm>
      </p:grpSpPr>
      <p:sp>
        <p:nvSpPr>
          <p:cNvPr id="2" name="Freeform 2"/>
          <p:cNvSpPr/>
          <p:nvPr/>
        </p:nvSpPr>
        <p:spPr>
          <a:xfrm flipV="1">
            <a:off x="-8014522" y="-1662788"/>
            <a:ext cx="11949788" cy="11949788"/>
          </a:xfrm>
          <a:custGeom>
            <a:avLst/>
            <a:gdLst/>
            <a:ahLst/>
            <a:cxnLst/>
            <a:rect l="l" t="t" r="r" b="b"/>
            <a:pathLst>
              <a:path w="11949788" h="11949788">
                <a:moveTo>
                  <a:pt x="0" y="11949788"/>
                </a:moveTo>
                <a:lnTo>
                  <a:pt x="11949788" y="11949788"/>
                </a:lnTo>
                <a:lnTo>
                  <a:pt x="11949788" y="0"/>
                </a:lnTo>
                <a:lnTo>
                  <a:pt x="0" y="0"/>
                </a:lnTo>
                <a:lnTo>
                  <a:pt x="0" y="11949788"/>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1068659" y="7527341"/>
            <a:ext cx="871730" cy="871730"/>
          </a:xfrm>
          <a:custGeom>
            <a:avLst/>
            <a:gdLst/>
            <a:ahLst/>
            <a:cxnLst/>
            <a:rect l="l" t="t" r="r" b="b"/>
            <a:pathLst>
              <a:path w="871730" h="871730">
                <a:moveTo>
                  <a:pt x="0" y="0"/>
                </a:moveTo>
                <a:lnTo>
                  <a:pt x="871731" y="0"/>
                </a:lnTo>
                <a:lnTo>
                  <a:pt x="871731" y="871730"/>
                </a:lnTo>
                <a:lnTo>
                  <a:pt x="0" y="8717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TextBox 4"/>
          <p:cNvSpPr txBox="1"/>
          <p:nvPr/>
        </p:nvSpPr>
        <p:spPr>
          <a:xfrm>
            <a:off x="8734349" y="632571"/>
            <a:ext cx="7413242" cy="1146176"/>
          </a:xfrm>
          <a:prstGeom prst="rect">
            <a:avLst/>
          </a:prstGeom>
        </p:spPr>
        <p:txBody>
          <a:bodyPr lIns="0" tIns="0" rIns="0" bIns="0" rtlCol="0" anchor="t">
            <a:spAutoFit/>
          </a:bodyPr>
          <a:lstStyle/>
          <a:p>
            <a:pPr algn="l">
              <a:lnSpc>
                <a:spcPts val="8000"/>
              </a:lnSpc>
            </a:pPr>
            <a:r>
              <a:rPr lang="en-US" sz="8000" b="1">
                <a:solidFill>
                  <a:srgbClr val="000000"/>
                </a:solidFill>
                <a:latin typeface="Poppins Bold"/>
                <a:ea typeface="Poppins Bold"/>
                <a:cs typeface="Poppins Bold"/>
                <a:sym typeface="Poppins Bold"/>
              </a:rPr>
              <a:t>EVIDENCE #1</a:t>
            </a:r>
          </a:p>
        </p:txBody>
      </p:sp>
      <p:sp>
        <p:nvSpPr>
          <p:cNvPr id="5" name="TextBox 5"/>
          <p:cNvSpPr txBox="1"/>
          <p:nvPr/>
        </p:nvSpPr>
        <p:spPr>
          <a:xfrm>
            <a:off x="8734349" y="1908397"/>
            <a:ext cx="7209905" cy="824865"/>
          </a:xfrm>
          <a:prstGeom prst="rect">
            <a:avLst/>
          </a:prstGeom>
        </p:spPr>
        <p:txBody>
          <a:bodyPr lIns="0" tIns="0" rIns="0" bIns="0" rtlCol="0" anchor="t">
            <a:spAutoFit/>
          </a:bodyPr>
          <a:lstStyle/>
          <a:p>
            <a:pPr algn="just">
              <a:lnSpc>
                <a:spcPts val="3359"/>
              </a:lnSpc>
            </a:pPr>
            <a:r>
              <a:rPr lang="en-US" sz="2400" b="1">
                <a:solidFill>
                  <a:srgbClr val="000000"/>
                </a:solidFill>
                <a:latin typeface="DM Sans Bold"/>
                <a:ea typeface="DM Sans Bold"/>
                <a:cs typeface="DM Sans Bold"/>
                <a:sym typeface="DM Sans Bold"/>
              </a:rPr>
              <a:t>COMMUNICATION FROM INSIDE RES TO THE GENERAL BODY</a:t>
            </a:r>
          </a:p>
        </p:txBody>
      </p:sp>
      <p:sp>
        <p:nvSpPr>
          <p:cNvPr id="6" name="TextBox 6"/>
          <p:cNvSpPr txBox="1"/>
          <p:nvPr/>
        </p:nvSpPr>
        <p:spPr>
          <a:xfrm>
            <a:off x="247035" y="9315845"/>
            <a:ext cx="325934" cy="842646"/>
          </a:xfrm>
          <a:prstGeom prst="rect">
            <a:avLst/>
          </a:prstGeom>
        </p:spPr>
        <p:txBody>
          <a:bodyPr lIns="0" tIns="0" rIns="0" bIns="0" rtlCol="0" anchor="t">
            <a:spAutoFit/>
          </a:bodyPr>
          <a:lstStyle/>
          <a:p>
            <a:pPr algn="ctr">
              <a:lnSpc>
                <a:spcPts val="6579"/>
              </a:lnSpc>
              <a:spcBef>
                <a:spcPct val="0"/>
              </a:spcBef>
            </a:pPr>
            <a:r>
              <a:rPr lang="en-US" sz="4699">
                <a:solidFill>
                  <a:srgbClr val="F5F2EF"/>
                </a:solidFill>
                <a:latin typeface="Poppins"/>
                <a:ea typeface="Poppins"/>
                <a:cs typeface="Poppins"/>
                <a:sym typeface="Poppins"/>
              </a:rPr>
              <a:t>7</a:t>
            </a:r>
          </a:p>
        </p:txBody>
      </p:sp>
      <p:grpSp>
        <p:nvGrpSpPr>
          <p:cNvPr id="7" name="Group 7"/>
          <p:cNvGrpSpPr/>
          <p:nvPr/>
        </p:nvGrpSpPr>
        <p:grpSpPr>
          <a:xfrm>
            <a:off x="3935266" y="0"/>
            <a:ext cx="3980018" cy="2344642"/>
            <a:chOff x="0" y="0"/>
            <a:chExt cx="616609" cy="363246"/>
          </a:xfrm>
        </p:grpSpPr>
        <p:sp>
          <p:nvSpPr>
            <p:cNvPr id="8" name="Freeform 8"/>
            <p:cNvSpPr/>
            <p:nvPr/>
          </p:nvSpPr>
          <p:spPr>
            <a:xfrm>
              <a:off x="0" y="0"/>
              <a:ext cx="616609" cy="363246"/>
            </a:xfrm>
            <a:custGeom>
              <a:avLst/>
              <a:gdLst/>
              <a:ahLst/>
              <a:cxnLst/>
              <a:rect l="l" t="t" r="r" b="b"/>
              <a:pathLst>
                <a:path w="616609" h="363246">
                  <a:moveTo>
                    <a:pt x="0" y="0"/>
                  </a:moveTo>
                  <a:lnTo>
                    <a:pt x="616609" y="0"/>
                  </a:lnTo>
                  <a:lnTo>
                    <a:pt x="616609" y="363246"/>
                  </a:lnTo>
                  <a:lnTo>
                    <a:pt x="0" y="363246"/>
                  </a:lnTo>
                  <a:close/>
                </a:path>
              </a:pathLst>
            </a:custGeom>
            <a:blipFill>
              <a:blip r:embed="rId6"/>
              <a:stretch>
                <a:fillRect l="-1562" r="-1562"/>
              </a:stretch>
            </a:blipFill>
          </p:spPr>
          <p:txBody>
            <a:bodyPr/>
            <a:lstStyle/>
            <a:p>
              <a:endParaRPr lang="en-US"/>
            </a:p>
          </p:txBody>
        </p:sp>
      </p:grpSp>
      <p:graphicFrame>
        <p:nvGraphicFramePr>
          <p:cNvPr id="9" name="Table 9"/>
          <p:cNvGraphicFramePr>
            <a:graphicFrameLocks noGrp="1"/>
          </p:cNvGraphicFramePr>
          <p:nvPr/>
        </p:nvGraphicFramePr>
        <p:xfrm>
          <a:off x="5095564" y="3325974"/>
          <a:ext cx="11806368" cy="6619875"/>
        </p:xfrm>
        <a:graphic>
          <a:graphicData uri="http://schemas.openxmlformats.org/drawingml/2006/table">
            <a:tbl>
              <a:tblPr/>
              <a:tblGrid>
                <a:gridCol w="11806368">
                  <a:extLst>
                    <a:ext uri="{9D8B030D-6E8A-4147-A177-3AD203B41FA5}">
                      <a16:colId xmlns:a16="http://schemas.microsoft.com/office/drawing/2014/main" val="20000"/>
                    </a:ext>
                  </a:extLst>
                </a:gridCol>
              </a:tblGrid>
              <a:tr h="6619875">
                <a:tc>
                  <a:txBody>
                    <a:bodyPr/>
                    <a:lstStyle/>
                    <a:p>
                      <a:pPr algn="l">
                        <a:lnSpc>
                          <a:spcPts val="4899"/>
                        </a:lnSpc>
                        <a:defRPr/>
                      </a:pPr>
                      <a:r>
                        <a:rPr lang="en-US" sz="3499">
                          <a:solidFill>
                            <a:srgbClr val="000000"/>
                          </a:solidFill>
                          <a:latin typeface="DM Sans"/>
                          <a:ea typeface="DM Sans"/>
                          <a:cs typeface="DM Sans"/>
                          <a:sym typeface="DM Sans"/>
                        </a:rPr>
                        <a:t>Lack of communication naturally leads to a drop in attendance numbers. </a:t>
                      </a:r>
                      <a:endParaRPr lang="en-US" sz="1100"/>
                    </a:p>
                    <a:p>
                      <a:pPr algn="l">
                        <a:lnSpc>
                          <a:spcPts val="4899"/>
                        </a:lnSpc>
                      </a:pPr>
                      <a:endParaRPr lang="en-US" sz="1100"/>
                    </a:p>
                    <a:p>
                      <a:pPr marL="755647" lvl="1" indent="-377824" algn="l">
                        <a:lnSpc>
                          <a:spcPts val="4899"/>
                        </a:lnSpc>
                        <a:buFont typeface="Arial"/>
                        <a:buChar char="•"/>
                      </a:pPr>
                      <a:r>
                        <a:rPr lang="en-US" sz="3499">
                          <a:solidFill>
                            <a:srgbClr val="000000"/>
                          </a:solidFill>
                          <a:latin typeface="DM Sans"/>
                          <a:ea typeface="DM Sans"/>
                          <a:cs typeface="DM Sans"/>
                          <a:sym typeface="DM Sans"/>
                        </a:rPr>
                        <a:t>General member does not attend general meetings as much because they are not as well-advertised. (Baath, Communication on October 28, 2025)</a:t>
                      </a:r>
                    </a:p>
                    <a:p>
                      <a:pPr marL="755647" lvl="1" indent="-377824" algn="l">
                        <a:lnSpc>
                          <a:spcPts val="4899"/>
                        </a:lnSpc>
                        <a:buFont typeface="Arial"/>
                        <a:buChar char="•"/>
                      </a:pPr>
                      <a:r>
                        <a:rPr lang="en-US" sz="3499">
                          <a:solidFill>
                            <a:srgbClr val="000000"/>
                          </a:solidFill>
                          <a:latin typeface="DM Sans"/>
                          <a:ea typeface="DM Sans"/>
                          <a:cs typeface="DM Sans"/>
                          <a:sym typeface="DM Sans"/>
                        </a:rPr>
                        <a:t>Lack of email marketing, their website is outdated, their getINVOLVED page is not up to date.</a:t>
                      </a:r>
                    </a:p>
                    <a:p>
                      <a:pPr marL="755647" lvl="1" indent="-377824" algn="l">
                        <a:lnSpc>
                          <a:spcPts val="4899"/>
                        </a:lnSpc>
                        <a:buFont typeface="Arial"/>
                        <a:buChar char="•"/>
                      </a:pPr>
                      <a:r>
                        <a:rPr lang="en-US" sz="3499">
                          <a:solidFill>
                            <a:srgbClr val="000000"/>
                          </a:solidFill>
                          <a:latin typeface="DM Sans"/>
                          <a:ea typeface="DM Sans"/>
                          <a:cs typeface="DM Sans"/>
                          <a:sym typeface="DM Sans"/>
                        </a:rPr>
                        <a:t>Even events that happen are not well-documented.  </a:t>
                      </a:r>
                    </a:p>
                  </a:txBody>
                  <a:tcPr marL="190500" marR="190500" marT="190500" marB="1905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2EF"/>
        </a:solidFill>
        <a:effectLst/>
      </p:bgPr>
    </p:bg>
    <p:spTree>
      <p:nvGrpSpPr>
        <p:cNvPr id="1" name=""/>
        <p:cNvGrpSpPr/>
        <p:nvPr/>
      </p:nvGrpSpPr>
      <p:grpSpPr>
        <a:xfrm>
          <a:off x="0" y="0"/>
          <a:ext cx="0" cy="0"/>
          <a:chOff x="0" y="0"/>
          <a:chExt cx="0" cy="0"/>
        </a:xfrm>
      </p:grpSpPr>
      <p:sp>
        <p:nvSpPr>
          <p:cNvPr id="2" name="Freeform 2"/>
          <p:cNvSpPr/>
          <p:nvPr/>
        </p:nvSpPr>
        <p:spPr>
          <a:xfrm flipV="1">
            <a:off x="-8014522" y="-1662788"/>
            <a:ext cx="11949788" cy="11949788"/>
          </a:xfrm>
          <a:custGeom>
            <a:avLst/>
            <a:gdLst/>
            <a:ahLst/>
            <a:cxnLst/>
            <a:rect l="l" t="t" r="r" b="b"/>
            <a:pathLst>
              <a:path w="11949788" h="11949788">
                <a:moveTo>
                  <a:pt x="0" y="11949788"/>
                </a:moveTo>
                <a:lnTo>
                  <a:pt x="11949788" y="11949788"/>
                </a:lnTo>
                <a:lnTo>
                  <a:pt x="11949788" y="0"/>
                </a:lnTo>
                <a:lnTo>
                  <a:pt x="0" y="0"/>
                </a:lnTo>
                <a:lnTo>
                  <a:pt x="0" y="11949788"/>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a:off x="1068659" y="7527341"/>
            <a:ext cx="871730" cy="871730"/>
          </a:xfrm>
          <a:custGeom>
            <a:avLst/>
            <a:gdLst/>
            <a:ahLst/>
            <a:cxnLst/>
            <a:rect l="l" t="t" r="r" b="b"/>
            <a:pathLst>
              <a:path w="871730" h="871730">
                <a:moveTo>
                  <a:pt x="0" y="0"/>
                </a:moveTo>
                <a:lnTo>
                  <a:pt x="871731" y="0"/>
                </a:lnTo>
                <a:lnTo>
                  <a:pt x="871731" y="871730"/>
                </a:lnTo>
                <a:lnTo>
                  <a:pt x="0" y="8717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4" name="TextBox 4"/>
          <p:cNvSpPr txBox="1"/>
          <p:nvPr/>
        </p:nvSpPr>
        <p:spPr>
          <a:xfrm>
            <a:off x="8734349" y="632571"/>
            <a:ext cx="7413242" cy="1146176"/>
          </a:xfrm>
          <a:prstGeom prst="rect">
            <a:avLst/>
          </a:prstGeom>
        </p:spPr>
        <p:txBody>
          <a:bodyPr lIns="0" tIns="0" rIns="0" bIns="0" rtlCol="0" anchor="t">
            <a:spAutoFit/>
          </a:bodyPr>
          <a:lstStyle/>
          <a:p>
            <a:pPr algn="l">
              <a:lnSpc>
                <a:spcPts val="8000"/>
              </a:lnSpc>
            </a:pPr>
            <a:r>
              <a:rPr lang="en-US" sz="8000" b="1">
                <a:solidFill>
                  <a:srgbClr val="000000"/>
                </a:solidFill>
                <a:latin typeface="Poppins Bold"/>
                <a:ea typeface="Poppins Bold"/>
                <a:cs typeface="Poppins Bold"/>
                <a:sym typeface="Poppins Bold"/>
              </a:rPr>
              <a:t>EVIDENCE #2</a:t>
            </a:r>
          </a:p>
        </p:txBody>
      </p:sp>
      <p:sp>
        <p:nvSpPr>
          <p:cNvPr id="5" name="TextBox 5"/>
          <p:cNvSpPr txBox="1"/>
          <p:nvPr/>
        </p:nvSpPr>
        <p:spPr>
          <a:xfrm>
            <a:off x="8734349" y="1904396"/>
            <a:ext cx="7209905" cy="1243965"/>
          </a:xfrm>
          <a:prstGeom prst="rect">
            <a:avLst/>
          </a:prstGeom>
        </p:spPr>
        <p:txBody>
          <a:bodyPr lIns="0" tIns="0" rIns="0" bIns="0" rtlCol="0" anchor="t">
            <a:spAutoFit/>
          </a:bodyPr>
          <a:lstStyle/>
          <a:p>
            <a:pPr algn="just">
              <a:lnSpc>
                <a:spcPts val="3359"/>
              </a:lnSpc>
            </a:pPr>
            <a:r>
              <a:rPr lang="en-US" sz="2400" b="1">
                <a:solidFill>
                  <a:srgbClr val="000000"/>
                </a:solidFill>
                <a:latin typeface="DM Sans Bold"/>
                <a:ea typeface="DM Sans Bold"/>
                <a:cs typeface="DM Sans Bold"/>
                <a:sym typeface="DM Sans Bold"/>
              </a:rPr>
              <a:t>COMMUNICAITON BETWEEN BOARD MEMBERS. DIFFERENT INTERPRETATIONS ON GOALS, PRIORITIES </a:t>
            </a:r>
          </a:p>
        </p:txBody>
      </p:sp>
      <p:sp>
        <p:nvSpPr>
          <p:cNvPr id="6" name="TextBox 6"/>
          <p:cNvSpPr txBox="1"/>
          <p:nvPr/>
        </p:nvSpPr>
        <p:spPr>
          <a:xfrm>
            <a:off x="221660" y="9315845"/>
            <a:ext cx="376684" cy="842646"/>
          </a:xfrm>
          <a:prstGeom prst="rect">
            <a:avLst/>
          </a:prstGeom>
        </p:spPr>
        <p:txBody>
          <a:bodyPr lIns="0" tIns="0" rIns="0" bIns="0" rtlCol="0" anchor="t">
            <a:spAutoFit/>
          </a:bodyPr>
          <a:lstStyle/>
          <a:p>
            <a:pPr algn="ctr">
              <a:lnSpc>
                <a:spcPts val="6579"/>
              </a:lnSpc>
              <a:spcBef>
                <a:spcPct val="0"/>
              </a:spcBef>
            </a:pPr>
            <a:r>
              <a:rPr lang="en-US" sz="4699">
                <a:solidFill>
                  <a:srgbClr val="F5F2EF"/>
                </a:solidFill>
                <a:latin typeface="Poppins"/>
                <a:ea typeface="Poppins"/>
                <a:cs typeface="Poppins"/>
                <a:sym typeface="Poppins"/>
              </a:rPr>
              <a:t>8</a:t>
            </a:r>
          </a:p>
        </p:txBody>
      </p:sp>
      <p:grpSp>
        <p:nvGrpSpPr>
          <p:cNvPr id="7" name="Group 7"/>
          <p:cNvGrpSpPr/>
          <p:nvPr/>
        </p:nvGrpSpPr>
        <p:grpSpPr>
          <a:xfrm>
            <a:off x="3935266" y="0"/>
            <a:ext cx="3980018" cy="2344642"/>
            <a:chOff x="0" y="0"/>
            <a:chExt cx="616609" cy="363246"/>
          </a:xfrm>
        </p:grpSpPr>
        <p:sp>
          <p:nvSpPr>
            <p:cNvPr id="8" name="Freeform 8"/>
            <p:cNvSpPr/>
            <p:nvPr/>
          </p:nvSpPr>
          <p:spPr>
            <a:xfrm>
              <a:off x="0" y="0"/>
              <a:ext cx="616609" cy="363246"/>
            </a:xfrm>
            <a:custGeom>
              <a:avLst/>
              <a:gdLst/>
              <a:ahLst/>
              <a:cxnLst/>
              <a:rect l="l" t="t" r="r" b="b"/>
              <a:pathLst>
                <a:path w="616609" h="363246">
                  <a:moveTo>
                    <a:pt x="0" y="0"/>
                  </a:moveTo>
                  <a:lnTo>
                    <a:pt x="616609" y="0"/>
                  </a:lnTo>
                  <a:lnTo>
                    <a:pt x="616609" y="363246"/>
                  </a:lnTo>
                  <a:lnTo>
                    <a:pt x="0" y="363246"/>
                  </a:lnTo>
                  <a:close/>
                </a:path>
              </a:pathLst>
            </a:custGeom>
            <a:blipFill>
              <a:blip r:embed="rId7"/>
              <a:stretch>
                <a:fillRect l="-1562" r="-1562"/>
              </a:stretch>
            </a:blipFill>
          </p:spPr>
          <p:txBody>
            <a:bodyPr/>
            <a:lstStyle/>
            <a:p>
              <a:endParaRPr lang="en-US"/>
            </a:p>
          </p:txBody>
        </p:sp>
      </p:grpSp>
      <p:graphicFrame>
        <p:nvGraphicFramePr>
          <p:cNvPr id="9" name="Table 9"/>
          <p:cNvGraphicFramePr>
            <a:graphicFrameLocks noGrp="1"/>
          </p:cNvGraphicFramePr>
          <p:nvPr/>
        </p:nvGraphicFramePr>
        <p:xfrm>
          <a:off x="5095564" y="3319811"/>
          <a:ext cx="12163736" cy="6819900"/>
        </p:xfrm>
        <a:graphic>
          <a:graphicData uri="http://schemas.openxmlformats.org/drawingml/2006/table">
            <a:tbl>
              <a:tblPr/>
              <a:tblGrid>
                <a:gridCol w="12163736">
                  <a:extLst>
                    <a:ext uri="{9D8B030D-6E8A-4147-A177-3AD203B41FA5}">
                      <a16:colId xmlns:a16="http://schemas.microsoft.com/office/drawing/2014/main" val="20000"/>
                    </a:ext>
                  </a:extLst>
                </a:gridCol>
              </a:tblGrid>
              <a:tr h="6819900">
                <a:tc>
                  <a:txBody>
                    <a:bodyPr/>
                    <a:lstStyle/>
                    <a:p>
                      <a:pPr algn="l">
                        <a:lnSpc>
                          <a:spcPts val="4619"/>
                        </a:lnSpc>
                        <a:defRPr/>
                      </a:pPr>
                      <a:r>
                        <a:rPr lang="en-US" sz="3299">
                          <a:solidFill>
                            <a:srgbClr val="000000"/>
                          </a:solidFill>
                          <a:latin typeface="DM Sans"/>
                          <a:ea typeface="DM Sans"/>
                          <a:cs typeface="DM Sans"/>
                          <a:sym typeface="DM Sans"/>
                        </a:rPr>
                        <a:t>Communication is a two-sided problem which amplifies RES main issue: drop in membership</a:t>
                      </a:r>
                      <a:endParaRPr lang="en-US" sz="1100"/>
                    </a:p>
                    <a:p>
                      <a:pPr algn="l">
                        <a:lnSpc>
                          <a:spcPts val="4619"/>
                        </a:lnSpc>
                      </a:pPr>
                      <a:endParaRPr lang="en-US" sz="1100"/>
                    </a:p>
                    <a:p>
                      <a:pPr marL="712468" lvl="1" indent="-356234" algn="l">
                        <a:lnSpc>
                          <a:spcPts val="4619"/>
                        </a:lnSpc>
                        <a:buFont typeface="Arial"/>
                        <a:buChar char="•"/>
                      </a:pPr>
                      <a:r>
                        <a:rPr lang="en-US" sz="3299">
                          <a:solidFill>
                            <a:srgbClr val="000000"/>
                          </a:solidFill>
                          <a:latin typeface="DM Sans"/>
                          <a:ea typeface="DM Sans"/>
                          <a:cs typeface="DM Sans"/>
                          <a:sym typeface="DM Sans"/>
                        </a:rPr>
                        <a:t>Most members see drop of attendance, but do not see it as a real issue/seek out the root cause of the problem. (Hayden, Communication on October 4, 2025)</a:t>
                      </a:r>
                    </a:p>
                    <a:p>
                      <a:pPr marL="712468" lvl="1" indent="-356234" algn="l">
                        <a:lnSpc>
                          <a:spcPts val="4619"/>
                        </a:lnSpc>
                        <a:buFont typeface="Arial"/>
                        <a:buChar char="•"/>
                      </a:pPr>
                      <a:r>
                        <a:rPr lang="en-US" sz="3299">
                          <a:solidFill>
                            <a:srgbClr val="000000"/>
                          </a:solidFill>
                          <a:latin typeface="DM Sans"/>
                          <a:ea typeface="DM Sans"/>
                          <a:cs typeface="DM Sans"/>
                          <a:sym typeface="DM Sans"/>
                        </a:rPr>
                        <a:t>Because this is a student run organization, most board members do not prioritize RES responsibilities, misinterpretation regarding commitment levels, leading to a decline in event quality. (Hayden, Communication on October 4, 2025)</a:t>
                      </a:r>
                    </a:p>
                  </a:txBody>
                  <a:tcPr marL="190500" marR="190500" marT="190500" marB="1905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2EF"/>
        </a:solidFill>
        <a:effectLst/>
      </p:bgPr>
    </p:bg>
    <p:spTree>
      <p:nvGrpSpPr>
        <p:cNvPr id="1" name=""/>
        <p:cNvGrpSpPr/>
        <p:nvPr/>
      </p:nvGrpSpPr>
      <p:grpSpPr>
        <a:xfrm>
          <a:off x="0" y="0"/>
          <a:ext cx="0" cy="0"/>
          <a:chOff x="0" y="0"/>
          <a:chExt cx="0" cy="0"/>
        </a:xfrm>
      </p:grpSpPr>
      <p:sp>
        <p:nvSpPr>
          <p:cNvPr id="2" name="Freeform 2"/>
          <p:cNvSpPr/>
          <p:nvPr/>
        </p:nvSpPr>
        <p:spPr>
          <a:xfrm>
            <a:off x="-119135" y="-90560"/>
            <a:ext cx="5262635" cy="5262635"/>
          </a:xfrm>
          <a:custGeom>
            <a:avLst/>
            <a:gdLst/>
            <a:ahLst/>
            <a:cxnLst/>
            <a:rect l="l" t="t" r="r" b="b"/>
            <a:pathLst>
              <a:path w="5262635" h="5262635">
                <a:moveTo>
                  <a:pt x="0" y="0"/>
                </a:moveTo>
                <a:lnTo>
                  <a:pt x="5262635" y="0"/>
                </a:lnTo>
                <a:lnTo>
                  <a:pt x="5262635" y="5262635"/>
                </a:lnTo>
                <a:lnTo>
                  <a:pt x="0" y="526263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flipV="1">
            <a:off x="0" y="5153025"/>
            <a:ext cx="5143500" cy="5143500"/>
          </a:xfrm>
          <a:custGeom>
            <a:avLst/>
            <a:gdLst/>
            <a:ahLst/>
            <a:cxnLst/>
            <a:rect l="l" t="t" r="r" b="b"/>
            <a:pathLst>
              <a:path w="5143500" h="5143500">
                <a:moveTo>
                  <a:pt x="0" y="5143500"/>
                </a:moveTo>
                <a:lnTo>
                  <a:pt x="5143500" y="5143500"/>
                </a:lnTo>
                <a:lnTo>
                  <a:pt x="5143500" y="0"/>
                </a:lnTo>
                <a:lnTo>
                  <a:pt x="0" y="0"/>
                </a:lnTo>
                <a:lnTo>
                  <a:pt x="0" y="514350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a:off x="1028700" y="2104892"/>
            <a:ext cx="871730" cy="871730"/>
          </a:xfrm>
          <a:custGeom>
            <a:avLst/>
            <a:gdLst/>
            <a:ahLst/>
            <a:cxnLst/>
            <a:rect l="l" t="t" r="r" b="b"/>
            <a:pathLst>
              <a:path w="871730" h="871730">
                <a:moveTo>
                  <a:pt x="0" y="0"/>
                </a:moveTo>
                <a:lnTo>
                  <a:pt x="871730" y="0"/>
                </a:lnTo>
                <a:lnTo>
                  <a:pt x="871730" y="871731"/>
                </a:lnTo>
                <a:lnTo>
                  <a:pt x="0" y="87173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Freeform 5"/>
          <p:cNvSpPr/>
          <p:nvPr/>
        </p:nvSpPr>
        <p:spPr>
          <a:xfrm>
            <a:off x="-284873" y="4081322"/>
            <a:ext cx="5428373" cy="3199418"/>
          </a:xfrm>
          <a:custGeom>
            <a:avLst/>
            <a:gdLst/>
            <a:ahLst/>
            <a:cxnLst/>
            <a:rect l="l" t="t" r="r" b="b"/>
            <a:pathLst>
              <a:path w="5428373" h="3199418">
                <a:moveTo>
                  <a:pt x="0" y="0"/>
                </a:moveTo>
                <a:lnTo>
                  <a:pt x="5428373" y="0"/>
                </a:lnTo>
                <a:lnTo>
                  <a:pt x="5428373" y="3199417"/>
                </a:lnTo>
                <a:lnTo>
                  <a:pt x="0" y="3199417"/>
                </a:lnTo>
                <a:lnTo>
                  <a:pt x="0" y="0"/>
                </a:lnTo>
                <a:close/>
              </a:path>
            </a:pathLst>
          </a:custGeom>
          <a:blipFill>
            <a:blip r:embed="rId8"/>
            <a:stretch>
              <a:fillRect r="-5247"/>
            </a:stretch>
          </a:blipFill>
        </p:spPr>
        <p:txBody>
          <a:bodyPr/>
          <a:lstStyle/>
          <a:p>
            <a:endParaRPr lang="en-US"/>
          </a:p>
        </p:txBody>
      </p:sp>
      <p:sp>
        <p:nvSpPr>
          <p:cNvPr id="6" name="TextBox 6"/>
          <p:cNvSpPr txBox="1"/>
          <p:nvPr/>
        </p:nvSpPr>
        <p:spPr>
          <a:xfrm>
            <a:off x="183818" y="9444354"/>
            <a:ext cx="376089" cy="842646"/>
          </a:xfrm>
          <a:prstGeom prst="rect">
            <a:avLst/>
          </a:prstGeom>
        </p:spPr>
        <p:txBody>
          <a:bodyPr lIns="0" tIns="0" rIns="0" bIns="0" rtlCol="0" anchor="t">
            <a:spAutoFit/>
          </a:bodyPr>
          <a:lstStyle/>
          <a:p>
            <a:pPr algn="ctr">
              <a:lnSpc>
                <a:spcPts val="6579"/>
              </a:lnSpc>
              <a:spcBef>
                <a:spcPct val="0"/>
              </a:spcBef>
            </a:pPr>
            <a:r>
              <a:rPr lang="en-US" sz="4699">
                <a:solidFill>
                  <a:srgbClr val="F5F2EF"/>
                </a:solidFill>
                <a:latin typeface="Poppins"/>
                <a:ea typeface="Poppins"/>
                <a:cs typeface="Poppins"/>
                <a:sym typeface="Poppins"/>
              </a:rPr>
              <a:t>9</a:t>
            </a:r>
          </a:p>
        </p:txBody>
      </p:sp>
      <p:sp>
        <p:nvSpPr>
          <p:cNvPr id="7" name="TextBox 7"/>
          <p:cNvSpPr txBox="1"/>
          <p:nvPr/>
        </p:nvSpPr>
        <p:spPr>
          <a:xfrm>
            <a:off x="5726497" y="1104900"/>
            <a:ext cx="14259724" cy="1158246"/>
          </a:xfrm>
          <a:prstGeom prst="rect">
            <a:avLst/>
          </a:prstGeom>
        </p:spPr>
        <p:txBody>
          <a:bodyPr lIns="0" tIns="0" rIns="0" bIns="0" rtlCol="0" anchor="t">
            <a:spAutoFit/>
          </a:bodyPr>
          <a:lstStyle/>
          <a:p>
            <a:pPr algn="l">
              <a:lnSpc>
                <a:spcPts val="8100"/>
              </a:lnSpc>
            </a:pPr>
            <a:r>
              <a:rPr lang="en-US" sz="8100" b="1">
                <a:solidFill>
                  <a:srgbClr val="000000"/>
                </a:solidFill>
                <a:latin typeface="Poppins Bold"/>
                <a:ea typeface="Poppins Bold"/>
                <a:cs typeface="Poppins Bold"/>
                <a:sym typeface="Poppins Bold"/>
              </a:rPr>
              <a:t>EXTRINSIC MOTIVATION</a:t>
            </a:r>
          </a:p>
        </p:txBody>
      </p:sp>
      <p:sp>
        <p:nvSpPr>
          <p:cNvPr id="8" name="TextBox 8"/>
          <p:cNvSpPr txBox="1"/>
          <p:nvPr/>
        </p:nvSpPr>
        <p:spPr>
          <a:xfrm>
            <a:off x="6205186" y="5484085"/>
            <a:ext cx="11806368" cy="739151"/>
          </a:xfrm>
          <a:prstGeom prst="rect">
            <a:avLst/>
          </a:prstGeom>
        </p:spPr>
        <p:txBody>
          <a:bodyPr lIns="0" tIns="0" rIns="0" bIns="0" rtlCol="0" anchor="t">
            <a:spAutoFit/>
          </a:bodyPr>
          <a:lstStyle/>
          <a:p>
            <a:pPr algn="l">
              <a:lnSpc>
                <a:spcPts val="5100"/>
              </a:lnSpc>
            </a:pPr>
            <a:r>
              <a:rPr lang="en-US" sz="5100" b="1">
                <a:solidFill>
                  <a:srgbClr val="000000"/>
                </a:solidFill>
                <a:latin typeface="Poppins Bold"/>
                <a:ea typeface="Poppins Bold"/>
                <a:cs typeface="Poppins Bold"/>
                <a:sym typeface="Poppins Bold"/>
              </a:rPr>
              <a:t>RELATION TO OUTPUT PROBLEM</a:t>
            </a:r>
          </a:p>
        </p:txBody>
      </p:sp>
      <p:graphicFrame>
        <p:nvGraphicFramePr>
          <p:cNvPr id="9" name="Table 9"/>
          <p:cNvGraphicFramePr>
            <a:graphicFrameLocks noGrp="1"/>
          </p:cNvGraphicFramePr>
          <p:nvPr/>
        </p:nvGraphicFramePr>
        <p:xfrm>
          <a:off x="5613659" y="5834611"/>
          <a:ext cx="11806368" cy="2892257"/>
        </p:xfrm>
        <a:graphic>
          <a:graphicData uri="http://schemas.openxmlformats.org/drawingml/2006/table">
            <a:tbl>
              <a:tblPr/>
              <a:tblGrid>
                <a:gridCol w="11806368">
                  <a:extLst>
                    <a:ext uri="{9D8B030D-6E8A-4147-A177-3AD203B41FA5}">
                      <a16:colId xmlns:a16="http://schemas.microsoft.com/office/drawing/2014/main" val="20000"/>
                    </a:ext>
                  </a:extLst>
                </a:gridCol>
              </a:tblGrid>
              <a:tr h="2892257">
                <a:tc>
                  <a:txBody>
                    <a:bodyPr/>
                    <a:lstStyle/>
                    <a:p>
                      <a:pPr marL="647700" lvl="1" indent="-323850" algn="l">
                        <a:lnSpc>
                          <a:spcPts val="4200"/>
                        </a:lnSpc>
                        <a:buFont typeface="Arial"/>
                        <a:buChar char="•"/>
                        <a:defRPr/>
                      </a:pPr>
                      <a:r>
                        <a:rPr lang="en-US" sz="3000">
                          <a:solidFill>
                            <a:srgbClr val="000000"/>
                          </a:solidFill>
                          <a:latin typeface="DM Sans"/>
                          <a:ea typeface="DM Sans"/>
                          <a:cs typeface="DM Sans"/>
                          <a:sym typeface="DM Sans"/>
                        </a:rPr>
                        <a:t>Club members are more motivated to attend club meetings when there is a great benefit to them</a:t>
                      </a:r>
                      <a:endParaRPr lang="en-US" sz="1100"/>
                    </a:p>
                  </a:txBody>
                  <a:tcPr marL="190500" marR="190500" marT="190500" marB="1905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0" name="Table 10"/>
          <p:cNvGraphicFramePr>
            <a:graphicFrameLocks noGrp="1"/>
          </p:cNvGraphicFramePr>
          <p:nvPr/>
        </p:nvGraphicFramePr>
        <p:xfrm>
          <a:off x="5613659" y="1462960"/>
          <a:ext cx="11806368" cy="3983026"/>
        </p:xfrm>
        <a:graphic>
          <a:graphicData uri="http://schemas.openxmlformats.org/drawingml/2006/table">
            <a:tbl>
              <a:tblPr/>
              <a:tblGrid>
                <a:gridCol w="11806368">
                  <a:extLst>
                    <a:ext uri="{9D8B030D-6E8A-4147-A177-3AD203B41FA5}">
                      <a16:colId xmlns:a16="http://schemas.microsoft.com/office/drawing/2014/main" val="20000"/>
                    </a:ext>
                  </a:extLst>
                </a:gridCol>
              </a:tblGrid>
              <a:tr h="3983026">
                <a:tc>
                  <a:txBody>
                    <a:bodyPr/>
                    <a:lstStyle/>
                    <a:p>
                      <a:pPr marL="647700" lvl="1" indent="-323850" algn="l">
                        <a:lnSpc>
                          <a:spcPts val="4200"/>
                        </a:lnSpc>
                        <a:buFont typeface="Arial"/>
                        <a:buChar char="•"/>
                        <a:defRPr/>
                      </a:pPr>
                      <a:r>
                        <a:rPr lang="en-US" sz="3000">
                          <a:solidFill>
                            <a:srgbClr val="000000"/>
                          </a:solidFill>
                          <a:latin typeface="DM Sans"/>
                          <a:ea typeface="DM Sans"/>
                          <a:cs typeface="DM Sans"/>
                          <a:sym typeface="DM Sans"/>
                        </a:rPr>
                        <a:t>Individuals are motivated by outside rewards or the desire to avoid punishment, rather than by internal satisfaction</a:t>
                      </a:r>
                      <a:endParaRPr lang="en-US" sz="1100"/>
                    </a:p>
                  </a:txBody>
                  <a:tcPr marL="190500" marR="190500" marT="190500" marB="1905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2EF"/>
        </a:solidFill>
        <a:effectLst/>
      </p:bgPr>
    </p:bg>
    <p:spTree>
      <p:nvGrpSpPr>
        <p:cNvPr id="1" name=""/>
        <p:cNvGrpSpPr/>
        <p:nvPr/>
      </p:nvGrpSpPr>
      <p:grpSpPr>
        <a:xfrm>
          <a:off x="0" y="0"/>
          <a:ext cx="0" cy="0"/>
          <a:chOff x="0" y="0"/>
          <a:chExt cx="0" cy="0"/>
        </a:xfrm>
      </p:grpSpPr>
      <p:sp>
        <p:nvSpPr>
          <p:cNvPr id="2" name="Freeform 2"/>
          <p:cNvSpPr/>
          <p:nvPr/>
        </p:nvSpPr>
        <p:spPr>
          <a:xfrm flipV="1">
            <a:off x="-13264278" y="-6821026"/>
            <a:ext cx="17199544" cy="17199544"/>
          </a:xfrm>
          <a:custGeom>
            <a:avLst/>
            <a:gdLst/>
            <a:ahLst/>
            <a:cxnLst/>
            <a:rect l="l" t="t" r="r" b="b"/>
            <a:pathLst>
              <a:path w="17199544" h="17199544">
                <a:moveTo>
                  <a:pt x="0" y="17199544"/>
                </a:moveTo>
                <a:lnTo>
                  <a:pt x="17199544" y="17199544"/>
                </a:lnTo>
                <a:lnTo>
                  <a:pt x="17199544" y="0"/>
                </a:lnTo>
                <a:lnTo>
                  <a:pt x="0" y="0"/>
                </a:lnTo>
                <a:lnTo>
                  <a:pt x="0" y="17199544"/>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flipV="1">
            <a:off x="-8014522" y="-1662788"/>
            <a:ext cx="11949788" cy="11949788"/>
          </a:xfrm>
          <a:custGeom>
            <a:avLst/>
            <a:gdLst/>
            <a:ahLst/>
            <a:cxnLst/>
            <a:rect l="l" t="t" r="r" b="b"/>
            <a:pathLst>
              <a:path w="11949788" h="11949788">
                <a:moveTo>
                  <a:pt x="0" y="11949788"/>
                </a:moveTo>
                <a:lnTo>
                  <a:pt x="11949788" y="11949788"/>
                </a:lnTo>
                <a:lnTo>
                  <a:pt x="11949788" y="0"/>
                </a:lnTo>
                <a:lnTo>
                  <a:pt x="0" y="0"/>
                </a:lnTo>
                <a:lnTo>
                  <a:pt x="0" y="11949788"/>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158676" y="3900804"/>
            <a:ext cx="4093941" cy="2943212"/>
          </a:xfrm>
          <a:custGeom>
            <a:avLst/>
            <a:gdLst/>
            <a:ahLst/>
            <a:cxnLst/>
            <a:rect l="l" t="t" r="r" b="b"/>
            <a:pathLst>
              <a:path w="4093941" h="2943212">
                <a:moveTo>
                  <a:pt x="0" y="0"/>
                </a:moveTo>
                <a:lnTo>
                  <a:pt x="4093942" y="0"/>
                </a:lnTo>
                <a:lnTo>
                  <a:pt x="4093942" y="2943212"/>
                </a:lnTo>
                <a:lnTo>
                  <a:pt x="0" y="2943212"/>
                </a:lnTo>
                <a:lnTo>
                  <a:pt x="0" y="0"/>
                </a:lnTo>
                <a:close/>
              </a:path>
            </a:pathLst>
          </a:custGeom>
          <a:blipFill>
            <a:blip r:embed="rId4"/>
            <a:stretch>
              <a:fillRect/>
            </a:stretch>
          </a:blipFill>
        </p:spPr>
        <p:txBody>
          <a:bodyPr/>
          <a:lstStyle/>
          <a:p>
            <a:endParaRPr lang="en-US"/>
          </a:p>
        </p:txBody>
      </p:sp>
      <p:sp>
        <p:nvSpPr>
          <p:cNvPr id="5" name="TextBox 5"/>
          <p:cNvSpPr txBox="1"/>
          <p:nvPr/>
        </p:nvSpPr>
        <p:spPr>
          <a:xfrm>
            <a:off x="127005" y="9315845"/>
            <a:ext cx="565993" cy="842646"/>
          </a:xfrm>
          <a:prstGeom prst="rect">
            <a:avLst/>
          </a:prstGeom>
        </p:spPr>
        <p:txBody>
          <a:bodyPr lIns="0" tIns="0" rIns="0" bIns="0" rtlCol="0" anchor="t">
            <a:spAutoFit/>
          </a:bodyPr>
          <a:lstStyle/>
          <a:p>
            <a:pPr algn="ctr">
              <a:lnSpc>
                <a:spcPts val="6579"/>
              </a:lnSpc>
              <a:spcBef>
                <a:spcPct val="0"/>
              </a:spcBef>
            </a:pPr>
            <a:r>
              <a:rPr lang="en-US" sz="4699">
                <a:solidFill>
                  <a:srgbClr val="F5F2EF"/>
                </a:solidFill>
                <a:latin typeface="Poppins"/>
                <a:ea typeface="Poppins"/>
                <a:cs typeface="Poppins"/>
                <a:sym typeface="Poppins"/>
              </a:rPr>
              <a:t>10</a:t>
            </a:r>
          </a:p>
        </p:txBody>
      </p:sp>
      <p:graphicFrame>
        <p:nvGraphicFramePr>
          <p:cNvPr id="6" name="Table 6"/>
          <p:cNvGraphicFramePr>
            <a:graphicFrameLocks noGrp="1"/>
          </p:cNvGraphicFramePr>
          <p:nvPr/>
        </p:nvGraphicFramePr>
        <p:xfrm>
          <a:off x="4820017" y="2197935"/>
          <a:ext cx="12163736" cy="6619875"/>
        </p:xfrm>
        <a:graphic>
          <a:graphicData uri="http://schemas.openxmlformats.org/drawingml/2006/table">
            <a:tbl>
              <a:tblPr/>
              <a:tblGrid>
                <a:gridCol w="12163736">
                  <a:extLst>
                    <a:ext uri="{9D8B030D-6E8A-4147-A177-3AD203B41FA5}">
                      <a16:colId xmlns:a16="http://schemas.microsoft.com/office/drawing/2014/main" val="20000"/>
                    </a:ext>
                  </a:extLst>
                </a:gridCol>
              </a:tblGrid>
              <a:tr h="6619875">
                <a:tc>
                  <a:txBody>
                    <a:bodyPr/>
                    <a:lstStyle/>
                    <a:p>
                      <a:pPr algn="l">
                        <a:lnSpc>
                          <a:spcPts val="4899"/>
                        </a:lnSpc>
                        <a:defRPr/>
                      </a:pPr>
                      <a:r>
                        <a:rPr lang="en-US" sz="3499">
                          <a:solidFill>
                            <a:srgbClr val="000000"/>
                          </a:solidFill>
                          <a:latin typeface="DM Sans"/>
                          <a:ea typeface="DM Sans"/>
                          <a:cs typeface="DM Sans"/>
                          <a:sym typeface="DM Sans"/>
                        </a:rPr>
                        <a:t>People are motivated by things that will benefit them.</a:t>
                      </a:r>
                      <a:endParaRPr lang="en-US" sz="1100"/>
                    </a:p>
                    <a:p>
                      <a:pPr algn="l">
                        <a:lnSpc>
                          <a:spcPts val="4899"/>
                        </a:lnSpc>
                      </a:pPr>
                      <a:endParaRPr lang="en-US" sz="1100"/>
                    </a:p>
                    <a:p>
                      <a:pPr marL="755647" lvl="1" indent="-377824" algn="l">
                        <a:lnSpc>
                          <a:spcPts val="4899"/>
                        </a:lnSpc>
                        <a:buFont typeface="Arial"/>
                        <a:buChar char="•"/>
                      </a:pPr>
                      <a:r>
                        <a:rPr lang="en-US" sz="3499">
                          <a:solidFill>
                            <a:srgbClr val="000000"/>
                          </a:solidFill>
                          <a:latin typeface="DM Sans"/>
                          <a:ea typeface="DM Sans"/>
                          <a:cs typeface="DM Sans"/>
                          <a:sym typeface="DM Sans"/>
                        </a:rPr>
                        <a:t>Food is something that always helps bring members into meetings (Hayden, Communication on November 24, 2025)</a:t>
                      </a:r>
                    </a:p>
                    <a:p>
                      <a:pPr marL="755647" lvl="1" indent="-377824" algn="l">
                        <a:lnSpc>
                          <a:spcPts val="4899"/>
                        </a:lnSpc>
                        <a:buFont typeface="Arial"/>
                        <a:buChar char="•"/>
                      </a:pPr>
                      <a:r>
                        <a:rPr lang="en-US" sz="3499">
                          <a:solidFill>
                            <a:srgbClr val="000000"/>
                          </a:solidFill>
                          <a:latin typeface="DM Sans"/>
                          <a:ea typeface="DM Sans"/>
                          <a:cs typeface="DM Sans"/>
                          <a:sym typeface="DM Sans"/>
                        </a:rPr>
                        <a:t>RES also sees the most turnout at events with food (Sergeev, Communication on October 28, 2025)  </a:t>
                      </a:r>
                    </a:p>
                  </a:txBody>
                  <a:tcPr marL="190500" marR="190500" marT="190500" marB="1905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7" name="TextBox 7"/>
          <p:cNvSpPr txBox="1"/>
          <p:nvPr/>
        </p:nvSpPr>
        <p:spPr>
          <a:xfrm>
            <a:off x="7195264" y="488950"/>
            <a:ext cx="7413242" cy="1146176"/>
          </a:xfrm>
          <a:prstGeom prst="rect">
            <a:avLst/>
          </a:prstGeom>
        </p:spPr>
        <p:txBody>
          <a:bodyPr lIns="0" tIns="0" rIns="0" bIns="0" rtlCol="0" anchor="t">
            <a:spAutoFit/>
          </a:bodyPr>
          <a:lstStyle/>
          <a:p>
            <a:pPr algn="l">
              <a:lnSpc>
                <a:spcPts val="8000"/>
              </a:lnSpc>
            </a:pPr>
            <a:r>
              <a:rPr lang="en-US" sz="8000" b="1">
                <a:solidFill>
                  <a:srgbClr val="000000"/>
                </a:solidFill>
                <a:latin typeface="Poppins Bold"/>
                <a:ea typeface="Poppins Bold"/>
                <a:cs typeface="Poppins Bold"/>
                <a:sym typeface="Poppins Bold"/>
              </a:rPr>
              <a:t>EVIDENCE #1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2EF"/>
        </a:solidFill>
        <a:effectLst/>
      </p:bgPr>
    </p:bg>
    <p:spTree>
      <p:nvGrpSpPr>
        <p:cNvPr id="1" name=""/>
        <p:cNvGrpSpPr/>
        <p:nvPr/>
      </p:nvGrpSpPr>
      <p:grpSpPr>
        <a:xfrm>
          <a:off x="0" y="0"/>
          <a:ext cx="0" cy="0"/>
          <a:chOff x="0" y="0"/>
          <a:chExt cx="0" cy="0"/>
        </a:xfrm>
      </p:grpSpPr>
      <p:sp>
        <p:nvSpPr>
          <p:cNvPr id="2" name="Freeform 2"/>
          <p:cNvSpPr/>
          <p:nvPr/>
        </p:nvSpPr>
        <p:spPr>
          <a:xfrm flipV="1">
            <a:off x="-13135105" y="-6596169"/>
            <a:ext cx="17199544" cy="17199544"/>
          </a:xfrm>
          <a:custGeom>
            <a:avLst/>
            <a:gdLst/>
            <a:ahLst/>
            <a:cxnLst/>
            <a:rect l="l" t="t" r="r" b="b"/>
            <a:pathLst>
              <a:path w="17199544" h="17199544">
                <a:moveTo>
                  <a:pt x="0" y="17199544"/>
                </a:moveTo>
                <a:lnTo>
                  <a:pt x="17199544" y="17199544"/>
                </a:lnTo>
                <a:lnTo>
                  <a:pt x="17199544" y="0"/>
                </a:lnTo>
                <a:lnTo>
                  <a:pt x="0" y="0"/>
                </a:lnTo>
                <a:lnTo>
                  <a:pt x="0" y="17199544"/>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0" y="4368291"/>
            <a:ext cx="4064439" cy="2407730"/>
          </a:xfrm>
          <a:custGeom>
            <a:avLst/>
            <a:gdLst/>
            <a:ahLst/>
            <a:cxnLst/>
            <a:rect l="l" t="t" r="r" b="b"/>
            <a:pathLst>
              <a:path w="4064439" h="2407730">
                <a:moveTo>
                  <a:pt x="0" y="0"/>
                </a:moveTo>
                <a:lnTo>
                  <a:pt x="4064439" y="0"/>
                </a:lnTo>
                <a:lnTo>
                  <a:pt x="4064439" y="2407730"/>
                </a:lnTo>
                <a:lnTo>
                  <a:pt x="0" y="2407730"/>
                </a:lnTo>
                <a:lnTo>
                  <a:pt x="0" y="0"/>
                </a:lnTo>
                <a:close/>
              </a:path>
            </a:pathLst>
          </a:custGeom>
          <a:blipFill>
            <a:blip r:embed="rId4"/>
            <a:stretch>
              <a:fillRect l="-2891" r="-2891"/>
            </a:stretch>
          </a:blipFill>
        </p:spPr>
        <p:txBody>
          <a:bodyPr/>
          <a:lstStyle/>
          <a:p>
            <a:endParaRPr lang="en-US"/>
          </a:p>
        </p:txBody>
      </p:sp>
      <p:sp>
        <p:nvSpPr>
          <p:cNvPr id="4" name="TextBox 4"/>
          <p:cNvSpPr txBox="1"/>
          <p:nvPr/>
        </p:nvSpPr>
        <p:spPr>
          <a:xfrm>
            <a:off x="218981" y="9315845"/>
            <a:ext cx="382042" cy="842646"/>
          </a:xfrm>
          <a:prstGeom prst="rect">
            <a:avLst/>
          </a:prstGeom>
        </p:spPr>
        <p:txBody>
          <a:bodyPr lIns="0" tIns="0" rIns="0" bIns="0" rtlCol="0" anchor="t">
            <a:spAutoFit/>
          </a:bodyPr>
          <a:lstStyle/>
          <a:p>
            <a:pPr algn="ctr">
              <a:lnSpc>
                <a:spcPts val="6579"/>
              </a:lnSpc>
              <a:spcBef>
                <a:spcPct val="0"/>
              </a:spcBef>
            </a:pPr>
            <a:r>
              <a:rPr lang="en-US" sz="4699">
                <a:solidFill>
                  <a:srgbClr val="F5F2EF"/>
                </a:solidFill>
                <a:latin typeface="Poppins"/>
                <a:ea typeface="Poppins"/>
                <a:cs typeface="Poppins"/>
                <a:sym typeface="Poppins"/>
              </a:rPr>
              <a:t>11</a:t>
            </a:r>
          </a:p>
        </p:txBody>
      </p:sp>
      <p:graphicFrame>
        <p:nvGraphicFramePr>
          <p:cNvPr id="5" name="Table 5"/>
          <p:cNvGraphicFramePr>
            <a:graphicFrameLocks noGrp="1"/>
          </p:cNvGraphicFramePr>
          <p:nvPr/>
        </p:nvGraphicFramePr>
        <p:xfrm>
          <a:off x="4590394" y="2003603"/>
          <a:ext cx="12163736" cy="6619875"/>
        </p:xfrm>
        <a:graphic>
          <a:graphicData uri="http://schemas.openxmlformats.org/drawingml/2006/table">
            <a:tbl>
              <a:tblPr/>
              <a:tblGrid>
                <a:gridCol w="12163736">
                  <a:extLst>
                    <a:ext uri="{9D8B030D-6E8A-4147-A177-3AD203B41FA5}">
                      <a16:colId xmlns:a16="http://schemas.microsoft.com/office/drawing/2014/main" val="20000"/>
                    </a:ext>
                  </a:extLst>
                </a:gridCol>
              </a:tblGrid>
              <a:tr h="6619875">
                <a:tc>
                  <a:txBody>
                    <a:bodyPr/>
                    <a:lstStyle/>
                    <a:p>
                      <a:pPr algn="l">
                        <a:lnSpc>
                          <a:spcPts val="4899"/>
                        </a:lnSpc>
                        <a:defRPr/>
                      </a:pPr>
                      <a:r>
                        <a:rPr lang="en-US" sz="3499">
                          <a:solidFill>
                            <a:srgbClr val="000000"/>
                          </a:solidFill>
                          <a:latin typeface="DM Sans"/>
                          <a:ea typeface="DM Sans"/>
                          <a:cs typeface="DM Sans"/>
                          <a:sym typeface="DM Sans"/>
                        </a:rPr>
                        <a:t>General members look for events that will provide resources that may help them to success post-graduation</a:t>
                      </a:r>
                      <a:endParaRPr lang="en-US" sz="1100"/>
                    </a:p>
                    <a:p>
                      <a:pPr algn="l">
                        <a:lnSpc>
                          <a:spcPts val="4899"/>
                        </a:lnSpc>
                      </a:pPr>
                      <a:endParaRPr lang="en-US" sz="1100"/>
                    </a:p>
                    <a:p>
                      <a:pPr marL="755647" lvl="1" indent="-377824" algn="l">
                        <a:lnSpc>
                          <a:spcPts val="4899"/>
                        </a:lnSpc>
                        <a:buFont typeface="Arial"/>
                        <a:buChar char="•"/>
                      </a:pPr>
                      <a:r>
                        <a:rPr lang="en-US" sz="3499">
                          <a:solidFill>
                            <a:srgbClr val="000000"/>
                          </a:solidFill>
                          <a:latin typeface="DM Sans"/>
                          <a:ea typeface="DM Sans"/>
                          <a:cs typeface="DM Sans"/>
                          <a:sym typeface="DM Sans"/>
                        </a:rPr>
                        <a:t>Events that take priority for some members are events that offer good networking opportunities or are high profile events such as Shark Tank. (Baath, Communication November 24, 2025)</a:t>
                      </a:r>
                    </a:p>
                    <a:p>
                      <a:pPr algn="l">
                        <a:lnSpc>
                          <a:spcPts val="4899"/>
                        </a:lnSpc>
                      </a:pPr>
                      <a:endParaRPr lang="en-US" sz="3499">
                        <a:solidFill>
                          <a:srgbClr val="000000"/>
                        </a:solidFill>
                        <a:latin typeface="DM Sans"/>
                        <a:ea typeface="DM Sans"/>
                        <a:cs typeface="DM Sans"/>
                        <a:sym typeface="DM Sans"/>
                      </a:endParaRPr>
                    </a:p>
                  </a:txBody>
                  <a:tcPr marL="190500" marR="190500" marT="190500" marB="1905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6" name="TextBox 6"/>
          <p:cNvSpPr txBox="1"/>
          <p:nvPr/>
        </p:nvSpPr>
        <p:spPr>
          <a:xfrm>
            <a:off x="6965641" y="304129"/>
            <a:ext cx="7413242" cy="1146176"/>
          </a:xfrm>
          <a:prstGeom prst="rect">
            <a:avLst/>
          </a:prstGeom>
        </p:spPr>
        <p:txBody>
          <a:bodyPr lIns="0" tIns="0" rIns="0" bIns="0" rtlCol="0" anchor="t">
            <a:spAutoFit/>
          </a:bodyPr>
          <a:lstStyle/>
          <a:p>
            <a:pPr algn="l">
              <a:lnSpc>
                <a:spcPts val="8000"/>
              </a:lnSpc>
            </a:pPr>
            <a:r>
              <a:rPr lang="en-US" sz="8000" b="1">
                <a:solidFill>
                  <a:srgbClr val="000000"/>
                </a:solidFill>
                <a:latin typeface="Poppins Bold"/>
                <a:ea typeface="Poppins Bold"/>
                <a:cs typeface="Poppins Bold"/>
                <a:sym typeface="Poppins Bold"/>
              </a:rPr>
              <a:t>EVIDENCE #2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2EF"/>
        </a:solidFill>
        <a:effectLst/>
      </p:bgPr>
    </p:bg>
    <p:spTree>
      <p:nvGrpSpPr>
        <p:cNvPr id="1" name=""/>
        <p:cNvGrpSpPr/>
        <p:nvPr/>
      </p:nvGrpSpPr>
      <p:grpSpPr>
        <a:xfrm>
          <a:off x="0" y="0"/>
          <a:ext cx="0" cy="0"/>
          <a:chOff x="0" y="0"/>
          <a:chExt cx="0" cy="0"/>
        </a:xfrm>
      </p:grpSpPr>
      <p:sp>
        <p:nvSpPr>
          <p:cNvPr id="2" name="Freeform 2"/>
          <p:cNvSpPr/>
          <p:nvPr/>
        </p:nvSpPr>
        <p:spPr>
          <a:xfrm>
            <a:off x="13069194" y="-1396391"/>
            <a:ext cx="23350487" cy="11683391"/>
          </a:xfrm>
          <a:custGeom>
            <a:avLst/>
            <a:gdLst/>
            <a:ahLst/>
            <a:cxnLst/>
            <a:rect l="l" t="t" r="r" b="b"/>
            <a:pathLst>
              <a:path w="23350487" h="11683391">
                <a:moveTo>
                  <a:pt x="0" y="0"/>
                </a:moveTo>
                <a:lnTo>
                  <a:pt x="23350487" y="0"/>
                </a:lnTo>
                <a:lnTo>
                  <a:pt x="23350487" y="11683391"/>
                </a:lnTo>
                <a:lnTo>
                  <a:pt x="0" y="116833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aphicFrame>
        <p:nvGraphicFramePr>
          <p:cNvPr id="3" name="Table 3"/>
          <p:cNvGraphicFramePr>
            <a:graphicFrameLocks noGrp="1"/>
          </p:cNvGraphicFramePr>
          <p:nvPr/>
        </p:nvGraphicFramePr>
        <p:xfrm>
          <a:off x="2133433" y="2614500"/>
          <a:ext cx="13046401" cy="5578347"/>
        </p:xfrm>
        <a:graphic>
          <a:graphicData uri="http://schemas.openxmlformats.org/drawingml/2006/table">
            <a:tbl>
              <a:tblPr/>
              <a:tblGrid>
                <a:gridCol w="13046401">
                  <a:extLst>
                    <a:ext uri="{9D8B030D-6E8A-4147-A177-3AD203B41FA5}">
                      <a16:colId xmlns:a16="http://schemas.microsoft.com/office/drawing/2014/main" val="20000"/>
                    </a:ext>
                  </a:extLst>
                </a:gridCol>
              </a:tblGrid>
              <a:tr h="5578347">
                <a:tc>
                  <a:txBody>
                    <a:bodyPr/>
                    <a:lstStyle/>
                    <a:p>
                      <a:pPr marL="798829" lvl="1" indent="-399415" algn="l">
                        <a:lnSpc>
                          <a:spcPts val="5179"/>
                        </a:lnSpc>
                        <a:buFont typeface="Arial"/>
                        <a:buChar char="•"/>
                        <a:defRPr/>
                      </a:pPr>
                      <a:r>
                        <a:rPr lang="en-US" sz="3699">
                          <a:solidFill>
                            <a:srgbClr val="000000"/>
                          </a:solidFill>
                          <a:latin typeface="DM Sans"/>
                          <a:ea typeface="DM Sans"/>
                          <a:cs typeface="DM Sans"/>
                          <a:sym typeface="DM Sans"/>
                        </a:rPr>
                        <a:t>General members are not always aware of meetings, so updating social media and other points of communication will make information more accessible to all</a:t>
                      </a:r>
                      <a:endParaRPr lang="en-US" sz="1100"/>
                    </a:p>
                    <a:p>
                      <a:pPr marL="798829" lvl="1" indent="-399415" algn="l">
                        <a:lnSpc>
                          <a:spcPts val="5179"/>
                        </a:lnSpc>
                        <a:buFont typeface="Arial"/>
                        <a:buChar char="•"/>
                      </a:pPr>
                      <a:r>
                        <a:rPr lang="en-US" sz="3699">
                          <a:solidFill>
                            <a:srgbClr val="000000"/>
                          </a:solidFill>
                          <a:latin typeface="DM Sans"/>
                          <a:ea typeface="DM Sans"/>
                          <a:cs typeface="DM Sans"/>
                          <a:sym typeface="DM Sans"/>
                        </a:rPr>
                        <a:t>Creates trustworthiness that isn’t gained from word of mouth </a:t>
                      </a:r>
                    </a:p>
                  </a:txBody>
                  <a:tcPr marL="190500" marR="190500" marT="190500" marB="1905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4" name="Freeform 4"/>
          <p:cNvSpPr/>
          <p:nvPr/>
        </p:nvSpPr>
        <p:spPr>
          <a:xfrm>
            <a:off x="15179834" y="6369269"/>
            <a:ext cx="2889031" cy="2889031"/>
          </a:xfrm>
          <a:custGeom>
            <a:avLst/>
            <a:gdLst/>
            <a:ahLst/>
            <a:cxnLst/>
            <a:rect l="l" t="t" r="r" b="b"/>
            <a:pathLst>
              <a:path w="2889031" h="2889031">
                <a:moveTo>
                  <a:pt x="0" y="0"/>
                </a:moveTo>
                <a:lnTo>
                  <a:pt x="2889031" y="0"/>
                </a:lnTo>
                <a:lnTo>
                  <a:pt x="2889031" y="2889031"/>
                </a:lnTo>
                <a:lnTo>
                  <a:pt x="0" y="2889031"/>
                </a:lnTo>
                <a:lnTo>
                  <a:pt x="0" y="0"/>
                </a:lnTo>
                <a:close/>
              </a:path>
            </a:pathLst>
          </a:custGeom>
          <a:blipFill>
            <a:blip r:embed="rId4"/>
            <a:stretch>
              <a:fillRect/>
            </a:stretch>
          </a:blipFill>
        </p:spPr>
        <p:txBody>
          <a:bodyPr/>
          <a:lstStyle/>
          <a:p>
            <a:endParaRPr lang="en-US"/>
          </a:p>
        </p:txBody>
      </p:sp>
      <p:sp>
        <p:nvSpPr>
          <p:cNvPr id="5" name="TextBox 5"/>
          <p:cNvSpPr txBox="1"/>
          <p:nvPr/>
        </p:nvSpPr>
        <p:spPr>
          <a:xfrm>
            <a:off x="-1865418" y="9539978"/>
            <a:ext cx="6553453" cy="520272"/>
          </a:xfrm>
          <a:prstGeom prst="rect">
            <a:avLst/>
          </a:prstGeom>
        </p:spPr>
        <p:txBody>
          <a:bodyPr lIns="0" tIns="0" rIns="0" bIns="0" rtlCol="0" anchor="t">
            <a:spAutoFit/>
          </a:bodyPr>
          <a:lstStyle/>
          <a:p>
            <a:pPr algn="r">
              <a:lnSpc>
                <a:spcPts val="3663"/>
              </a:lnSpc>
            </a:pPr>
            <a:r>
              <a:rPr lang="en-US" sz="3663">
                <a:solidFill>
                  <a:srgbClr val="70100E"/>
                </a:solidFill>
                <a:latin typeface="Poppins Light"/>
                <a:ea typeface="Poppins Light"/>
                <a:cs typeface="Poppins Light"/>
                <a:sym typeface="Poppins Light"/>
              </a:rPr>
              <a:t>RECCOMENDATION 1</a:t>
            </a:r>
          </a:p>
        </p:txBody>
      </p:sp>
      <p:sp>
        <p:nvSpPr>
          <p:cNvPr id="6" name="TextBox 6"/>
          <p:cNvSpPr txBox="1"/>
          <p:nvPr/>
        </p:nvSpPr>
        <p:spPr>
          <a:xfrm>
            <a:off x="17534572" y="9368528"/>
            <a:ext cx="534293" cy="842646"/>
          </a:xfrm>
          <a:prstGeom prst="rect">
            <a:avLst/>
          </a:prstGeom>
        </p:spPr>
        <p:txBody>
          <a:bodyPr lIns="0" tIns="0" rIns="0" bIns="0" rtlCol="0" anchor="t">
            <a:spAutoFit/>
          </a:bodyPr>
          <a:lstStyle/>
          <a:p>
            <a:pPr algn="ctr">
              <a:lnSpc>
                <a:spcPts val="6579"/>
              </a:lnSpc>
              <a:spcBef>
                <a:spcPct val="0"/>
              </a:spcBef>
            </a:pPr>
            <a:r>
              <a:rPr lang="en-US" sz="4699">
                <a:solidFill>
                  <a:srgbClr val="F5F2EF"/>
                </a:solidFill>
                <a:latin typeface="Poppins"/>
                <a:ea typeface="Poppins"/>
                <a:cs typeface="Poppins"/>
                <a:sym typeface="Poppins"/>
              </a:rPr>
              <a:t>12</a:t>
            </a:r>
          </a:p>
        </p:txBody>
      </p:sp>
      <p:sp>
        <p:nvSpPr>
          <p:cNvPr id="7" name="TextBox 7"/>
          <p:cNvSpPr txBox="1"/>
          <p:nvPr/>
        </p:nvSpPr>
        <p:spPr>
          <a:xfrm>
            <a:off x="2674522" y="431224"/>
            <a:ext cx="11622647" cy="1778002"/>
          </a:xfrm>
          <a:prstGeom prst="rect">
            <a:avLst/>
          </a:prstGeom>
        </p:spPr>
        <p:txBody>
          <a:bodyPr lIns="0" tIns="0" rIns="0" bIns="0" rtlCol="0" anchor="t">
            <a:spAutoFit/>
          </a:bodyPr>
          <a:lstStyle/>
          <a:p>
            <a:pPr algn="ctr">
              <a:lnSpc>
                <a:spcPts val="6999"/>
              </a:lnSpc>
              <a:spcBef>
                <a:spcPct val="0"/>
              </a:spcBef>
            </a:pPr>
            <a:r>
              <a:rPr lang="en-US" sz="4999">
                <a:solidFill>
                  <a:srgbClr val="000000"/>
                </a:solidFill>
                <a:latin typeface="Poppins"/>
                <a:ea typeface="Poppins"/>
                <a:cs typeface="Poppins"/>
                <a:sym typeface="Poppins"/>
              </a:rPr>
              <a:t>UPDATE SOCIAL MEDIA/WEBSITE &amp; POST REGULARLY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2EF"/>
        </a:solidFill>
        <a:effectLst/>
      </p:bgPr>
    </p:bg>
    <p:spTree>
      <p:nvGrpSpPr>
        <p:cNvPr id="1" name=""/>
        <p:cNvGrpSpPr/>
        <p:nvPr/>
      </p:nvGrpSpPr>
      <p:grpSpPr>
        <a:xfrm>
          <a:off x="0" y="0"/>
          <a:ext cx="0" cy="0"/>
          <a:chOff x="0" y="0"/>
          <a:chExt cx="0" cy="0"/>
        </a:xfrm>
      </p:grpSpPr>
      <p:sp>
        <p:nvSpPr>
          <p:cNvPr id="2" name="Freeform 2"/>
          <p:cNvSpPr/>
          <p:nvPr/>
        </p:nvSpPr>
        <p:spPr>
          <a:xfrm flipH="1" flipV="1">
            <a:off x="-1605331" y="-1402200"/>
            <a:ext cx="10436428" cy="10447759"/>
          </a:xfrm>
          <a:custGeom>
            <a:avLst/>
            <a:gdLst/>
            <a:ahLst/>
            <a:cxnLst/>
            <a:rect l="l" t="t" r="r" b="b"/>
            <a:pathLst>
              <a:path w="10436428" h="10447759">
                <a:moveTo>
                  <a:pt x="10436428" y="10447759"/>
                </a:moveTo>
                <a:lnTo>
                  <a:pt x="0" y="10447759"/>
                </a:lnTo>
                <a:lnTo>
                  <a:pt x="0" y="0"/>
                </a:lnTo>
                <a:lnTo>
                  <a:pt x="10436428" y="0"/>
                </a:lnTo>
                <a:lnTo>
                  <a:pt x="10436428" y="10447759"/>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4658331" y="195573"/>
            <a:ext cx="13388640" cy="2081544"/>
          </a:xfrm>
          <a:prstGeom prst="rect">
            <a:avLst/>
          </a:prstGeom>
        </p:spPr>
        <p:txBody>
          <a:bodyPr lIns="0" tIns="0" rIns="0" bIns="0" rtlCol="0" anchor="t">
            <a:spAutoFit/>
          </a:bodyPr>
          <a:lstStyle/>
          <a:p>
            <a:pPr algn="r">
              <a:lnSpc>
                <a:spcPts val="7700"/>
              </a:lnSpc>
            </a:pPr>
            <a:r>
              <a:rPr lang="en-US" sz="7700">
                <a:solidFill>
                  <a:srgbClr val="000000"/>
                </a:solidFill>
                <a:latin typeface="Poppins Light"/>
                <a:ea typeface="Poppins Light"/>
                <a:cs typeface="Poppins Light"/>
                <a:sym typeface="Poppins Light"/>
              </a:rPr>
              <a:t>BEST PRACTICES &amp; POTENTIAL DOWNSIDES</a:t>
            </a:r>
          </a:p>
        </p:txBody>
      </p:sp>
      <p:sp>
        <p:nvSpPr>
          <p:cNvPr id="4" name="TextBox 4"/>
          <p:cNvSpPr txBox="1"/>
          <p:nvPr/>
        </p:nvSpPr>
        <p:spPr>
          <a:xfrm>
            <a:off x="1028700" y="981075"/>
            <a:ext cx="2117332" cy="405765"/>
          </a:xfrm>
          <a:prstGeom prst="rect">
            <a:avLst/>
          </a:prstGeom>
        </p:spPr>
        <p:txBody>
          <a:bodyPr lIns="0" tIns="0" rIns="0" bIns="0" rtlCol="0" anchor="t">
            <a:spAutoFit/>
          </a:bodyPr>
          <a:lstStyle/>
          <a:p>
            <a:pPr algn="just">
              <a:lnSpc>
                <a:spcPts val="3359"/>
              </a:lnSpc>
            </a:pPr>
            <a:r>
              <a:rPr lang="en-US" sz="2400">
                <a:solidFill>
                  <a:srgbClr val="751212"/>
                </a:solidFill>
                <a:latin typeface="DM Sans"/>
                <a:ea typeface="DM Sans"/>
                <a:cs typeface="DM Sans"/>
                <a:sym typeface="DM Sans"/>
              </a:rPr>
              <a:t>AARON LOEB</a:t>
            </a:r>
          </a:p>
        </p:txBody>
      </p:sp>
      <p:sp>
        <p:nvSpPr>
          <p:cNvPr id="5" name="Freeform 5"/>
          <p:cNvSpPr/>
          <p:nvPr/>
        </p:nvSpPr>
        <p:spPr>
          <a:xfrm>
            <a:off x="1068659" y="1818913"/>
            <a:ext cx="871730" cy="871730"/>
          </a:xfrm>
          <a:custGeom>
            <a:avLst/>
            <a:gdLst/>
            <a:ahLst/>
            <a:cxnLst/>
            <a:rect l="l" t="t" r="r" b="b"/>
            <a:pathLst>
              <a:path w="871730" h="871730">
                <a:moveTo>
                  <a:pt x="0" y="0"/>
                </a:moveTo>
                <a:lnTo>
                  <a:pt x="871731" y="0"/>
                </a:lnTo>
                <a:lnTo>
                  <a:pt x="871731" y="871731"/>
                </a:lnTo>
                <a:lnTo>
                  <a:pt x="0" y="87173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Freeform 6"/>
          <p:cNvSpPr/>
          <p:nvPr/>
        </p:nvSpPr>
        <p:spPr>
          <a:xfrm>
            <a:off x="-1423606" y="4625518"/>
            <a:ext cx="6081938" cy="6081938"/>
          </a:xfrm>
          <a:custGeom>
            <a:avLst/>
            <a:gdLst/>
            <a:ahLst/>
            <a:cxnLst/>
            <a:rect l="l" t="t" r="r" b="b"/>
            <a:pathLst>
              <a:path w="6081938" h="6081938">
                <a:moveTo>
                  <a:pt x="0" y="0"/>
                </a:moveTo>
                <a:lnTo>
                  <a:pt x="6081937" y="0"/>
                </a:lnTo>
                <a:lnTo>
                  <a:pt x="6081937" y="6081937"/>
                </a:lnTo>
                <a:lnTo>
                  <a:pt x="0" y="608193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7" name="TextBox 7"/>
          <p:cNvSpPr txBox="1"/>
          <p:nvPr/>
        </p:nvSpPr>
        <p:spPr>
          <a:xfrm>
            <a:off x="176828" y="9296776"/>
            <a:ext cx="542627" cy="842646"/>
          </a:xfrm>
          <a:prstGeom prst="rect">
            <a:avLst/>
          </a:prstGeom>
        </p:spPr>
        <p:txBody>
          <a:bodyPr lIns="0" tIns="0" rIns="0" bIns="0" rtlCol="0" anchor="t">
            <a:spAutoFit/>
          </a:bodyPr>
          <a:lstStyle/>
          <a:p>
            <a:pPr algn="ctr">
              <a:lnSpc>
                <a:spcPts val="6579"/>
              </a:lnSpc>
              <a:spcBef>
                <a:spcPct val="0"/>
              </a:spcBef>
            </a:pPr>
            <a:r>
              <a:rPr lang="en-US" sz="4699">
                <a:solidFill>
                  <a:srgbClr val="F5F2EF"/>
                </a:solidFill>
                <a:latin typeface="Poppins"/>
                <a:ea typeface="Poppins"/>
                <a:cs typeface="Poppins"/>
                <a:sym typeface="Poppins"/>
              </a:rPr>
              <a:t>13</a:t>
            </a:r>
          </a:p>
        </p:txBody>
      </p:sp>
      <p:graphicFrame>
        <p:nvGraphicFramePr>
          <p:cNvPr id="8" name="Table 8"/>
          <p:cNvGraphicFramePr>
            <a:graphicFrameLocks noGrp="1"/>
          </p:cNvGraphicFramePr>
          <p:nvPr/>
        </p:nvGraphicFramePr>
        <p:xfrm>
          <a:off x="5270783" y="2887315"/>
          <a:ext cx="12163736" cy="5695950"/>
        </p:xfrm>
        <a:graphic>
          <a:graphicData uri="http://schemas.openxmlformats.org/drawingml/2006/table">
            <a:tbl>
              <a:tblPr/>
              <a:tblGrid>
                <a:gridCol w="12163736">
                  <a:extLst>
                    <a:ext uri="{9D8B030D-6E8A-4147-A177-3AD203B41FA5}">
                      <a16:colId xmlns:a16="http://schemas.microsoft.com/office/drawing/2014/main" val="20000"/>
                    </a:ext>
                  </a:extLst>
                </a:gridCol>
              </a:tblGrid>
              <a:tr h="5695950">
                <a:tc>
                  <a:txBody>
                    <a:bodyPr/>
                    <a:lstStyle/>
                    <a:p>
                      <a:pPr algn="l">
                        <a:lnSpc>
                          <a:spcPts val="4899"/>
                        </a:lnSpc>
                        <a:defRPr/>
                      </a:pPr>
                      <a:r>
                        <a:rPr lang="en-US" sz="3499">
                          <a:solidFill>
                            <a:srgbClr val="000000"/>
                          </a:solidFill>
                          <a:latin typeface="DM Sans"/>
                          <a:ea typeface="DM Sans"/>
                          <a:cs typeface="DM Sans"/>
                          <a:sym typeface="DM Sans"/>
                        </a:rPr>
                        <a:t>Best Practices</a:t>
                      </a:r>
                      <a:endParaRPr lang="en-US" sz="1100"/>
                    </a:p>
                    <a:p>
                      <a:pPr marL="755647" lvl="1" indent="-377824" algn="l">
                        <a:lnSpc>
                          <a:spcPts val="4899"/>
                        </a:lnSpc>
                        <a:buFont typeface="Arial"/>
                        <a:buChar char="•"/>
                      </a:pPr>
                      <a:r>
                        <a:rPr lang="en-US" sz="3499">
                          <a:solidFill>
                            <a:srgbClr val="000000"/>
                          </a:solidFill>
                          <a:latin typeface="DM Sans"/>
                          <a:ea typeface="DM Sans"/>
                          <a:cs typeface="DM Sans"/>
                          <a:sym typeface="DM Sans"/>
                        </a:rPr>
                        <a:t>Rutgers Ascend: active instagram with regular board member takeovers</a:t>
                      </a:r>
                    </a:p>
                    <a:p>
                      <a:pPr marL="755647" lvl="1" indent="-377824" algn="l">
                        <a:lnSpc>
                          <a:spcPts val="4899"/>
                        </a:lnSpc>
                        <a:buFont typeface="Arial"/>
                        <a:buChar char="•"/>
                      </a:pPr>
                      <a:r>
                        <a:rPr lang="en-US" sz="3499">
                          <a:solidFill>
                            <a:srgbClr val="000000"/>
                          </a:solidFill>
                          <a:latin typeface="DM Sans"/>
                          <a:ea typeface="DM Sans"/>
                          <a:cs typeface="DM Sans"/>
                          <a:sym typeface="DM Sans"/>
                        </a:rPr>
                        <a:t>Scholars of Finance: connect directly with members through e-board takeovers</a:t>
                      </a:r>
                    </a:p>
                    <a:p>
                      <a:pPr algn="l">
                        <a:lnSpc>
                          <a:spcPts val="2520"/>
                        </a:lnSpc>
                      </a:pPr>
                      <a:endParaRPr lang="en-US" sz="3499">
                        <a:solidFill>
                          <a:srgbClr val="000000"/>
                        </a:solidFill>
                        <a:latin typeface="DM Sans"/>
                        <a:ea typeface="DM Sans"/>
                        <a:cs typeface="DM Sans"/>
                        <a:sym typeface="DM Sans"/>
                      </a:endParaRPr>
                    </a:p>
                    <a:p>
                      <a:pPr algn="l">
                        <a:lnSpc>
                          <a:spcPts val="4899"/>
                        </a:lnSpc>
                      </a:pPr>
                      <a:r>
                        <a:rPr lang="en-US" sz="3499">
                          <a:solidFill>
                            <a:srgbClr val="000000"/>
                          </a:solidFill>
                          <a:latin typeface="DM Sans"/>
                          <a:ea typeface="DM Sans"/>
                          <a:cs typeface="DM Sans"/>
                          <a:sym typeface="DM Sans"/>
                        </a:rPr>
                        <a:t>Potential Downsides </a:t>
                      </a:r>
                    </a:p>
                    <a:p>
                      <a:pPr marL="755647" lvl="1" indent="-377824" algn="l">
                        <a:lnSpc>
                          <a:spcPts val="4899"/>
                        </a:lnSpc>
                        <a:buFont typeface="Arial"/>
                        <a:buChar char="•"/>
                      </a:pPr>
                      <a:r>
                        <a:rPr lang="en-US" sz="3499">
                          <a:solidFill>
                            <a:srgbClr val="000000"/>
                          </a:solidFill>
                          <a:latin typeface="DM Sans"/>
                          <a:ea typeface="DM Sans"/>
                          <a:cs typeface="DM Sans"/>
                          <a:sym typeface="DM Sans"/>
                        </a:rPr>
                        <a:t>Members may ignore content on social media</a:t>
                      </a:r>
                    </a:p>
                    <a:p>
                      <a:pPr marL="755647" lvl="1" indent="-377824" algn="l">
                        <a:lnSpc>
                          <a:spcPts val="4899"/>
                        </a:lnSpc>
                        <a:buFont typeface="Arial"/>
                        <a:buChar char="•"/>
                      </a:pPr>
                      <a:r>
                        <a:rPr lang="en-US" sz="3499">
                          <a:solidFill>
                            <a:srgbClr val="000000"/>
                          </a:solidFill>
                          <a:latin typeface="DM Sans"/>
                          <a:ea typeface="DM Sans"/>
                          <a:cs typeface="DM Sans"/>
                          <a:sym typeface="DM Sans"/>
                        </a:rPr>
                        <a:t>Requires time and effort for high quality content</a:t>
                      </a:r>
                    </a:p>
                  </a:txBody>
                  <a:tcPr marL="190500" marR="190500" marT="190500" marB="1905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2EF"/>
        </a:solidFill>
        <a:effectLst/>
      </p:bgPr>
    </p:bg>
    <p:spTree>
      <p:nvGrpSpPr>
        <p:cNvPr id="1" name=""/>
        <p:cNvGrpSpPr/>
        <p:nvPr/>
      </p:nvGrpSpPr>
      <p:grpSpPr>
        <a:xfrm>
          <a:off x="0" y="0"/>
          <a:ext cx="0" cy="0"/>
          <a:chOff x="0" y="0"/>
          <a:chExt cx="0" cy="0"/>
        </a:xfrm>
      </p:grpSpPr>
      <p:sp>
        <p:nvSpPr>
          <p:cNvPr id="2" name="Freeform 2"/>
          <p:cNvSpPr/>
          <p:nvPr/>
        </p:nvSpPr>
        <p:spPr>
          <a:xfrm>
            <a:off x="13069194" y="-1396391"/>
            <a:ext cx="23350487" cy="11683391"/>
          </a:xfrm>
          <a:custGeom>
            <a:avLst/>
            <a:gdLst/>
            <a:ahLst/>
            <a:cxnLst/>
            <a:rect l="l" t="t" r="r" b="b"/>
            <a:pathLst>
              <a:path w="23350487" h="11683391">
                <a:moveTo>
                  <a:pt x="0" y="0"/>
                </a:moveTo>
                <a:lnTo>
                  <a:pt x="23350487" y="0"/>
                </a:lnTo>
                <a:lnTo>
                  <a:pt x="23350487" y="11683391"/>
                </a:lnTo>
                <a:lnTo>
                  <a:pt x="0" y="116833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6047889" y="6012898"/>
            <a:ext cx="3909756" cy="3603492"/>
          </a:xfrm>
          <a:custGeom>
            <a:avLst/>
            <a:gdLst/>
            <a:ahLst/>
            <a:cxnLst/>
            <a:rect l="l" t="t" r="r" b="b"/>
            <a:pathLst>
              <a:path w="3909756" h="3603492">
                <a:moveTo>
                  <a:pt x="0" y="0"/>
                </a:moveTo>
                <a:lnTo>
                  <a:pt x="3909756" y="0"/>
                </a:lnTo>
                <a:lnTo>
                  <a:pt x="3909756" y="3603492"/>
                </a:lnTo>
                <a:lnTo>
                  <a:pt x="0" y="3603492"/>
                </a:lnTo>
                <a:lnTo>
                  <a:pt x="0" y="0"/>
                </a:lnTo>
                <a:close/>
              </a:path>
            </a:pathLst>
          </a:custGeom>
          <a:blipFill>
            <a:blip r:embed="rId4"/>
            <a:stretch>
              <a:fillRect/>
            </a:stretch>
          </a:blipFill>
        </p:spPr>
        <p:txBody>
          <a:bodyPr/>
          <a:lstStyle/>
          <a:p>
            <a:endParaRPr lang="en-US"/>
          </a:p>
        </p:txBody>
      </p:sp>
      <p:sp>
        <p:nvSpPr>
          <p:cNvPr id="4" name="TextBox 4"/>
          <p:cNvSpPr txBox="1"/>
          <p:nvPr/>
        </p:nvSpPr>
        <p:spPr>
          <a:xfrm>
            <a:off x="17518424" y="9368528"/>
            <a:ext cx="566589" cy="842646"/>
          </a:xfrm>
          <a:prstGeom prst="rect">
            <a:avLst/>
          </a:prstGeom>
        </p:spPr>
        <p:txBody>
          <a:bodyPr lIns="0" tIns="0" rIns="0" bIns="0" rtlCol="0" anchor="t">
            <a:spAutoFit/>
          </a:bodyPr>
          <a:lstStyle/>
          <a:p>
            <a:pPr algn="ctr">
              <a:lnSpc>
                <a:spcPts val="6579"/>
              </a:lnSpc>
              <a:spcBef>
                <a:spcPct val="0"/>
              </a:spcBef>
            </a:pPr>
            <a:r>
              <a:rPr lang="en-US" sz="4699">
                <a:solidFill>
                  <a:srgbClr val="F5F2EF"/>
                </a:solidFill>
                <a:latin typeface="Poppins"/>
                <a:ea typeface="Poppins"/>
                <a:cs typeface="Poppins"/>
                <a:sym typeface="Poppins"/>
              </a:rPr>
              <a:t>14</a:t>
            </a:r>
          </a:p>
        </p:txBody>
      </p:sp>
      <p:sp>
        <p:nvSpPr>
          <p:cNvPr id="5" name="TextBox 5"/>
          <p:cNvSpPr txBox="1"/>
          <p:nvPr/>
        </p:nvSpPr>
        <p:spPr>
          <a:xfrm>
            <a:off x="1028700" y="2016899"/>
            <a:ext cx="13948134" cy="3629661"/>
          </a:xfrm>
          <a:prstGeom prst="rect">
            <a:avLst/>
          </a:prstGeom>
        </p:spPr>
        <p:txBody>
          <a:bodyPr lIns="0" tIns="0" rIns="0" bIns="0" rtlCol="0" anchor="t">
            <a:spAutoFit/>
          </a:bodyPr>
          <a:lstStyle/>
          <a:p>
            <a:pPr marL="885181" lvl="1" indent="-442590" algn="l">
              <a:lnSpc>
                <a:spcPts val="5739"/>
              </a:lnSpc>
              <a:buFont typeface="Arial"/>
              <a:buChar char="•"/>
            </a:pPr>
            <a:r>
              <a:rPr lang="en-US" sz="4099">
                <a:solidFill>
                  <a:srgbClr val="000000"/>
                </a:solidFill>
                <a:latin typeface="Poppins"/>
                <a:ea typeface="Poppins"/>
                <a:cs typeface="Poppins"/>
                <a:sym typeface="Poppins"/>
              </a:rPr>
              <a:t>Extrinsic Motivation for prospective members</a:t>
            </a:r>
          </a:p>
          <a:p>
            <a:pPr marL="885181" lvl="1" indent="-442590" algn="l">
              <a:lnSpc>
                <a:spcPts val="5739"/>
              </a:lnSpc>
              <a:buFont typeface="Arial"/>
              <a:buChar char="•"/>
            </a:pPr>
            <a:r>
              <a:rPr lang="en-US" sz="4099">
                <a:solidFill>
                  <a:srgbClr val="000000"/>
                </a:solidFill>
                <a:latin typeface="Poppins"/>
                <a:ea typeface="Poppins"/>
                <a:cs typeface="Poppins"/>
                <a:sym typeface="Poppins"/>
              </a:rPr>
              <a:t>Events with food seem to have the largest turnout according to Meher Baath</a:t>
            </a:r>
          </a:p>
          <a:p>
            <a:pPr marL="885181" lvl="1" indent="-442590" algn="l">
              <a:lnSpc>
                <a:spcPts val="5739"/>
              </a:lnSpc>
              <a:spcBef>
                <a:spcPct val="0"/>
              </a:spcBef>
              <a:buFont typeface="Arial"/>
              <a:buChar char="•"/>
            </a:pPr>
            <a:r>
              <a:rPr lang="en-US" sz="4099">
                <a:solidFill>
                  <a:srgbClr val="000000"/>
                </a:solidFill>
                <a:latin typeface="Poppins"/>
                <a:ea typeface="Poppins"/>
                <a:cs typeface="Poppins"/>
                <a:sym typeface="Poppins"/>
              </a:rPr>
              <a:t>If they come for the food, they might stay for the event after talking to our members</a:t>
            </a:r>
          </a:p>
        </p:txBody>
      </p:sp>
      <p:sp>
        <p:nvSpPr>
          <p:cNvPr id="6" name="TextBox 6"/>
          <p:cNvSpPr txBox="1"/>
          <p:nvPr/>
        </p:nvSpPr>
        <p:spPr>
          <a:xfrm>
            <a:off x="2584375" y="515937"/>
            <a:ext cx="13119250" cy="892177"/>
          </a:xfrm>
          <a:prstGeom prst="rect">
            <a:avLst/>
          </a:prstGeom>
        </p:spPr>
        <p:txBody>
          <a:bodyPr lIns="0" tIns="0" rIns="0" bIns="0" rtlCol="0" anchor="t">
            <a:spAutoFit/>
          </a:bodyPr>
          <a:lstStyle/>
          <a:p>
            <a:pPr algn="ctr">
              <a:lnSpc>
                <a:spcPts val="6999"/>
              </a:lnSpc>
              <a:spcBef>
                <a:spcPct val="0"/>
              </a:spcBef>
            </a:pPr>
            <a:r>
              <a:rPr lang="en-US" sz="4999">
                <a:solidFill>
                  <a:srgbClr val="000000"/>
                </a:solidFill>
                <a:latin typeface="Poppins"/>
                <a:ea typeface="Poppins"/>
                <a:cs typeface="Poppins"/>
                <a:sym typeface="Poppins"/>
              </a:rPr>
              <a:t>HAVE FOOD AT ALL GENERAL MEETINGS </a:t>
            </a:r>
          </a:p>
        </p:txBody>
      </p:sp>
      <p:sp>
        <p:nvSpPr>
          <p:cNvPr id="7" name="TextBox 7"/>
          <p:cNvSpPr txBox="1"/>
          <p:nvPr/>
        </p:nvSpPr>
        <p:spPr>
          <a:xfrm>
            <a:off x="-1727644" y="9539978"/>
            <a:ext cx="6553453" cy="520272"/>
          </a:xfrm>
          <a:prstGeom prst="rect">
            <a:avLst/>
          </a:prstGeom>
        </p:spPr>
        <p:txBody>
          <a:bodyPr lIns="0" tIns="0" rIns="0" bIns="0" rtlCol="0" anchor="t">
            <a:spAutoFit/>
          </a:bodyPr>
          <a:lstStyle/>
          <a:p>
            <a:pPr algn="r">
              <a:lnSpc>
                <a:spcPts val="3663"/>
              </a:lnSpc>
            </a:pPr>
            <a:r>
              <a:rPr lang="en-US" sz="3663">
                <a:solidFill>
                  <a:srgbClr val="70100E"/>
                </a:solidFill>
                <a:latin typeface="Poppins Light"/>
                <a:ea typeface="Poppins Light"/>
                <a:cs typeface="Poppins Light"/>
                <a:sym typeface="Poppins Light"/>
              </a:rPr>
              <a:t>RECCOMENDATION 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2EF"/>
        </a:solidFill>
        <a:effectLst/>
      </p:bgPr>
    </p:bg>
    <p:spTree>
      <p:nvGrpSpPr>
        <p:cNvPr id="1" name=""/>
        <p:cNvGrpSpPr/>
        <p:nvPr/>
      </p:nvGrpSpPr>
      <p:grpSpPr>
        <a:xfrm>
          <a:off x="0" y="0"/>
          <a:ext cx="0" cy="0"/>
          <a:chOff x="0" y="0"/>
          <a:chExt cx="0" cy="0"/>
        </a:xfrm>
      </p:grpSpPr>
      <p:sp>
        <p:nvSpPr>
          <p:cNvPr id="2" name="Freeform 2"/>
          <p:cNvSpPr/>
          <p:nvPr/>
        </p:nvSpPr>
        <p:spPr>
          <a:xfrm flipH="1" flipV="1">
            <a:off x="-1536444" y="-1402200"/>
            <a:ext cx="10321666" cy="10332873"/>
          </a:xfrm>
          <a:custGeom>
            <a:avLst/>
            <a:gdLst/>
            <a:ahLst/>
            <a:cxnLst/>
            <a:rect l="l" t="t" r="r" b="b"/>
            <a:pathLst>
              <a:path w="10321666" h="10332873">
                <a:moveTo>
                  <a:pt x="10321666" y="10332873"/>
                </a:moveTo>
                <a:lnTo>
                  <a:pt x="0" y="10332873"/>
                </a:lnTo>
                <a:lnTo>
                  <a:pt x="0" y="0"/>
                </a:lnTo>
                <a:lnTo>
                  <a:pt x="10321666" y="0"/>
                </a:lnTo>
                <a:lnTo>
                  <a:pt x="10321666" y="10332873"/>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1068659" y="1818913"/>
            <a:ext cx="871730" cy="871730"/>
          </a:xfrm>
          <a:custGeom>
            <a:avLst/>
            <a:gdLst/>
            <a:ahLst/>
            <a:cxnLst/>
            <a:rect l="l" t="t" r="r" b="b"/>
            <a:pathLst>
              <a:path w="871730" h="871730">
                <a:moveTo>
                  <a:pt x="0" y="0"/>
                </a:moveTo>
                <a:lnTo>
                  <a:pt x="871731" y="0"/>
                </a:lnTo>
                <a:lnTo>
                  <a:pt x="871731" y="871731"/>
                </a:lnTo>
                <a:lnTo>
                  <a:pt x="0" y="87173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a:off x="-1423606" y="4625518"/>
            <a:ext cx="6081938" cy="6081938"/>
          </a:xfrm>
          <a:custGeom>
            <a:avLst/>
            <a:gdLst/>
            <a:ahLst/>
            <a:cxnLst/>
            <a:rect l="l" t="t" r="r" b="b"/>
            <a:pathLst>
              <a:path w="6081938" h="6081938">
                <a:moveTo>
                  <a:pt x="0" y="0"/>
                </a:moveTo>
                <a:lnTo>
                  <a:pt x="6081937" y="0"/>
                </a:lnTo>
                <a:lnTo>
                  <a:pt x="6081937" y="6081937"/>
                </a:lnTo>
                <a:lnTo>
                  <a:pt x="0" y="608193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TextBox 5"/>
          <p:cNvSpPr txBox="1"/>
          <p:nvPr/>
        </p:nvSpPr>
        <p:spPr>
          <a:xfrm>
            <a:off x="5001670" y="3041959"/>
            <a:ext cx="11312380" cy="6369097"/>
          </a:xfrm>
          <a:prstGeom prst="rect">
            <a:avLst/>
          </a:prstGeom>
        </p:spPr>
        <p:txBody>
          <a:bodyPr lIns="0" tIns="0" rIns="0" bIns="0" rtlCol="0" anchor="t">
            <a:spAutoFit/>
          </a:bodyPr>
          <a:lstStyle/>
          <a:p>
            <a:pPr algn="l">
              <a:lnSpc>
                <a:spcPts val="4897"/>
              </a:lnSpc>
            </a:pPr>
            <a:r>
              <a:rPr lang="en-US" sz="3498">
                <a:solidFill>
                  <a:srgbClr val="000000"/>
                </a:solidFill>
                <a:latin typeface="Poppins"/>
                <a:ea typeface="Poppins"/>
                <a:cs typeface="Poppins"/>
                <a:sym typeface="Poppins"/>
              </a:rPr>
              <a:t>Best Practices</a:t>
            </a:r>
          </a:p>
          <a:p>
            <a:pPr marL="755254" lvl="1" indent="-377627" algn="l">
              <a:lnSpc>
                <a:spcPts val="4897"/>
              </a:lnSpc>
              <a:buFont typeface="Arial"/>
              <a:buChar char="•"/>
            </a:pPr>
            <a:r>
              <a:rPr lang="en-US" sz="3498">
                <a:solidFill>
                  <a:srgbClr val="000000"/>
                </a:solidFill>
                <a:latin typeface="Poppins"/>
                <a:ea typeface="Poppins"/>
                <a:cs typeface="Poppins"/>
                <a:sym typeface="Poppins"/>
              </a:rPr>
              <a:t>Rutgers Cheese Club: Cheesegiving Feast, Cheese Picnic, and Cheese Fest </a:t>
            </a:r>
          </a:p>
          <a:p>
            <a:pPr marL="755254" lvl="1" indent="-377627" algn="l">
              <a:lnSpc>
                <a:spcPts val="4897"/>
              </a:lnSpc>
              <a:buFont typeface="Arial"/>
              <a:buChar char="•"/>
            </a:pPr>
            <a:r>
              <a:rPr lang="en-US" sz="3498">
                <a:solidFill>
                  <a:srgbClr val="000000"/>
                </a:solidFill>
                <a:latin typeface="Poppins"/>
                <a:ea typeface="Poppins"/>
                <a:cs typeface="Poppins"/>
                <a:sym typeface="Poppins"/>
              </a:rPr>
              <a:t>Hong Kong Student Association: Free food and giveaways, Temple Street event</a:t>
            </a:r>
          </a:p>
          <a:p>
            <a:pPr algn="l">
              <a:lnSpc>
                <a:spcPts val="1399"/>
              </a:lnSpc>
            </a:pPr>
            <a:r>
              <a:rPr lang="en-US" sz="999">
                <a:solidFill>
                  <a:srgbClr val="000000"/>
                </a:solidFill>
                <a:latin typeface="Poppins"/>
                <a:ea typeface="Poppins"/>
                <a:cs typeface="Poppins"/>
                <a:sym typeface="Poppins"/>
              </a:rPr>
              <a:t> </a:t>
            </a:r>
          </a:p>
          <a:p>
            <a:pPr algn="l">
              <a:lnSpc>
                <a:spcPts val="4897"/>
              </a:lnSpc>
            </a:pPr>
            <a:r>
              <a:rPr lang="en-US" sz="3498">
                <a:solidFill>
                  <a:srgbClr val="000000"/>
                </a:solidFill>
                <a:latin typeface="Poppins"/>
                <a:ea typeface="Poppins"/>
                <a:cs typeface="Poppins"/>
                <a:sym typeface="Poppins"/>
              </a:rPr>
              <a:t>Potential Downsides</a:t>
            </a:r>
          </a:p>
          <a:p>
            <a:pPr marL="755254" lvl="1" indent="-377627" algn="l">
              <a:lnSpc>
                <a:spcPts val="4897"/>
              </a:lnSpc>
              <a:buFont typeface="Arial"/>
              <a:buChar char="•"/>
            </a:pPr>
            <a:r>
              <a:rPr lang="en-US" sz="3498">
                <a:solidFill>
                  <a:srgbClr val="000000"/>
                </a:solidFill>
                <a:latin typeface="Poppins"/>
                <a:ea typeface="Poppins"/>
                <a:cs typeface="Poppins"/>
                <a:sym typeface="Poppins"/>
              </a:rPr>
              <a:t>RGBA limits the amount of funding that a club can use for food to two general meetings per semester </a:t>
            </a:r>
          </a:p>
          <a:p>
            <a:pPr marL="755254" lvl="1" indent="-377627" algn="l">
              <a:lnSpc>
                <a:spcPts val="4897"/>
              </a:lnSpc>
              <a:spcBef>
                <a:spcPct val="0"/>
              </a:spcBef>
              <a:buFont typeface="Arial"/>
              <a:buChar char="•"/>
            </a:pPr>
            <a:r>
              <a:rPr lang="en-US" sz="3498">
                <a:solidFill>
                  <a:srgbClr val="000000"/>
                </a:solidFill>
                <a:latin typeface="Poppins"/>
                <a:ea typeface="Poppins"/>
                <a:cs typeface="Poppins"/>
                <a:sym typeface="Poppins"/>
              </a:rPr>
              <a:t>Extra fundraising needed </a:t>
            </a:r>
          </a:p>
        </p:txBody>
      </p:sp>
      <p:sp>
        <p:nvSpPr>
          <p:cNvPr id="6" name="Freeform 6"/>
          <p:cNvSpPr/>
          <p:nvPr/>
        </p:nvSpPr>
        <p:spPr>
          <a:xfrm>
            <a:off x="13903455" y="8251506"/>
            <a:ext cx="1827267" cy="1827267"/>
          </a:xfrm>
          <a:custGeom>
            <a:avLst/>
            <a:gdLst/>
            <a:ahLst/>
            <a:cxnLst/>
            <a:rect l="l" t="t" r="r" b="b"/>
            <a:pathLst>
              <a:path w="1827267" h="1827267">
                <a:moveTo>
                  <a:pt x="0" y="0"/>
                </a:moveTo>
                <a:lnTo>
                  <a:pt x="1827266" y="0"/>
                </a:lnTo>
                <a:lnTo>
                  <a:pt x="1827266" y="1827267"/>
                </a:lnTo>
                <a:lnTo>
                  <a:pt x="0" y="1827267"/>
                </a:lnTo>
                <a:lnTo>
                  <a:pt x="0" y="0"/>
                </a:lnTo>
                <a:close/>
              </a:path>
            </a:pathLst>
          </a:custGeom>
          <a:blipFill>
            <a:blip r:embed="rId8"/>
            <a:stretch>
              <a:fillRect/>
            </a:stretch>
          </a:blipFill>
        </p:spPr>
        <p:txBody>
          <a:bodyPr/>
          <a:lstStyle/>
          <a:p>
            <a:endParaRPr lang="en-US"/>
          </a:p>
        </p:txBody>
      </p:sp>
      <p:sp>
        <p:nvSpPr>
          <p:cNvPr id="7" name="TextBox 7"/>
          <p:cNvSpPr txBox="1"/>
          <p:nvPr/>
        </p:nvSpPr>
        <p:spPr>
          <a:xfrm>
            <a:off x="4658331" y="195573"/>
            <a:ext cx="13388640" cy="2081544"/>
          </a:xfrm>
          <a:prstGeom prst="rect">
            <a:avLst/>
          </a:prstGeom>
        </p:spPr>
        <p:txBody>
          <a:bodyPr lIns="0" tIns="0" rIns="0" bIns="0" rtlCol="0" anchor="t">
            <a:spAutoFit/>
          </a:bodyPr>
          <a:lstStyle/>
          <a:p>
            <a:pPr algn="r">
              <a:lnSpc>
                <a:spcPts val="7700"/>
              </a:lnSpc>
            </a:pPr>
            <a:r>
              <a:rPr lang="en-US" sz="7700">
                <a:solidFill>
                  <a:srgbClr val="000000"/>
                </a:solidFill>
                <a:latin typeface="Poppins Light"/>
                <a:ea typeface="Poppins Light"/>
                <a:cs typeface="Poppins Light"/>
                <a:sym typeface="Poppins Light"/>
              </a:rPr>
              <a:t>BEST PRACTICES &amp; POTENTIAL DOWNSIDES</a:t>
            </a:r>
          </a:p>
        </p:txBody>
      </p:sp>
      <p:sp>
        <p:nvSpPr>
          <p:cNvPr id="8" name="TextBox 8"/>
          <p:cNvSpPr txBox="1"/>
          <p:nvPr/>
        </p:nvSpPr>
        <p:spPr>
          <a:xfrm>
            <a:off x="1028700" y="981075"/>
            <a:ext cx="2117332" cy="405765"/>
          </a:xfrm>
          <a:prstGeom prst="rect">
            <a:avLst/>
          </a:prstGeom>
        </p:spPr>
        <p:txBody>
          <a:bodyPr lIns="0" tIns="0" rIns="0" bIns="0" rtlCol="0" anchor="t">
            <a:spAutoFit/>
          </a:bodyPr>
          <a:lstStyle/>
          <a:p>
            <a:pPr algn="just">
              <a:lnSpc>
                <a:spcPts val="3359"/>
              </a:lnSpc>
            </a:pPr>
            <a:r>
              <a:rPr lang="en-US" sz="2400">
                <a:solidFill>
                  <a:srgbClr val="751212"/>
                </a:solidFill>
                <a:latin typeface="DM Sans"/>
                <a:ea typeface="DM Sans"/>
                <a:cs typeface="DM Sans"/>
                <a:sym typeface="DM Sans"/>
              </a:rPr>
              <a:t>AARON LOEB</a:t>
            </a:r>
          </a:p>
        </p:txBody>
      </p:sp>
      <p:sp>
        <p:nvSpPr>
          <p:cNvPr id="9" name="TextBox 9"/>
          <p:cNvSpPr txBox="1"/>
          <p:nvPr/>
        </p:nvSpPr>
        <p:spPr>
          <a:xfrm>
            <a:off x="184215" y="9277706"/>
            <a:ext cx="565993" cy="842646"/>
          </a:xfrm>
          <a:prstGeom prst="rect">
            <a:avLst/>
          </a:prstGeom>
        </p:spPr>
        <p:txBody>
          <a:bodyPr lIns="0" tIns="0" rIns="0" bIns="0" rtlCol="0" anchor="t">
            <a:spAutoFit/>
          </a:bodyPr>
          <a:lstStyle/>
          <a:p>
            <a:pPr algn="ctr">
              <a:lnSpc>
                <a:spcPts val="6579"/>
              </a:lnSpc>
              <a:spcBef>
                <a:spcPct val="0"/>
              </a:spcBef>
            </a:pPr>
            <a:r>
              <a:rPr lang="en-US" sz="4699">
                <a:solidFill>
                  <a:srgbClr val="F5F2EF"/>
                </a:solidFill>
                <a:latin typeface="Poppins"/>
                <a:ea typeface="Poppins"/>
                <a:cs typeface="Poppins"/>
                <a:sym typeface="Poppins"/>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751212"/>
        </a:solidFill>
        <a:effectLst/>
      </p:bgPr>
    </p:bg>
    <p:spTree>
      <p:nvGrpSpPr>
        <p:cNvPr id="1" name=""/>
        <p:cNvGrpSpPr/>
        <p:nvPr/>
      </p:nvGrpSpPr>
      <p:grpSpPr>
        <a:xfrm>
          <a:off x="0" y="0"/>
          <a:ext cx="0" cy="0"/>
          <a:chOff x="0" y="0"/>
          <a:chExt cx="0" cy="0"/>
        </a:xfrm>
      </p:grpSpPr>
      <p:grpSp>
        <p:nvGrpSpPr>
          <p:cNvPr id="2" name="Group 2"/>
          <p:cNvGrpSpPr/>
          <p:nvPr/>
        </p:nvGrpSpPr>
        <p:grpSpPr>
          <a:xfrm>
            <a:off x="13742217" y="0"/>
            <a:ext cx="4545783" cy="10742553"/>
            <a:chOff x="0" y="0"/>
            <a:chExt cx="1197243" cy="2829314"/>
          </a:xfrm>
        </p:grpSpPr>
        <p:sp>
          <p:nvSpPr>
            <p:cNvPr id="3" name="Freeform 3"/>
            <p:cNvSpPr/>
            <p:nvPr/>
          </p:nvSpPr>
          <p:spPr>
            <a:xfrm>
              <a:off x="0" y="0"/>
              <a:ext cx="1197243" cy="2829314"/>
            </a:xfrm>
            <a:custGeom>
              <a:avLst/>
              <a:gdLst/>
              <a:ahLst/>
              <a:cxnLst/>
              <a:rect l="l" t="t" r="r" b="b"/>
              <a:pathLst>
                <a:path w="1197243" h="2829314">
                  <a:moveTo>
                    <a:pt x="0" y="0"/>
                  </a:moveTo>
                  <a:lnTo>
                    <a:pt x="1197243" y="0"/>
                  </a:lnTo>
                  <a:lnTo>
                    <a:pt x="1197243" y="2829314"/>
                  </a:lnTo>
                  <a:lnTo>
                    <a:pt x="0" y="2829314"/>
                  </a:lnTo>
                  <a:close/>
                </a:path>
              </a:pathLst>
            </a:custGeom>
            <a:solidFill>
              <a:srgbClr val="A31212"/>
            </a:solidFill>
          </p:spPr>
          <p:txBody>
            <a:bodyPr/>
            <a:lstStyle/>
            <a:p>
              <a:endParaRPr lang="en-US"/>
            </a:p>
          </p:txBody>
        </p:sp>
        <p:sp>
          <p:nvSpPr>
            <p:cNvPr id="4" name="TextBox 4"/>
            <p:cNvSpPr txBox="1"/>
            <p:nvPr/>
          </p:nvSpPr>
          <p:spPr>
            <a:xfrm>
              <a:off x="0" y="-47625"/>
              <a:ext cx="1197243" cy="2876939"/>
            </a:xfrm>
            <a:prstGeom prst="rect">
              <a:avLst/>
            </a:prstGeom>
          </p:spPr>
          <p:txBody>
            <a:bodyPr lIns="50800" tIns="50800" rIns="50800" bIns="50800" rtlCol="0" anchor="ctr"/>
            <a:lstStyle/>
            <a:p>
              <a:pPr algn="ctr">
                <a:lnSpc>
                  <a:spcPts val="3359"/>
                </a:lnSpc>
              </a:pPr>
              <a:endParaRPr/>
            </a:p>
          </p:txBody>
        </p:sp>
      </p:grpSp>
      <p:sp>
        <p:nvSpPr>
          <p:cNvPr id="5" name="Freeform 5"/>
          <p:cNvSpPr/>
          <p:nvPr/>
        </p:nvSpPr>
        <p:spPr>
          <a:xfrm>
            <a:off x="4000370" y="222061"/>
            <a:ext cx="10287260" cy="10298430"/>
          </a:xfrm>
          <a:custGeom>
            <a:avLst/>
            <a:gdLst/>
            <a:ahLst/>
            <a:cxnLst/>
            <a:rect l="l" t="t" r="r" b="b"/>
            <a:pathLst>
              <a:path w="10287260" h="10298430">
                <a:moveTo>
                  <a:pt x="0" y="0"/>
                </a:moveTo>
                <a:lnTo>
                  <a:pt x="10287260" y="0"/>
                </a:lnTo>
                <a:lnTo>
                  <a:pt x="10287260" y="10298430"/>
                </a:lnTo>
                <a:lnTo>
                  <a:pt x="0" y="102984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aphicFrame>
        <p:nvGraphicFramePr>
          <p:cNvPr id="6" name="Table 6"/>
          <p:cNvGraphicFramePr>
            <a:graphicFrameLocks noGrp="1"/>
          </p:cNvGraphicFramePr>
          <p:nvPr/>
        </p:nvGraphicFramePr>
        <p:xfrm>
          <a:off x="742652" y="4589908"/>
          <a:ext cx="16802696" cy="4824110"/>
        </p:xfrm>
        <a:graphic>
          <a:graphicData uri="http://schemas.openxmlformats.org/drawingml/2006/table">
            <a:tbl>
              <a:tblPr/>
              <a:tblGrid>
                <a:gridCol w="5592407">
                  <a:extLst>
                    <a:ext uri="{9D8B030D-6E8A-4147-A177-3AD203B41FA5}">
                      <a16:colId xmlns:a16="http://schemas.microsoft.com/office/drawing/2014/main" val="20000"/>
                    </a:ext>
                  </a:extLst>
                </a:gridCol>
                <a:gridCol w="5592407">
                  <a:extLst>
                    <a:ext uri="{9D8B030D-6E8A-4147-A177-3AD203B41FA5}">
                      <a16:colId xmlns:a16="http://schemas.microsoft.com/office/drawing/2014/main" val="20001"/>
                    </a:ext>
                  </a:extLst>
                </a:gridCol>
                <a:gridCol w="5617882">
                  <a:extLst>
                    <a:ext uri="{9D8B030D-6E8A-4147-A177-3AD203B41FA5}">
                      <a16:colId xmlns:a16="http://schemas.microsoft.com/office/drawing/2014/main" val="20002"/>
                    </a:ext>
                  </a:extLst>
                </a:gridCol>
              </a:tblGrid>
              <a:tr h="2409816">
                <a:tc>
                  <a:txBody>
                    <a:bodyPr/>
                    <a:lstStyle/>
                    <a:p>
                      <a:pPr algn="ctr">
                        <a:lnSpc>
                          <a:spcPts val="3919"/>
                        </a:lnSpc>
                        <a:defRPr/>
                      </a:pPr>
                      <a:r>
                        <a:rPr lang="en-US" sz="2799">
                          <a:solidFill>
                            <a:srgbClr val="751212"/>
                          </a:solidFill>
                          <a:latin typeface="DM Sans"/>
                          <a:ea typeface="DM Sans"/>
                          <a:cs typeface="DM Sans"/>
                          <a:sym typeface="DM Sans"/>
                        </a:rPr>
                        <a:t>We will present our findings on other organizations that have found success </a:t>
                      </a:r>
                      <a:endParaRPr lang="en-US" sz="1100"/>
                    </a:p>
                  </a:txBody>
                  <a:tcPr marL="190500" marR="190500" marT="190500" marB="1905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5F2EF"/>
                    </a:solidFill>
                  </a:tcPr>
                </a:tc>
                <a:tc>
                  <a:txBody>
                    <a:bodyPr/>
                    <a:lstStyle/>
                    <a:p>
                      <a:pPr algn="ctr">
                        <a:lnSpc>
                          <a:spcPts val="3919"/>
                        </a:lnSpc>
                        <a:defRPr/>
                      </a:pPr>
                      <a:r>
                        <a:rPr lang="en-US" sz="2799">
                          <a:solidFill>
                            <a:srgbClr val="751212"/>
                          </a:solidFill>
                          <a:latin typeface="DM Sans"/>
                          <a:ea typeface="DM Sans"/>
                          <a:cs typeface="DM Sans"/>
                          <a:sym typeface="DM Sans"/>
                        </a:rPr>
                        <a:t>We will have Aleksey lead the proposal of our recommendations to the President of RES</a:t>
                      </a:r>
                      <a:endParaRPr lang="en-US" sz="1100"/>
                    </a:p>
                  </a:txBody>
                  <a:tcPr marL="190500" marR="190500" marT="190500" marB="1905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5F2EF"/>
                    </a:solidFill>
                  </a:tcPr>
                </a:tc>
                <a:tc>
                  <a:txBody>
                    <a:bodyPr/>
                    <a:lstStyle/>
                    <a:p>
                      <a:pPr algn="ctr">
                        <a:lnSpc>
                          <a:spcPts val="4200"/>
                        </a:lnSpc>
                        <a:defRPr/>
                      </a:pPr>
                      <a:r>
                        <a:rPr lang="en-US" sz="3000" b="1">
                          <a:solidFill>
                            <a:srgbClr val="751212"/>
                          </a:solidFill>
                          <a:latin typeface="DM Sans Bold"/>
                          <a:ea typeface="DM Sans Bold"/>
                          <a:cs typeface="DM Sans Bold"/>
                          <a:sym typeface="DM Sans Bold"/>
                        </a:rPr>
                        <a:t>COMMUNICATION STRATEGIES</a:t>
                      </a:r>
                      <a:endParaRPr lang="en-US" sz="1100"/>
                    </a:p>
                  </a:txBody>
                  <a:tcPr marL="190500" marR="190500" marT="190500" marB="1905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5F2EF"/>
                    </a:solidFill>
                  </a:tcPr>
                </a:tc>
                <a:extLst>
                  <a:ext uri="{0D108BD9-81ED-4DB2-BD59-A6C34878D82A}">
                    <a16:rowId xmlns:a16="http://schemas.microsoft.com/office/drawing/2014/main" val="10000"/>
                  </a:ext>
                </a:extLst>
              </a:tr>
              <a:tr h="2414294">
                <a:tc>
                  <a:txBody>
                    <a:bodyPr/>
                    <a:lstStyle/>
                    <a:p>
                      <a:pPr algn="ctr">
                        <a:lnSpc>
                          <a:spcPts val="3919"/>
                        </a:lnSpc>
                        <a:defRPr/>
                      </a:pPr>
                      <a:r>
                        <a:rPr lang="en-US" sz="2799">
                          <a:solidFill>
                            <a:srgbClr val="751212"/>
                          </a:solidFill>
                          <a:latin typeface="DM Sans"/>
                          <a:ea typeface="DM Sans"/>
                          <a:cs typeface="DM Sans"/>
                          <a:sym typeface="DM Sans"/>
                        </a:rPr>
                        <a:t>Social Proof </a:t>
                      </a:r>
                      <a:endParaRPr lang="en-US" sz="1100"/>
                    </a:p>
                  </a:txBody>
                  <a:tcPr marL="190500" marR="190500" marT="190500" marB="1905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5F2EF"/>
                    </a:solidFill>
                  </a:tcPr>
                </a:tc>
                <a:tc>
                  <a:txBody>
                    <a:bodyPr/>
                    <a:lstStyle/>
                    <a:p>
                      <a:pPr algn="ctr">
                        <a:lnSpc>
                          <a:spcPts val="3919"/>
                        </a:lnSpc>
                        <a:defRPr/>
                      </a:pPr>
                      <a:r>
                        <a:rPr lang="en-US" sz="2799">
                          <a:solidFill>
                            <a:srgbClr val="751212"/>
                          </a:solidFill>
                          <a:latin typeface="DM Sans"/>
                          <a:ea typeface="DM Sans"/>
                          <a:cs typeface="DM Sans"/>
                          <a:sym typeface="DM Sans"/>
                        </a:rPr>
                        <a:t>Liking </a:t>
                      </a:r>
                      <a:endParaRPr lang="en-US" sz="1100"/>
                    </a:p>
                  </a:txBody>
                  <a:tcPr marL="190500" marR="190500" marT="190500" marB="1905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5F2EF"/>
                    </a:solidFill>
                  </a:tcPr>
                </a:tc>
                <a:tc>
                  <a:txBody>
                    <a:bodyPr/>
                    <a:lstStyle/>
                    <a:p>
                      <a:pPr algn="ctr">
                        <a:lnSpc>
                          <a:spcPts val="4200"/>
                        </a:lnSpc>
                        <a:defRPr/>
                      </a:pPr>
                      <a:r>
                        <a:rPr lang="en-US" sz="3000" b="1">
                          <a:solidFill>
                            <a:srgbClr val="751212"/>
                          </a:solidFill>
                          <a:latin typeface="DM Sans Bold"/>
                          <a:ea typeface="DM Sans Bold"/>
                          <a:cs typeface="DM Sans Bold"/>
                          <a:sym typeface="DM Sans Bold"/>
                        </a:rPr>
                        <a:t>INFLUENCING TACTICS</a:t>
                      </a:r>
                      <a:endParaRPr lang="en-US" sz="1100"/>
                    </a:p>
                  </a:txBody>
                  <a:tcPr marL="190500" marR="190500" marT="190500" marB="190500" anchor="ctr">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5F2EF"/>
                    </a:solidFill>
                  </a:tcPr>
                </a:tc>
                <a:extLst>
                  <a:ext uri="{0D108BD9-81ED-4DB2-BD59-A6C34878D82A}">
                    <a16:rowId xmlns:a16="http://schemas.microsoft.com/office/drawing/2014/main" val="10001"/>
                  </a:ext>
                </a:extLst>
              </a:tr>
            </a:tbl>
          </a:graphicData>
        </a:graphic>
      </p:graphicFrame>
      <p:sp>
        <p:nvSpPr>
          <p:cNvPr id="7" name="Freeform 7"/>
          <p:cNvSpPr/>
          <p:nvPr/>
        </p:nvSpPr>
        <p:spPr>
          <a:xfrm>
            <a:off x="12411229" y="467329"/>
            <a:ext cx="5105409" cy="3509969"/>
          </a:xfrm>
          <a:custGeom>
            <a:avLst/>
            <a:gdLst/>
            <a:ahLst/>
            <a:cxnLst/>
            <a:rect l="l" t="t" r="r" b="b"/>
            <a:pathLst>
              <a:path w="5105409" h="3509969">
                <a:moveTo>
                  <a:pt x="0" y="0"/>
                </a:moveTo>
                <a:lnTo>
                  <a:pt x="5105409" y="0"/>
                </a:lnTo>
                <a:lnTo>
                  <a:pt x="5105409" y="3509969"/>
                </a:lnTo>
                <a:lnTo>
                  <a:pt x="0" y="3509969"/>
                </a:lnTo>
                <a:lnTo>
                  <a:pt x="0" y="0"/>
                </a:lnTo>
                <a:close/>
              </a:path>
            </a:pathLst>
          </a:custGeom>
          <a:blipFill>
            <a:blip r:embed="rId4"/>
            <a:stretch>
              <a:fillRect/>
            </a:stretch>
          </a:blipFill>
        </p:spPr>
        <p:txBody>
          <a:bodyPr/>
          <a:lstStyle/>
          <a:p>
            <a:endParaRPr lang="en-US"/>
          </a:p>
        </p:txBody>
      </p:sp>
      <p:sp>
        <p:nvSpPr>
          <p:cNvPr id="8" name="TextBox 8"/>
          <p:cNvSpPr txBox="1"/>
          <p:nvPr/>
        </p:nvSpPr>
        <p:spPr>
          <a:xfrm>
            <a:off x="162692" y="288736"/>
            <a:ext cx="15534486" cy="3933829"/>
          </a:xfrm>
          <a:prstGeom prst="rect">
            <a:avLst/>
          </a:prstGeom>
        </p:spPr>
        <p:txBody>
          <a:bodyPr lIns="0" tIns="0" rIns="0" bIns="0" rtlCol="0" anchor="t">
            <a:spAutoFit/>
          </a:bodyPr>
          <a:lstStyle/>
          <a:p>
            <a:pPr algn="l">
              <a:lnSpc>
                <a:spcPts val="7500"/>
              </a:lnSpc>
            </a:pPr>
            <a:r>
              <a:rPr lang="en-US" sz="7500">
                <a:solidFill>
                  <a:srgbClr val="FFFFFF"/>
                </a:solidFill>
                <a:latin typeface="Poppins Light"/>
                <a:ea typeface="Poppins Light"/>
                <a:cs typeface="Poppins Light"/>
                <a:sym typeface="Poppins Light"/>
              </a:rPr>
              <a:t>COMMUNICATION </a:t>
            </a:r>
          </a:p>
          <a:p>
            <a:pPr algn="l">
              <a:lnSpc>
                <a:spcPts val="7500"/>
              </a:lnSpc>
            </a:pPr>
            <a:r>
              <a:rPr lang="en-US" sz="7500">
                <a:solidFill>
                  <a:srgbClr val="FFFFFF"/>
                </a:solidFill>
                <a:latin typeface="Poppins Light"/>
                <a:ea typeface="Poppins Light"/>
                <a:cs typeface="Poppins Light"/>
                <a:sym typeface="Poppins Light"/>
              </a:rPr>
              <a:t>STRATEGIES &amp;</a:t>
            </a:r>
          </a:p>
          <a:p>
            <a:pPr algn="l">
              <a:lnSpc>
                <a:spcPts val="7500"/>
              </a:lnSpc>
            </a:pPr>
            <a:r>
              <a:rPr lang="en-US" sz="7500">
                <a:solidFill>
                  <a:srgbClr val="FFFFFF"/>
                </a:solidFill>
                <a:latin typeface="Poppins Light"/>
                <a:ea typeface="Poppins Light"/>
                <a:cs typeface="Poppins Light"/>
                <a:sym typeface="Poppins Light"/>
              </a:rPr>
              <a:t>INFLUENCING </a:t>
            </a:r>
          </a:p>
          <a:p>
            <a:pPr algn="l">
              <a:lnSpc>
                <a:spcPts val="7500"/>
              </a:lnSpc>
            </a:pPr>
            <a:r>
              <a:rPr lang="en-US" sz="7500">
                <a:solidFill>
                  <a:srgbClr val="FFFFFF"/>
                </a:solidFill>
                <a:latin typeface="Poppins Light"/>
                <a:ea typeface="Poppins Light"/>
                <a:cs typeface="Poppins Light"/>
                <a:sym typeface="Poppins Light"/>
              </a:rPr>
              <a:t>TACTICS</a:t>
            </a:r>
          </a:p>
        </p:txBody>
      </p:sp>
      <p:sp>
        <p:nvSpPr>
          <p:cNvPr id="9" name="TextBox 9"/>
          <p:cNvSpPr txBox="1"/>
          <p:nvPr/>
        </p:nvSpPr>
        <p:spPr>
          <a:xfrm>
            <a:off x="17516638" y="9368528"/>
            <a:ext cx="570161" cy="842646"/>
          </a:xfrm>
          <a:prstGeom prst="rect">
            <a:avLst/>
          </a:prstGeom>
        </p:spPr>
        <p:txBody>
          <a:bodyPr lIns="0" tIns="0" rIns="0" bIns="0" rtlCol="0" anchor="t">
            <a:spAutoFit/>
          </a:bodyPr>
          <a:lstStyle/>
          <a:p>
            <a:pPr algn="ctr">
              <a:lnSpc>
                <a:spcPts val="6579"/>
              </a:lnSpc>
              <a:spcBef>
                <a:spcPct val="0"/>
              </a:spcBef>
            </a:pPr>
            <a:r>
              <a:rPr lang="en-US" sz="4699">
                <a:solidFill>
                  <a:srgbClr val="F5F2EF"/>
                </a:solidFill>
                <a:latin typeface="Poppins"/>
                <a:ea typeface="Poppins"/>
                <a:cs typeface="Poppins"/>
                <a:sym typeface="Poppins"/>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1125</Words>
  <Application>Microsoft Office PowerPoint</Application>
  <PresentationFormat>Custom</PresentationFormat>
  <Paragraphs>178</Paragraphs>
  <Slides>16</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Poppins Light</vt:lpstr>
      <vt:lpstr>Arial</vt:lpstr>
      <vt:lpstr>Poppins Bold</vt:lpstr>
      <vt:lpstr>Poppins</vt:lpstr>
      <vt:lpstr>Calibri</vt:lpstr>
      <vt:lpstr>DM Sans Bold</vt:lpstr>
      <vt:lpstr>DM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2 (T8)</dc:title>
  <cp:lastModifiedBy>Ethan Smith</cp:lastModifiedBy>
  <cp:revision>2</cp:revision>
  <dcterms:created xsi:type="dcterms:W3CDTF">2006-08-16T00:00:00Z</dcterms:created>
  <dcterms:modified xsi:type="dcterms:W3CDTF">2025-12-04T13:31:44Z</dcterms:modified>
  <dc:identifier>DAG6Y1jO1Ig</dc:identifier>
</cp:coreProperties>
</file>