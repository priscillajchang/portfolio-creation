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2.xml" ContentType="application/inkml+xml"/>
  <Override PartName="/ppt/ink/ink3.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3" r:id="rId4"/>
  </p:sldMasterIdLst>
  <p:notesMasterIdLst>
    <p:notesMasterId r:id="rId25"/>
  </p:notesMasterIdLst>
  <p:sldIdLst>
    <p:sldId id="256" r:id="rId5"/>
    <p:sldId id="262" r:id="rId6"/>
    <p:sldId id="263" r:id="rId7"/>
    <p:sldId id="352" r:id="rId8"/>
    <p:sldId id="354" r:id="rId9"/>
    <p:sldId id="355" r:id="rId10"/>
    <p:sldId id="295" r:id="rId11"/>
    <p:sldId id="277" r:id="rId12"/>
    <p:sldId id="271" r:id="rId13"/>
    <p:sldId id="276" r:id="rId14"/>
    <p:sldId id="357" r:id="rId15"/>
    <p:sldId id="358" r:id="rId16"/>
    <p:sldId id="363" r:id="rId17"/>
    <p:sldId id="369" r:id="rId18"/>
    <p:sldId id="366" r:id="rId19"/>
    <p:sldId id="368" r:id="rId20"/>
    <p:sldId id="364" r:id="rId21"/>
    <p:sldId id="359" r:id="rId22"/>
    <p:sldId id="360" r:id="rId23"/>
    <p:sldId id="362" r:id="rId24"/>
  </p:sldIdLst>
  <p:sldSz cx="9144000" cy="5143500" type="screen16x9"/>
  <p:notesSz cx="6858000" cy="9144000"/>
  <p:embeddedFontLst>
    <p:embeddedFont>
      <p:font typeface="Merriweather Light" panose="00000400000000000000" pitchFamily="2" charset="77"/>
      <p:regular r:id="rId26"/>
      <p:italic r:id="rId27"/>
    </p:embeddedFont>
    <p:embeddedFont>
      <p:font typeface="Montserrat" pitchFamily="2" charset="77"/>
      <p:regular r:id="rId28"/>
      <p:bold r:id="rId29"/>
      <p:italic r:id="rId30"/>
      <p:boldItalic r:id="rId31"/>
    </p:embeddedFont>
    <p:embeddedFont>
      <p:font typeface="Open Sans" panose="020B0606030504020204" pitchFamily="34" charset="0"/>
      <p:regular r:id="rId32"/>
      <p:bold r:id="rId33"/>
      <p:italic r:id="rId34"/>
      <p:boldItalic r:id="rId35"/>
    </p:embeddedFont>
    <p:embeddedFont>
      <p:font typeface="Vidaloka" panose="02000504000000020004"/>
      <p:regular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EEFF"/>
    <a:srgbClr val="B4CB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112B69-DE3D-73E5-FFA1-E5FC0C2A7A57}" v="936" dt="2026-04-12T00:47:03.701"/>
  </p1510:revLst>
</p1510:revInfo>
</file>

<file path=ppt/tableStyles.xml><?xml version="1.0" encoding="utf-8"?>
<a:tblStyleLst xmlns:a="http://schemas.openxmlformats.org/drawingml/2006/main" def="{D3734E0F-8491-4B21-B17C-9BF398E11E08}">
  <a:tblStyle styleId="{D3734E0F-8491-4B21-B17C-9BF398E11E0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1"/>
  </p:normalViewPr>
  <p:slideViewPr>
    <p:cSldViewPr snapToGrid="0">
      <p:cViewPr varScale="1">
        <p:scale>
          <a:sx n="137" d="100"/>
          <a:sy n="137" d="100"/>
        </p:scale>
        <p:origin x="82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1.fntdata"/><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font" Target="fonts/font9.fntdata"/><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4.fntdata"/><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7.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6.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7T20:47:49.836"/>
    </inkml:context>
    <inkml:brush xml:id="br0">
      <inkml:brushProperty name="width" value="0.1" units="cm"/>
      <inkml:brushProperty name="height" value="0.1" units="cm"/>
    </inkml:brush>
  </inkml:definitions>
  <inkml:trace contextRef="#ctx0" brushRef="#br0">15425 8664 16383 0 0,'0'2'0'0'0,"-1"1"0"0"0,1 3 0 0 0,2 6 0 0 0,5 3 0 0 0,5 8 0 0 0,5 2 0 0 0,3 5 0 0 0,4-3 0 0 0,1-2 0 0 0,3-5 0 0 0,2-6 0 0 0,4-4 0 0 0,5-4 0 0 0,2-5 0 0 0,1-1 0 0 0,-2-1 0 0 0,-2 1 0 0 0,-4-2 0 0 0,-2 2 0 0 0,-3-2 0 0 0,0 2 0 0 0,-1 0 0 0 0,1 0 0 0 0,3-2 0 0 0,4 1 0 0 0,2-3 0 0 0,4 2 0 0 0,5 1 0 0 0,2 2 0 0 0,2 12 0 0 0,0 9 0 0 0,0 14 0 0 0,-2 12 0 0 0,-1 11 0 0 0,-3 3 0 0 0,-7-1 0 0 0,-5-3 0 0 0,-7-4 0 0 0,-5-6 0 0 0,-6-5 0 0 0,-5-3 0 0 0,-3-6 0 0 0,-3-1 0 0 0,-2-5 0 0 0,-2-4 0 0 0,1-5 0 0 0,-1-2 0 0 0,-1-7 0 0 0,-3-3 0 0 0,-7-3 0 0 0,-5-3 0 0 0,-5-1 0 0 0,-6 0 0 0 0,-8 0 0 0 0,-5-1 0 0 0,0 1 0 0 0,0-2 0 0 0,5 2 0 0 0,4 0 0 0 0,7 0 0 0 0,6 0 0 0 0,11 0 0 0 0,11 0 0 0 0,12 0 0 0 0,8 0 0 0 0,6 0 0 0 0,4 0 0 0 0,-1-2 0 0 0,0-1 0 0 0,-3-2 0 0 0,-1-1 0 0 0,-3 1 0 0 0,-1 2 0 0 0,-1 1 0 0 0,-2 0 0 0 0,-2 2 0 0 0,0 0 0 0 0,-2 0 0 0 0,-3 0 0 0 0,-3 0 0 0 0,-3-1 0 0 0,-4-5 0 0 0,-3 0 0 0 0,-1-5 0 0 0,-1-4 0 0 0,-1-8 0 0 0,1-3 0 0 0,-1-1 0 0 0,0-3 0 0 0,1 1 0 0 0,0-2 0 0 0,0 0 0 0 0,0 0 0 0 0,0 2 0 0 0,0-1 0 0 0,0 4 0 0 0,0 6 0 0 0,0 3 0 0 0,0 3 0 0 0,0 0 0 0 0,0 0 0 0 0,0 2 0 0 0,0 0 0 0 0,0-2 0 0 0,0 0 0 0 0,0-1 0 0 0,0 1 0 0 0,0 0 0 0 0,0 1 0 0 0,0-1 0 0 0,0 0 0 0 0,0 0 0 0 0,0 2 0 0 0,0-2 0 0 0,0 4 0 0 0,0 5 0 0 0,0 5 0 0 0,0 8 0 0 0,0 8 0 0 0,0 8 0 0 0,0 14 0 0 0,0 10 0 0 0,-1 7 0 0 0,1 6 0 0 0,-2-6 0 0 0,0-2 0 0 0,-1-6 0 0 0,0-9 0 0 0,1-5 0 0 0,-2-6 0 0 0,2-4 0 0 0,-2-3 0 0 0,0-1 0 0 0,0-3 0 0 0,2-2 0 0 0,-2-4 0 0 0,-3-3 0 0 0,-1-2 0 0 0,-6-3 0 0 0,-4-2 0 0 0,-5 0 0 0 0,-3 0 0 0 0,-2-2 0 0 0,0 2 0 0 0,4 0 0 0 0,6-2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7T20:17:30.417"/>
    </inkml:context>
    <inkml:brush xml:id="br0">
      <inkml:brushProperty name="width" value="0.1" units="cm"/>
      <inkml:brushProperty name="height" value="0.1" units="cm"/>
    </inkml:brush>
  </inkml:definitions>
  <inkml:trace contextRef="#ctx0" brushRef="#br0">15425 9201 16383 0 0,'0'-1'0'0'0,"-1"-1"0"0"0,1-1 0 0 0,2-4 0 0 0,6-2 0 0 0,4-4 0 0 0,6-2 0 0 0,4-2 0 0 0,3 1 0 0 0,2 2 0 0 0,3 2 0 0 0,2 4 0 0 0,4 2 0 0 0,5 3 0 0 0,3 2 0 0 0,0 1 0 0 0,-1 1 0 0 0,-3-1 0 0 0,-3 1 0 0 0,-3-1 0 0 0,-3 1 0 0 0,-1-1 0 0 0,0 0 0 0 0,1 0 0 0 0,3 1 0 0 0,4 0 0 0 0,3 1 0 0 0,4-1 0 0 0,4 0 0 0 0,4-2 0 0 0,1-6 0 0 0,0-6 0 0 0,0-8 0 0 0,-1-7 0 0 0,-2-6 0 0 0,-4-2 0 0 0,-6 1 0 0 0,-6 1 0 0 0,-7 3 0 0 0,-6 3 0 0 0,-6 3 0 0 0,-5 2 0 0 0,-4 3 0 0 0,-3 1 0 0 0,-2 3 0 0 0,-1 2 0 0 0,0 3 0 0 0,-1 1 0 0 0,-1 4 0 0 0,-4 2 0 0 0,-6 2 0 0 0,-6 1 0 0 0,-6 1 0 0 0,-6 0 0 0 0,-8 0 0 0 0,-5 1 0 0 0,-1-1 0 0 0,1 1 0 0 0,4-1 0 0 0,5 0 0 0 0,8 0 0 0 0,6 0 0 0 0,11 0 0 0 0,12 0 0 0 0,13 0 0 0 0,9 0 0 0 0,6 0 0 0 0,4 0 0 0 0,-1 1 0 0 0,0 1 0 0 0,-3 1 0 0 0,-1 0 0 0 0,-3 0 0 0 0,-2-1 0 0 0,0-1 0 0 0,-3 0 0 0 0,-1-1 0 0 0,-1 0 0 0 0,-2 0 0 0 0,-3 0 0 0 0,-3 0 0 0 0,-4 1 0 0 0,-3 2 0 0 0,-4 1 0 0 0,-1 2 0 0 0,-1 3 0 0 0,-1 4 0 0 0,1 2 0 0 0,-1 1 0 0 0,0 1 0 0 0,1 0 0 0 0,0 1 0 0 0,0 0 0 0 0,0 0 0 0 0,0-1 0 0 0,0 0 0 0 0,0-2 0 0 0,0-3 0 0 0,0-2 0 0 0,0-2 0 0 0,0 0 0 0 0,0 0 0 0 0,0-1 0 0 0,0 0 0 0 0,0 1 0 0 0,0 0 0 0 0,0 1 0 0 0,0-1 0 0 0,0 0 0 0 0,0 0 0 0 0,0 0 0 0 0,0 0 0 0 0,0 0 0 0 0,0-1 0 0 0,0 1 0 0 0,0-2 0 0 0,0-3 0 0 0,0-3 0 0 0,0-5 0 0 0,0-4 0 0 0,0-5 0 0 0,0-8 0 0 0,0-6 0 0 0,-1-4 0 0 0,0-3 0 0 0,-1 3 0 0 0,0 1 0 0 0,-1 4 0 0 0,0 5 0 0 0,1 3 0 0 0,-2 3 0 0 0,1 3 0 0 0,-1 1 0 0 0,0 1 0 0 0,0 2 0 0 0,1 1 0 0 0,-1 2 0 0 0,-3 2 0 0 0,-2 1 0 0 0,-6 2 0 0 0,-4 1 0 0 0,-5 0 0 0 0,-4 0 0 0 0,-2 1 0 0 0,1-1 0 0 0,3 0 0 0 0,7 1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07T20:17:30.418"/>
    </inkml:context>
    <inkml:brush xml:id="br0">
      <inkml:brushProperty name="width" value="0.1" units="cm"/>
      <inkml:brushProperty name="height" value="0.1" units="cm"/>
    </inkml:brush>
  </inkml:definitions>
  <inkml:trace contextRef="#ctx0" brushRef="#br0">30712 498 16383 0 0,'-1'1'0'0'0,"0"1"0"0"0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80" name="Google Shape;48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cd8a80d6b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44" name="Google Shape;544;gcd8a80d6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105aad17dc0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51" name="Google Shape;551;g105aad17dc0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a:extLst>
            <a:ext uri="{FF2B5EF4-FFF2-40B4-BE49-F238E27FC236}">
              <a16:creationId xmlns:a16="http://schemas.microsoft.com/office/drawing/2014/main" id="{EEEFB862-D258-CEA4-DC80-CE8B9009DBBE}"/>
            </a:ext>
          </a:extLst>
        </p:cNvPr>
        <p:cNvGrpSpPr/>
        <p:nvPr/>
      </p:nvGrpSpPr>
      <p:grpSpPr>
        <a:xfrm>
          <a:off x="0" y="0"/>
          <a:ext cx="0" cy="0"/>
          <a:chOff x="0" y="0"/>
          <a:chExt cx="0" cy="0"/>
        </a:xfrm>
      </p:grpSpPr>
      <p:sp>
        <p:nvSpPr>
          <p:cNvPr id="543" name="Google Shape;543;gcd8a80d6bc_0_0:notes">
            <a:extLst>
              <a:ext uri="{FF2B5EF4-FFF2-40B4-BE49-F238E27FC236}">
                <a16:creationId xmlns:a16="http://schemas.microsoft.com/office/drawing/2014/main" id="{73E063AB-67AA-7DA5-5E47-4562A04A07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44" name="Google Shape;544;gcd8a80d6bc_0_0:notes">
            <a:extLst>
              <a:ext uri="{FF2B5EF4-FFF2-40B4-BE49-F238E27FC236}">
                <a16:creationId xmlns:a16="http://schemas.microsoft.com/office/drawing/2014/main" id="{49D6A843-5284-6D0E-2C65-093A495D1E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31539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a:extLst>
            <a:ext uri="{FF2B5EF4-FFF2-40B4-BE49-F238E27FC236}">
              <a16:creationId xmlns:a16="http://schemas.microsoft.com/office/drawing/2014/main" id="{3C3CC5B0-8FD2-6A72-93CC-F05BD2D6C0E8}"/>
            </a:ext>
          </a:extLst>
        </p:cNvPr>
        <p:cNvGrpSpPr/>
        <p:nvPr/>
      </p:nvGrpSpPr>
      <p:grpSpPr>
        <a:xfrm>
          <a:off x="0" y="0"/>
          <a:ext cx="0" cy="0"/>
          <a:chOff x="0" y="0"/>
          <a:chExt cx="0" cy="0"/>
        </a:xfrm>
      </p:grpSpPr>
      <p:sp>
        <p:nvSpPr>
          <p:cNvPr id="543" name="Google Shape;543;gcd8a80d6bc_0_0:notes">
            <a:extLst>
              <a:ext uri="{FF2B5EF4-FFF2-40B4-BE49-F238E27FC236}">
                <a16:creationId xmlns:a16="http://schemas.microsoft.com/office/drawing/2014/main" id="{9088CD21-A9F2-0D3C-EF20-75AAEDC2BE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44" name="Google Shape;544;gcd8a80d6bc_0_0:notes">
            <a:extLst>
              <a:ext uri="{FF2B5EF4-FFF2-40B4-BE49-F238E27FC236}">
                <a16:creationId xmlns:a16="http://schemas.microsoft.com/office/drawing/2014/main" id="{44603AC3-A44D-2FFB-0F11-EFF1239829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81624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a:extLst>
            <a:ext uri="{FF2B5EF4-FFF2-40B4-BE49-F238E27FC236}">
              <a16:creationId xmlns:a16="http://schemas.microsoft.com/office/drawing/2014/main" id="{FF9752C2-30A8-3F56-96EF-22E766CFD5E5}"/>
            </a:ext>
          </a:extLst>
        </p:cNvPr>
        <p:cNvGrpSpPr/>
        <p:nvPr/>
      </p:nvGrpSpPr>
      <p:grpSpPr>
        <a:xfrm>
          <a:off x="0" y="0"/>
          <a:ext cx="0" cy="0"/>
          <a:chOff x="0" y="0"/>
          <a:chExt cx="0" cy="0"/>
        </a:xfrm>
      </p:grpSpPr>
      <p:sp>
        <p:nvSpPr>
          <p:cNvPr id="550" name="Google Shape;550;g105aad17dc0_0_95:notes">
            <a:extLst>
              <a:ext uri="{FF2B5EF4-FFF2-40B4-BE49-F238E27FC236}">
                <a16:creationId xmlns:a16="http://schemas.microsoft.com/office/drawing/2014/main" id="{1645CCA5-9354-DE7C-4649-5FDB081822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51" name="Google Shape;551;g105aad17dc0_0_95:notes">
            <a:extLst>
              <a:ext uri="{FF2B5EF4-FFF2-40B4-BE49-F238E27FC236}">
                <a16:creationId xmlns:a16="http://schemas.microsoft.com/office/drawing/2014/main" id="{A0244A1A-994A-01B4-9308-F1F10269A6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775904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1"/>
        <p:cNvGrpSpPr/>
        <p:nvPr/>
      </p:nvGrpSpPr>
      <p:grpSpPr>
        <a:xfrm>
          <a:off x="0" y="0"/>
          <a:ext cx="0" cy="0"/>
          <a:chOff x="0" y="0"/>
          <a:chExt cx="0" cy="0"/>
        </a:xfrm>
      </p:grpSpPr>
      <p:sp>
        <p:nvSpPr>
          <p:cNvPr id="1142" name="Google Shape;1142;g107aaa41fe9_0_5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43" name="Google Shape;1143;g107aaa41fe9_0_5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107aaa41fe9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694" name="Google Shape;694;g107aaa41fe9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g107a9a8b46f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635" name="Google Shape;635;g107a9a8b46f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cc7554a049_0_3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671" name="Google Shape;671;gcc7554a049_0_3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a:extLst>
            <a:ext uri="{FF2B5EF4-FFF2-40B4-BE49-F238E27FC236}">
              <a16:creationId xmlns:a16="http://schemas.microsoft.com/office/drawing/2014/main" id="{CBDBDBFF-4C13-8849-5E95-99E98DA5EBD3}"/>
            </a:ext>
          </a:extLst>
        </p:cNvPr>
        <p:cNvGrpSpPr/>
        <p:nvPr/>
      </p:nvGrpSpPr>
      <p:grpSpPr>
        <a:xfrm>
          <a:off x="0" y="0"/>
          <a:ext cx="0" cy="0"/>
          <a:chOff x="0" y="0"/>
          <a:chExt cx="0" cy="0"/>
        </a:xfrm>
      </p:grpSpPr>
      <p:sp>
        <p:nvSpPr>
          <p:cNvPr id="670" name="Google Shape;670;gcc7554a049_0_392:notes">
            <a:extLst>
              <a:ext uri="{FF2B5EF4-FFF2-40B4-BE49-F238E27FC236}">
                <a16:creationId xmlns:a16="http://schemas.microsoft.com/office/drawing/2014/main" id="{08479E3A-5C8A-F482-F616-A153D1EEB0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671" name="Google Shape;671;gcc7554a049_0_392:notes">
            <a:extLst>
              <a:ext uri="{FF2B5EF4-FFF2-40B4-BE49-F238E27FC236}">
                <a16:creationId xmlns:a16="http://schemas.microsoft.com/office/drawing/2014/main" id="{55EEF9E6-9B58-6D7D-7522-C66D1CDD8E1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924027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a:extLst>
            <a:ext uri="{FF2B5EF4-FFF2-40B4-BE49-F238E27FC236}">
              <a16:creationId xmlns:a16="http://schemas.microsoft.com/office/drawing/2014/main" id="{9DCF7146-A9CC-FAA2-8425-85D30CD2DC0B}"/>
            </a:ext>
          </a:extLst>
        </p:cNvPr>
        <p:cNvGrpSpPr/>
        <p:nvPr/>
      </p:nvGrpSpPr>
      <p:grpSpPr>
        <a:xfrm>
          <a:off x="0" y="0"/>
          <a:ext cx="0" cy="0"/>
          <a:chOff x="0" y="0"/>
          <a:chExt cx="0" cy="0"/>
        </a:xfrm>
      </p:grpSpPr>
      <p:sp>
        <p:nvSpPr>
          <p:cNvPr id="543" name="Google Shape;543;gcd8a80d6bc_0_0:notes">
            <a:extLst>
              <a:ext uri="{FF2B5EF4-FFF2-40B4-BE49-F238E27FC236}">
                <a16:creationId xmlns:a16="http://schemas.microsoft.com/office/drawing/2014/main" id="{2EAD445A-841E-BAEA-B2B0-52FA1E9B3C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44" name="Google Shape;544;gcd8a80d6bc_0_0:notes">
            <a:extLst>
              <a:ext uri="{FF2B5EF4-FFF2-40B4-BE49-F238E27FC236}">
                <a16:creationId xmlns:a16="http://schemas.microsoft.com/office/drawing/2014/main" id="{A4BA953C-DBEA-A037-CD89-7EF465C4BC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18715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a:extLst>
            <a:ext uri="{FF2B5EF4-FFF2-40B4-BE49-F238E27FC236}">
              <a16:creationId xmlns:a16="http://schemas.microsoft.com/office/drawing/2014/main" id="{884FFBF7-9FE1-31E3-60E4-D5E65172A1B0}"/>
            </a:ext>
          </a:extLst>
        </p:cNvPr>
        <p:cNvGrpSpPr/>
        <p:nvPr/>
      </p:nvGrpSpPr>
      <p:grpSpPr>
        <a:xfrm>
          <a:off x="0" y="0"/>
          <a:ext cx="0" cy="0"/>
          <a:chOff x="0" y="0"/>
          <a:chExt cx="0" cy="0"/>
        </a:xfrm>
      </p:grpSpPr>
      <p:sp>
        <p:nvSpPr>
          <p:cNvPr id="670" name="Google Shape;670;gcc7554a049_0_392:notes">
            <a:extLst>
              <a:ext uri="{FF2B5EF4-FFF2-40B4-BE49-F238E27FC236}">
                <a16:creationId xmlns:a16="http://schemas.microsoft.com/office/drawing/2014/main" id="{CE14CE3E-F52F-D795-C30F-A25C4DCF97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671" name="Google Shape;671;gcc7554a049_0_392:notes">
            <a:extLst>
              <a:ext uri="{FF2B5EF4-FFF2-40B4-BE49-F238E27FC236}">
                <a16:creationId xmlns:a16="http://schemas.microsoft.com/office/drawing/2014/main" id="{9495FBC4-CDE6-D953-1EE2-5888C0FAF0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590337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a:extLst>
            <a:ext uri="{FF2B5EF4-FFF2-40B4-BE49-F238E27FC236}">
              <a16:creationId xmlns:a16="http://schemas.microsoft.com/office/drawing/2014/main" id="{E2888FF2-2065-4E92-9009-FECD691EA610}"/>
            </a:ext>
          </a:extLst>
        </p:cNvPr>
        <p:cNvGrpSpPr/>
        <p:nvPr/>
      </p:nvGrpSpPr>
      <p:grpSpPr>
        <a:xfrm>
          <a:off x="0" y="0"/>
          <a:ext cx="0" cy="0"/>
          <a:chOff x="0" y="0"/>
          <a:chExt cx="0" cy="0"/>
        </a:xfrm>
      </p:grpSpPr>
      <p:sp>
        <p:nvSpPr>
          <p:cNvPr id="670" name="Google Shape;670;gcc7554a049_0_392:notes">
            <a:extLst>
              <a:ext uri="{FF2B5EF4-FFF2-40B4-BE49-F238E27FC236}">
                <a16:creationId xmlns:a16="http://schemas.microsoft.com/office/drawing/2014/main" id="{E95EBDBA-9BDA-BDD3-A0F0-91EA4B5FA8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671" name="Google Shape;671;gcc7554a049_0_392:notes">
            <a:extLst>
              <a:ext uri="{FF2B5EF4-FFF2-40B4-BE49-F238E27FC236}">
                <a16:creationId xmlns:a16="http://schemas.microsoft.com/office/drawing/2014/main" id="{0A6805F1-42A2-E25C-3C00-20556F2CD0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8308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a:extLst>
            <a:ext uri="{FF2B5EF4-FFF2-40B4-BE49-F238E27FC236}">
              <a16:creationId xmlns:a16="http://schemas.microsoft.com/office/drawing/2014/main" id="{15020C22-8084-5BD6-C406-9A523495F8C9}"/>
            </a:ext>
          </a:extLst>
        </p:cNvPr>
        <p:cNvGrpSpPr/>
        <p:nvPr/>
      </p:nvGrpSpPr>
      <p:grpSpPr>
        <a:xfrm>
          <a:off x="0" y="0"/>
          <a:ext cx="0" cy="0"/>
          <a:chOff x="0" y="0"/>
          <a:chExt cx="0" cy="0"/>
        </a:xfrm>
      </p:grpSpPr>
      <p:sp>
        <p:nvSpPr>
          <p:cNvPr id="543" name="Google Shape;543;gcd8a80d6bc_0_0:notes">
            <a:extLst>
              <a:ext uri="{FF2B5EF4-FFF2-40B4-BE49-F238E27FC236}">
                <a16:creationId xmlns:a16="http://schemas.microsoft.com/office/drawing/2014/main" id="{087FBDA0-E39D-0890-A93B-478FF27425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44" name="Google Shape;544;gcd8a80d6bc_0_0:notes">
            <a:extLst>
              <a:ext uri="{FF2B5EF4-FFF2-40B4-BE49-F238E27FC236}">
                <a16:creationId xmlns:a16="http://schemas.microsoft.com/office/drawing/2014/main" id="{2A19A626-3AE0-0A1B-A8ED-0AED8DE083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627757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a:extLst>
            <a:ext uri="{FF2B5EF4-FFF2-40B4-BE49-F238E27FC236}">
              <a16:creationId xmlns:a16="http://schemas.microsoft.com/office/drawing/2014/main" id="{5309F1D5-C8C2-383E-2D81-8B82690A1289}"/>
            </a:ext>
          </a:extLst>
        </p:cNvPr>
        <p:cNvGrpSpPr/>
        <p:nvPr/>
      </p:nvGrpSpPr>
      <p:grpSpPr>
        <a:xfrm>
          <a:off x="0" y="0"/>
          <a:ext cx="0" cy="0"/>
          <a:chOff x="0" y="0"/>
          <a:chExt cx="0" cy="0"/>
        </a:xfrm>
      </p:grpSpPr>
      <p:sp>
        <p:nvSpPr>
          <p:cNvPr id="543" name="Google Shape;543;gcd8a80d6bc_0_0:notes">
            <a:extLst>
              <a:ext uri="{FF2B5EF4-FFF2-40B4-BE49-F238E27FC236}">
                <a16:creationId xmlns:a16="http://schemas.microsoft.com/office/drawing/2014/main" id="{1870652C-FE97-632A-A28D-A93255CF7C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44" name="Google Shape;544;gcd8a80d6bc_0_0:notes">
            <a:extLst>
              <a:ext uri="{FF2B5EF4-FFF2-40B4-BE49-F238E27FC236}">
                <a16:creationId xmlns:a16="http://schemas.microsoft.com/office/drawing/2014/main" id="{84549221-DC8B-2A28-C8B1-6142507F01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724725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a:extLst>
            <a:ext uri="{FF2B5EF4-FFF2-40B4-BE49-F238E27FC236}">
              <a16:creationId xmlns:a16="http://schemas.microsoft.com/office/drawing/2014/main" id="{F0815388-3C08-7D26-5197-C57C7BD2E4A6}"/>
            </a:ext>
          </a:extLst>
        </p:cNvPr>
        <p:cNvGrpSpPr/>
        <p:nvPr/>
      </p:nvGrpSpPr>
      <p:grpSpPr>
        <a:xfrm>
          <a:off x="0" y="0"/>
          <a:ext cx="0" cy="0"/>
          <a:chOff x="0" y="0"/>
          <a:chExt cx="0" cy="0"/>
        </a:xfrm>
      </p:grpSpPr>
      <p:sp>
        <p:nvSpPr>
          <p:cNvPr id="543" name="Google Shape;543;gcd8a80d6bc_0_0:notes">
            <a:extLst>
              <a:ext uri="{FF2B5EF4-FFF2-40B4-BE49-F238E27FC236}">
                <a16:creationId xmlns:a16="http://schemas.microsoft.com/office/drawing/2014/main" id="{B9275620-7F4B-EEEC-6B1C-D3517CFE8E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44" name="Google Shape;544;gcd8a80d6bc_0_0:notes">
            <a:extLst>
              <a:ext uri="{FF2B5EF4-FFF2-40B4-BE49-F238E27FC236}">
                <a16:creationId xmlns:a16="http://schemas.microsoft.com/office/drawing/2014/main" id="{AA30800F-B780-ABA7-AD1F-DEBDB30E15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445782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a:extLst>
            <a:ext uri="{FF2B5EF4-FFF2-40B4-BE49-F238E27FC236}">
              <a16:creationId xmlns:a16="http://schemas.microsoft.com/office/drawing/2014/main" id="{719BA979-D9B0-687A-43D2-0A09A45344C6}"/>
            </a:ext>
          </a:extLst>
        </p:cNvPr>
        <p:cNvGrpSpPr/>
        <p:nvPr/>
      </p:nvGrpSpPr>
      <p:grpSpPr>
        <a:xfrm>
          <a:off x="0" y="0"/>
          <a:ext cx="0" cy="0"/>
          <a:chOff x="0" y="0"/>
          <a:chExt cx="0" cy="0"/>
        </a:xfrm>
      </p:grpSpPr>
      <p:sp>
        <p:nvSpPr>
          <p:cNvPr id="670" name="Google Shape;670;gcc7554a049_0_392:notes">
            <a:extLst>
              <a:ext uri="{FF2B5EF4-FFF2-40B4-BE49-F238E27FC236}">
                <a16:creationId xmlns:a16="http://schemas.microsoft.com/office/drawing/2014/main" id="{70284953-59B4-09B7-8390-353309945D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671" name="Google Shape;671;gcc7554a049_0_392:notes">
            <a:extLst>
              <a:ext uri="{FF2B5EF4-FFF2-40B4-BE49-F238E27FC236}">
                <a16:creationId xmlns:a16="http://schemas.microsoft.com/office/drawing/2014/main" id="{31D289C2-6379-D42A-72C0-7B629654BF8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544587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a:extLst>
            <a:ext uri="{FF2B5EF4-FFF2-40B4-BE49-F238E27FC236}">
              <a16:creationId xmlns:a16="http://schemas.microsoft.com/office/drawing/2014/main" id="{CA0BC6B3-5AC8-7189-283C-8C30C210C2F3}"/>
            </a:ext>
          </a:extLst>
        </p:cNvPr>
        <p:cNvGrpSpPr/>
        <p:nvPr/>
      </p:nvGrpSpPr>
      <p:grpSpPr>
        <a:xfrm>
          <a:off x="0" y="0"/>
          <a:ext cx="0" cy="0"/>
          <a:chOff x="0" y="0"/>
          <a:chExt cx="0" cy="0"/>
        </a:xfrm>
      </p:grpSpPr>
      <p:sp>
        <p:nvSpPr>
          <p:cNvPr id="670" name="Google Shape;670;gcc7554a049_0_392:notes">
            <a:extLst>
              <a:ext uri="{FF2B5EF4-FFF2-40B4-BE49-F238E27FC236}">
                <a16:creationId xmlns:a16="http://schemas.microsoft.com/office/drawing/2014/main" id="{BB301B2A-9884-227C-6955-86A341CCBF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671" name="Google Shape;671;gcc7554a049_0_392:notes">
            <a:extLst>
              <a:ext uri="{FF2B5EF4-FFF2-40B4-BE49-F238E27FC236}">
                <a16:creationId xmlns:a16="http://schemas.microsoft.com/office/drawing/2014/main" id="{104A8437-BF64-9659-1403-777E4002F8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631687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a:extLst>
            <a:ext uri="{FF2B5EF4-FFF2-40B4-BE49-F238E27FC236}">
              <a16:creationId xmlns:a16="http://schemas.microsoft.com/office/drawing/2014/main" id="{B4758B2A-7EE9-31F5-9BA6-3D77B633F4E4}"/>
            </a:ext>
          </a:extLst>
        </p:cNvPr>
        <p:cNvGrpSpPr/>
        <p:nvPr/>
      </p:nvGrpSpPr>
      <p:grpSpPr>
        <a:xfrm>
          <a:off x="0" y="0"/>
          <a:ext cx="0" cy="0"/>
          <a:chOff x="0" y="0"/>
          <a:chExt cx="0" cy="0"/>
        </a:xfrm>
      </p:grpSpPr>
      <p:sp>
        <p:nvSpPr>
          <p:cNvPr id="670" name="Google Shape;670;gcc7554a049_0_392:notes">
            <a:extLst>
              <a:ext uri="{FF2B5EF4-FFF2-40B4-BE49-F238E27FC236}">
                <a16:creationId xmlns:a16="http://schemas.microsoft.com/office/drawing/2014/main" id="{CB3711FB-28FE-9DD6-BA8F-E72D360FEA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671" name="Google Shape;671;gcc7554a049_0_392:notes">
            <a:extLst>
              <a:ext uri="{FF2B5EF4-FFF2-40B4-BE49-F238E27FC236}">
                <a16:creationId xmlns:a16="http://schemas.microsoft.com/office/drawing/2014/main" id="{AD70BBBD-FFB3-6111-DA63-22FE74FC20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00428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4" Type="http://schemas.openxmlformats.org/officeDocument/2006/relationships/hyperlink" Target="https://www.freepik.com/" TargetMode="Externa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B4CBDC"/>
        </a:soli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039975" y="1248300"/>
            <a:ext cx="7064100" cy="2052600"/>
          </a:xfrm>
          <a:prstGeom prst="rect">
            <a:avLst/>
          </a:prstGeom>
        </p:spPr>
        <p:txBody>
          <a:bodyPr spcFirstLastPara="1" wrap="square" lIns="91425" tIns="91425" rIns="91425" bIns="91425" anchor="t" anchorCtr="0">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1040000" y="3300900"/>
            <a:ext cx="7064100" cy="4419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cxnSp>
        <p:nvCxnSpPr>
          <p:cNvPr id="11" name="Google Shape;11;p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 name="Google Shape;12;p2"/>
          <p:cNvCxnSpPr>
            <a:cxnSpLocks/>
          </p:cNvCxnSpPr>
          <p:nvPr/>
        </p:nvCxnSpPr>
        <p:spPr>
          <a:xfrm rot="10800000" flipV="1">
            <a:off x="2" y="0"/>
            <a:ext cx="2759382" cy="12483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 name="Google Shape;13;p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 name="Google Shape;14;p2"/>
          <p:cNvCxnSpPr>
            <a:cxnSpLocks/>
          </p:cNvCxnSpPr>
          <p:nvPr/>
        </p:nvCxnSpPr>
        <p:spPr>
          <a:xfrm rot="10800000" flipV="1">
            <a:off x="6271330" y="3957004"/>
            <a:ext cx="2872671" cy="1186493"/>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1_Title only">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cxnSp>
        <p:nvCxnSpPr>
          <p:cNvPr id="40" name="Google Shape;40;p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1" name="Google Shape;41;p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54"/>
        <p:cNvGrpSpPr/>
        <p:nvPr/>
      </p:nvGrpSpPr>
      <p:grpSpPr>
        <a:xfrm>
          <a:off x="0" y="0"/>
          <a:ext cx="0" cy="0"/>
          <a:chOff x="0" y="0"/>
          <a:chExt cx="0" cy="0"/>
        </a:xfrm>
      </p:grpSpPr>
      <p:sp>
        <p:nvSpPr>
          <p:cNvPr id="55" name="Google Shape;55;p9"/>
          <p:cNvSpPr txBox="1">
            <a:spLocks noGrp="1"/>
          </p:cNvSpPr>
          <p:nvPr>
            <p:ph type="subTitle" idx="1"/>
          </p:nvPr>
        </p:nvSpPr>
        <p:spPr>
          <a:xfrm>
            <a:off x="839305" y="1649632"/>
            <a:ext cx="3847200" cy="237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400"/>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sp>
        <p:nvSpPr>
          <p:cNvPr id="56" name="Google Shape;56;p9"/>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57" name="Google Shape;57;p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8" name="Google Shape;58;p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9" name="Google Shape;59;p9"/>
          <p:cNvCxnSpPr/>
          <p:nvPr/>
        </p:nvCxnSpPr>
        <p:spPr>
          <a:xfrm flipH="1">
            <a:off x="-1236003" y="-58991"/>
            <a:ext cx="3378000" cy="24669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25"/>
        <p:cNvGrpSpPr/>
        <p:nvPr/>
      </p:nvGrpSpPr>
      <p:grpSpPr>
        <a:xfrm>
          <a:off x="0" y="0"/>
          <a:ext cx="0" cy="0"/>
          <a:chOff x="0" y="0"/>
          <a:chExt cx="0" cy="0"/>
        </a:xfrm>
      </p:grpSpPr>
      <p:sp>
        <p:nvSpPr>
          <p:cNvPr id="126" name="Google Shape;126;p17"/>
          <p:cNvSpPr txBox="1">
            <a:spLocks noGrp="1"/>
          </p:cNvSpPr>
          <p:nvPr>
            <p:ph type="subTitle" idx="1"/>
          </p:nvPr>
        </p:nvSpPr>
        <p:spPr>
          <a:xfrm>
            <a:off x="2648400" y="1682000"/>
            <a:ext cx="3847200" cy="237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400"/>
            </a:lvl1pPr>
            <a:lvl2pPr lvl="1" algn="ctr" rtl="0">
              <a:spcBef>
                <a:spcPts val="0"/>
              </a:spcBef>
              <a:spcAft>
                <a:spcPts val="0"/>
              </a:spcAft>
              <a:buClr>
                <a:schemeClr val="dk1"/>
              </a:buClr>
              <a:buSzPts val="1400"/>
              <a:buChar char="○"/>
              <a:defRPr/>
            </a:lvl2pPr>
            <a:lvl3pPr lvl="2" algn="ctr" rtl="0">
              <a:spcBef>
                <a:spcPts val="0"/>
              </a:spcBef>
              <a:spcAft>
                <a:spcPts val="0"/>
              </a:spcAft>
              <a:buClr>
                <a:schemeClr val="dk1"/>
              </a:buClr>
              <a:buSzPts val="1400"/>
              <a:buChar char="■"/>
              <a:defRPr/>
            </a:lvl3pPr>
            <a:lvl4pPr lvl="3" algn="ctr" rtl="0">
              <a:spcBef>
                <a:spcPts val="0"/>
              </a:spcBef>
              <a:spcAft>
                <a:spcPts val="0"/>
              </a:spcAft>
              <a:buClr>
                <a:schemeClr val="dk1"/>
              </a:buClr>
              <a:buSzPts val="1400"/>
              <a:buChar char="●"/>
              <a:defRPr/>
            </a:lvl4pPr>
            <a:lvl5pPr lvl="4" algn="ctr" rtl="0">
              <a:spcBef>
                <a:spcPts val="0"/>
              </a:spcBef>
              <a:spcAft>
                <a:spcPts val="0"/>
              </a:spcAft>
              <a:buClr>
                <a:schemeClr val="dk1"/>
              </a:buClr>
              <a:buSzPts val="1400"/>
              <a:buChar char="○"/>
              <a:defRPr/>
            </a:lvl5pPr>
            <a:lvl6pPr lvl="5" algn="ctr" rtl="0">
              <a:spcBef>
                <a:spcPts val="0"/>
              </a:spcBef>
              <a:spcAft>
                <a:spcPts val="0"/>
              </a:spcAft>
              <a:buClr>
                <a:schemeClr val="dk1"/>
              </a:buClr>
              <a:buSzPts val="1400"/>
              <a:buChar char="■"/>
              <a:defRPr/>
            </a:lvl6pPr>
            <a:lvl7pPr lvl="6" algn="ctr" rtl="0">
              <a:spcBef>
                <a:spcPts val="0"/>
              </a:spcBef>
              <a:spcAft>
                <a:spcPts val="0"/>
              </a:spcAft>
              <a:buClr>
                <a:schemeClr val="dk1"/>
              </a:buClr>
              <a:buSzPts val="1400"/>
              <a:buChar char="●"/>
              <a:defRPr/>
            </a:lvl7pPr>
            <a:lvl8pPr lvl="7" algn="ctr" rtl="0">
              <a:spcBef>
                <a:spcPts val="0"/>
              </a:spcBef>
              <a:spcAft>
                <a:spcPts val="0"/>
              </a:spcAft>
              <a:buClr>
                <a:schemeClr val="dk1"/>
              </a:buClr>
              <a:buSzPts val="1400"/>
              <a:buChar char="○"/>
              <a:defRPr/>
            </a:lvl8pPr>
            <a:lvl9pPr lvl="8" algn="ctr" rtl="0">
              <a:spcBef>
                <a:spcPts val="0"/>
              </a:spcBef>
              <a:spcAft>
                <a:spcPts val="0"/>
              </a:spcAft>
              <a:buClr>
                <a:schemeClr val="dk1"/>
              </a:buClr>
              <a:buSzPts val="1400"/>
              <a:buChar char="■"/>
              <a:defRPr/>
            </a:lvl9pPr>
          </a:lstStyle>
          <a:p>
            <a:endParaRPr/>
          </a:p>
        </p:txBody>
      </p:sp>
      <p:sp>
        <p:nvSpPr>
          <p:cNvPr id="127" name="Google Shape;127;p17"/>
          <p:cNvSpPr txBox="1">
            <a:spLocks noGrp="1"/>
          </p:cNvSpPr>
          <p:nvPr>
            <p:ph type="title"/>
          </p:nvPr>
        </p:nvSpPr>
        <p:spPr>
          <a:xfrm>
            <a:off x="1732050" y="445025"/>
            <a:ext cx="56799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cxnSp>
        <p:nvCxnSpPr>
          <p:cNvPr id="128" name="Google Shape;128;p1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9" name="Google Shape;129;p1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30" name="Google Shape;130;p17"/>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1" name="Google Shape;131;p17"/>
          <p:cNvCxnSpPr/>
          <p:nvPr/>
        </p:nvCxnSpPr>
        <p:spPr>
          <a:xfrm>
            <a:off x="7670895" y="-42962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54"/>
        <p:cNvGrpSpPr/>
        <p:nvPr/>
      </p:nvGrpSpPr>
      <p:grpSpPr>
        <a:xfrm>
          <a:off x="0" y="0"/>
          <a:ext cx="0" cy="0"/>
          <a:chOff x="0" y="0"/>
          <a:chExt cx="0" cy="0"/>
        </a:xfrm>
      </p:grpSpPr>
      <p:sp>
        <p:nvSpPr>
          <p:cNvPr id="155" name="Google Shape;155;p21"/>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156" name="Google Shape;156;p2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57" name="Google Shape;157;p2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58" name="Google Shape;158;p21"/>
          <p:cNvCxnSpPr/>
          <p:nvPr/>
        </p:nvCxnSpPr>
        <p:spPr>
          <a:xfrm>
            <a:off x="7280178" y="-636900"/>
            <a:ext cx="2120400" cy="12738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59"/>
        <p:cNvGrpSpPr/>
        <p:nvPr/>
      </p:nvGrpSpPr>
      <p:grpSpPr>
        <a:xfrm>
          <a:off x="0" y="0"/>
          <a:ext cx="0" cy="0"/>
          <a:chOff x="0" y="0"/>
          <a:chExt cx="0" cy="0"/>
        </a:xfrm>
      </p:grpSpPr>
      <p:cxnSp>
        <p:nvCxnSpPr>
          <p:cNvPr id="160" name="Google Shape;160;p2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61" name="Google Shape;161;p2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62" name="Google Shape;162;p22"/>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63" name="Google Shape;163;p22"/>
          <p:cNvCxnSpPr/>
          <p:nvPr/>
        </p:nvCxnSpPr>
        <p:spPr>
          <a:xfrm>
            <a:off x="7643451" y="-416028"/>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64" name="Google Shape;164;p22"/>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65" name="Google Shape;165;p22"/>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166" name="Google Shape;166;p22"/>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167"/>
        <p:cNvGrpSpPr/>
        <p:nvPr/>
      </p:nvGrpSpPr>
      <p:grpSpPr>
        <a:xfrm>
          <a:off x="0" y="0"/>
          <a:ext cx="0" cy="0"/>
          <a:chOff x="0" y="0"/>
          <a:chExt cx="0" cy="0"/>
        </a:xfrm>
      </p:grpSpPr>
      <p:sp>
        <p:nvSpPr>
          <p:cNvPr id="168" name="Google Shape;168;p23"/>
          <p:cNvSpPr txBox="1">
            <a:spLocks noGrp="1"/>
          </p:cNvSpPr>
          <p:nvPr>
            <p:ph type="title"/>
          </p:nvPr>
        </p:nvSpPr>
        <p:spPr>
          <a:xfrm>
            <a:off x="1877475" y="445025"/>
            <a:ext cx="53892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69" name="Google Shape;169;p23"/>
          <p:cNvSpPr txBox="1">
            <a:spLocks noGrp="1"/>
          </p:cNvSpPr>
          <p:nvPr>
            <p:ph type="subTitle" idx="1"/>
          </p:nvPr>
        </p:nvSpPr>
        <p:spPr>
          <a:xfrm>
            <a:off x="3226708" y="1405390"/>
            <a:ext cx="2486100" cy="401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170" name="Google Shape;170;p23"/>
          <p:cNvSpPr txBox="1">
            <a:spLocks noGrp="1"/>
          </p:cNvSpPr>
          <p:nvPr>
            <p:ph type="subTitle" idx="2"/>
          </p:nvPr>
        </p:nvSpPr>
        <p:spPr>
          <a:xfrm>
            <a:off x="3226708" y="1806417"/>
            <a:ext cx="2486100" cy="618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71" name="Google Shape;171;p23"/>
          <p:cNvSpPr txBox="1">
            <a:spLocks noGrp="1"/>
          </p:cNvSpPr>
          <p:nvPr>
            <p:ph type="subTitle" idx="3"/>
          </p:nvPr>
        </p:nvSpPr>
        <p:spPr>
          <a:xfrm>
            <a:off x="719108" y="1405390"/>
            <a:ext cx="2486100" cy="401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172" name="Google Shape;172;p23"/>
          <p:cNvSpPr txBox="1">
            <a:spLocks noGrp="1"/>
          </p:cNvSpPr>
          <p:nvPr>
            <p:ph type="subTitle" idx="4"/>
          </p:nvPr>
        </p:nvSpPr>
        <p:spPr>
          <a:xfrm>
            <a:off x="719108" y="1806417"/>
            <a:ext cx="2486100" cy="618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73" name="Google Shape;173;p23"/>
          <p:cNvSpPr txBox="1">
            <a:spLocks noGrp="1"/>
          </p:cNvSpPr>
          <p:nvPr>
            <p:ph type="subTitle" idx="5"/>
          </p:nvPr>
        </p:nvSpPr>
        <p:spPr>
          <a:xfrm>
            <a:off x="3226708" y="3171118"/>
            <a:ext cx="2486100" cy="461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174" name="Google Shape;174;p23"/>
          <p:cNvSpPr txBox="1">
            <a:spLocks noGrp="1"/>
          </p:cNvSpPr>
          <p:nvPr>
            <p:ph type="subTitle" idx="6"/>
          </p:nvPr>
        </p:nvSpPr>
        <p:spPr>
          <a:xfrm>
            <a:off x="3226708" y="3565487"/>
            <a:ext cx="2486100" cy="618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75" name="Google Shape;175;p23"/>
          <p:cNvSpPr txBox="1">
            <a:spLocks noGrp="1"/>
          </p:cNvSpPr>
          <p:nvPr>
            <p:ph type="subTitle" idx="7"/>
          </p:nvPr>
        </p:nvSpPr>
        <p:spPr>
          <a:xfrm>
            <a:off x="719108" y="3171118"/>
            <a:ext cx="2486100" cy="461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2400">
                <a:latin typeface="Vidaloka"/>
                <a:ea typeface="Vidaloka"/>
                <a:cs typeface="Vidaloka"/>
                <a:sym typeface="Vidaloka"/>
              </a:defRPr>
            </a:lvl1pPr>
            <a:lvl2pPr lvl="1" algn="ctr" rtl="0">
              <a:spcBef>
                <a:spcPts val="0"/>
              </a:spcBef>
              <a:spcAft>
                <a:spcPts val="0"/>
              </a:spcAft>
              <a:buSzPts val="2100"/>
              <a:buNone/>
              <a:defRPr sz="2100" b="1"/>
            </a:lvl2pPr>
            <a:lvl3pPr lvl="2" algn="ctr" rtl="0">
              <a:spcBef>
                <a:spcPts val="0"/>
              </a:spcBef>
              <a:spcAft>
                <a:spcPts val="0"/>
              </a:spcAft>
              <a:buSzPts val="2100"/>
              <a:buNone/>
              <a:defRPr sz="2100" b="1"/>
            </a:lvl3pPr>
            <a:lvl4pPr lvl="3" algn="ctr" rtl="0">
              <a:spcBef>
                <a:spcPts val="0"/>
              </a:spcBef>
              <a:spcAft>
                <a:spcPts val="0"/>
              </a:spcAft>
              <a:buSzPts val="2100"/>
              <a:buNone/>
              <a:defRPr sz="2100" b="1"/>
            </a:lvl4pPr>
            <a:lvl5pPr lvl="4" algn="ctr" rtl="0">
              <a:spcBef>
                <a:spcPts val="0"/>
              </a:spcBef>
              <a:spcAft>
                <a:spcPts val="0"/>
              </a:spcAft>
              <a:buSzPts val="2100"/>
              <a:buNone/>
              <a:defRPr sz="2100" b="1"/>
            </a:lvl5pPr>
            <a:lvl6pPr lvl="5" algn="ctr" rtl="0">
              <a:spcBef>
                <a:spcPts val="0"/>
              </a:spcBef>
              <a:spcAft>
                <a:spcPts val="0"/>
              </a:spcAft>
              <a:buSzPts val="2100"/>
              <a:buNone/>
              <a:defRPr sz="2100" b="1"/>
            </a:lvl6pPr>
            <a:lvl7pPr lvl="6" algn="ctr" rtl="0">
              <a:spcBef>
                <a:spcPts val="0"/>
              </a:spcBef>
              <a:spcAft>
                <a:spcPts val="0"/>
              </a:spcAft>
              <a:buSzPts val="2100"/>
              <a:buNone/>
              <a:defRPr sz="2100" b="1"/>
            </a:lvl7pPr>
            <a:lvl8pPr lvl="7" algn="ctr" rtl="0">
              <a:spcBef>
                <a:spcPts val="0"/>
              </a:spcBef>
              <a:spcAft>
                <a:spcPts val="0"/>
              </a:spcAft>
              <a:buSzPts val="2100"/>
              <a:buNone/>
              <a:defRPr sz="2100" b="1"/>
            </a:lvl8pPr>
            <a:lvl9pPr lvl="8" algn="ctr" rtl="0">
              <a:spcBef>
                <a:spcPts val="0"/>
              </a:spcBef>
              <a:spcAft>
                <a:spcPts val="0"/>
              </a:spcAft>
              <a:buSzPts val="2100"/>
              <a:buNone/>
              <a:defRPr sz="2100" b="1"/>
            </a:lvl9pPr>
          </a:lstStyle>
          <a:p>
            <a:endParaRPr/>
          </a:p>
        </p:txBody>
      </p:sp>
      <p:sp>
        <p:nvSpPr>
          <p:cNvPr id="176" name="Google Shape;176;p23"/>
          <p:cNvSpPr txBox="1">
            <a:spLocks noGrp="1"/>
          </p:cNvSpPr>
          <p:nvPr>
            <p:ph type="subTitle" idx="8"/>
          </p:nvPr>
        </p:nvSpPr>
        <p:spPr>
          <a:xfrm>
            <a:off x="719158" y="3565487"/>
            <a:ext cx="2486100" cy="618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77" name="Google Shape;177;p2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78" name="Google Shape;178;p2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five columns">
  <p:cSld name="Title and five columns">
    <p:spTree>
      <p:nvGrpSpPr>
        <p:cNvPr id="1" name="Shape 268"/>
        <p:cNvGrpSpPr/>
        <p:nvPr/>
      </p:nvGrpSpPr>
      <p:grpSpPr>
        <a:xfrm>
          <a:off x="0" y="0"/>
          <a:ext cx="0" cy="0"/>
          <a:chOff x="0" y="0"/>
          <a:chExt cx="0" cy="0"/>
        </a:xfrm>
      </p:grpSpPr>
      <p:sp>
        <p:nvSpPr>
          <p:cNvPr id="269" name="Google Shape;269;p33"/>
          <p:cNvSpPr txBox="1">
            <a:spLocks noGrp="1"/>
          </p:cNvSpPr>
          <p:nvPr>
            <p:ph type="subTitle" idx="1"/>
          </p:nvPr>
        </p:nvSpPr>
        <p:spPr>
          <a:xfrm>
            <a:off x="3414050" y="1714429"/>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70" name="Google Shape;270;p33"/>
          <p:cNvSpPr txBox="1">
            <a:spLocks noGrp="1"/>
          </p:cNvSpPr>
          <p:nvPr>
            <p:ph type="subTitle" idx="2"/>
          </p:nvPr>
        </p:nvSpPr>
        <p:spPr>
          <a:xfrm>
            <a:off x="3564200" y="2124122"/>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71" name="Google Shape;271;p33"/>
          <p:cNvSpPr txBox="1">
            <a:spLocks noGrp="1"/>
          </p:cNvSpPr>
          <p:nvPr>
            <p:ph type="subTitle" idx="3"/>
          </p:nvPr>
        </p:nvSpPr>
        <p:spPr>
          <a:xfrm>
            <a:off x="705725" y="1714429"/>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72" name="Google Shape;272;p33"/>
          <p:cNvSpPr txBox="1">
            <a:spLocks noGrp="1"/>
          </p:cNvSpPr>
          <p:nvPr>
            <p:ph type="subTitle" idx="4"/>
          </p:nvPr>
        </p:nvSpPr>
        <p:spPr>
          <a:xfrm>
            <a:off x="855875" y="2124122"/>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73" name="Google Shape;273;p33"/>
          <p:cNvSpPr txBox="1">
            <a:spLocks noGrp="1"/>
          </p:cNvSpPr>
          <p:nvPr>
            <p:ph type="subTitle" idx="5"/>
          </p:nvPr>
        </p:nvSpPr>
        <p:spPr>
          <a:xfrm>
            <a:off x="6122325" y="1714429"/>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74" name="Google Shape;274;p33"/>
          <p:cNvSpPr txBox="1">
            <a:spLocks noGrp="1"/>
          </p:cNvSpPr>
          <p:nvPr>
            <p:ph type="subTitle" idx="6"/>
          </p:nvPr>
        </p:nvSpPr>
        <p:spPr>
          <a:xfrm>
            <a:off x="6272475" y="2124122"/>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75" name="Google Shape;275;p33"/>
          <p:cNvSpPr txBox="1">
            <a:spLocks noGrp="1"/>
          </p:cNvSpPr>
          <p:nvPr>
            <p:ph type="subTitle" idx="7"/>
          </p:nvPr>
        </p:nvSpPr>
        <p:spPr>
          <a:xfrm>
            <a:off x="2059863" y="3148526"/>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76" name="Google Shape;276;p33"/>
          <p:cNvSpPr txBox="1">
            <a:spLocks noGrp="1"/>
          </p:cNvSpPr>
          <p:nvPr>
            <p:ph type="subTitle" idx="8"/>
          </p:nvPr>
        </p:nvSpPr>
        <p:spPr>
          <a:xfrm>
            <a:off x="2210013" y="3564736"/>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77" name="Google Shape;277;p33"/>
          <p:cNvSpPr txBox="1">
            <a:spLocks noGrp="1"/>
          </p:cNvSpPr>
          <p:nvPr>
            <p:ph type="subTitle" idx="9"/>
          </p:nvPr>
        </p:nvSpPr>
        <p:spPr>
          <a:xfrm>
            <a:off x="4768138" y="3148526"/>
            <a:ext cx="2316000" cy="437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a:endParaRPr/>
          </a:p>
        </p:txBody>
      </p:sp>
      <p:sp>
        <p:nvSpPr>
          <p:cNvPr id="278" name="Google Shape;278;p33"/>
          <p:cNvSpPr txBox="1">
            <a:spLocks noGrp="1"/>
          </p:cNvSpPr>
          <p:nvPr>
            <p:ph type="subTitle" idx="13"/>
          </p:nvPr>
        </p:nvSpPr>
        <p:spPr>
          <a:xfrm>
            <a:off x="4918288" y="3564736"/>
            <a:ext cx="20157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79" name="Google Shape;279;p33"/>
          <p:cNvSpPr txBox="1">
            <a:spLocks noGrp="1"/>
          </p:cNvSpPr>
          <p:nvPr>
            <p:ph type="title"/>
          </p:nvPr>
        </p:nvSpPr>
        <p:spPr>
          <a:xfrm>
            <a:off x="1531650" y="445025"/>
            <a:ext cx="6080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atin typeface="Merriweather Light"/>
                <a:ea typeface="Merriweather Light"/>
                <a:cs typeface="Merriweather Light"/>
                <a:sym typeface="Merriweather Light"/>
              </a:defRPr>
            </a:lvl2pPr>
            <a:lvl3pPr lvl="2" algn="ctr" rtl="0">
              <a:spcBef>
                <a:spcPts val="0"/>
              </a:spcBef>
              <a:spcAft>
                <a:spcPts val="0"/>
              </a:spcAft>
              <a:buSzPts val="3000"/>
              <a:buNone/>
              <a:defRPr>
                <a:latin typeface="Merriweather Light"/>
                <a:ea typeface="Merriweather Light"/>
                <a:cs typeface="Merriweather Light"/>
                <a:sym typeface="Merriweather Light"/>
              </a:defRPr>
            </a:lvl3pPr>
            <a:lvl4pPr lvl="3" algn="ctr" rtl="0">
              <a:spcBef>
                <a:spcPts val="0"/>
              </a:spcBef>
              <a:spcAft>
                <a:spcPts val="0"/>
              </a:spcAft>
              <a:buSzPts val="3000"/>
              <a:buNone/>
              <a:defRPr>
                <a:latin typeface="Merriweather Light"/>
                <a:ea typeface="Merriweather Light"/>
                <a:cs typeface="Merriweather Light"/>
                <a:sym typeface="Merriweather Light"/>
              </a:defRPr>
            </a:lvl4pPr>
            <a:lvl5pPr lvl="4" algn="ctr" rtl="0">
              <a:spcBef>
                <a:spcPts val="0"/>
              </a:spcBef>
              <a:spcAft>
                <a:spcPts val="0"/>
              </a:spcAft>
              <a:buSzPts val="3000"/>
              <a:buNone/>
              <a:defRPr>
                <a:latin typeface="Merriweather Light"/>
                <a:ea typeface="Merriweather Light"/>
                <a:cs typeface="Merriweather Light"/>
                <a:sym typeface="Merriweather Light"/>
              </a:defRPr>
            </a:lvl5pPr>
            <a:lvl6pPr lvl="5" algn="ctr" rtl="0">
              <a:spcBef>
                <a:spcPts val="0"/>
              </a:spcBef>
              <a:spcAft>
                <a:spcPts val="0"/>
              </a:spcAft>
              <a:buSzPts val="3000"/>
              <a:buNone/>
              <a:defRPr>
                <a:latin typeface="Merriweather Light"/>
                <a:ea typeface="Merriweather Light"/>
                <a:cs typeface="Merriweather Light"/>
                <a:sym typeface="Merriweather Light"/>
              </a:defRPr>
            </a:lvl6pPr>
            <a:lvl7pPr lvl="6" algn="ctr" rtl="0">
              <a:spcBef>
                <a:spcPts val="0"/>
              </a:spcBef>
              <a:spcAft>
                <a:spcPts val="0"/>
              </a:spcAft>
              <a:buSzPts val="3000"/>
              <a:buNone/>
              <a:defRPr>
                <a:latin typeface="Merriweather Light"/>
                <a:ea typeface="Merriweather Light"/>
                <a:cs typeface="Merriweather Light"/>
                <a:sym typeface="Merriweather Light"/>
              </a:defRPr>
            </a:lvl7pPr>
            <a:lvl8pPr lvl="7" algn="ctr" rtl="0">
              <a:spcBef>
                <a:spcPts val="0"/>
              </a:spcBef>
              <a:spcAft>
                <a:spcPts val="0"/>
              </a:spcAft>
              <a:buSzPts val="3000"/>
              <a:buNone/>
              <a:defRPr>
                <a:latin typeface="Merriweather Light"/>
                <a:ea typeface="Merriweather Light"/>
                <a:cs typeface="Merriweather Light"/>
                <a:sym typeface="Merriweather Light"/>
              </a:defRPr>
            </a:lvl8pPr>
            <a:lvl9pPr lvl="8" algn="ctr"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280" name="Google Shape;280;p3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81" name="Google Shape;281;p3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82" name="Google Shape;282;p33"/>
          <p:cNvCxnSpPr/>
          <p:nvPr/>
        </p:nvCxnSpPr>
        <p:spPr>
          <a:xfrm>
            <a:off x="7612350" y="-466199"/>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83" name="Google Shape;283;p33"/>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411"/>
        <p:cNvGrpSpPr/>
        <p:nvPr/>
      </p:nvGrpSpPr>
      <p:grpSpPr>
        <a:xfrm>
          <a:off x="0" y="0"/>
          <a:ext cx="0" cy="0"/>
          <a:chOff x="0" y="0"/>
          <a:chExt cx="0" cy="0"/>
        </a:xfrm>
      </p:grpSpPr>
      <p:cxnSp>
        <p:nvCxnSpPr>
          <p:cNvPr id="412" name="Google Shape;412;p4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13" name="Google Shape;413;p4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14" name="Google Shape;414;p46"/>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15" name="Google Shape;415;p46"/>
          <p:cNvCxnSpPr/>
          <p:nvPr/>
        </p:nvCxnSpPr>
        <p:spPr>
          <a:xfrm>
            <a:off x="7612350" y="-41438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16" name="Google Shape;416;p46"/>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17" name="Google Shape;417;p46"/>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418" name="Google Shape;418;p46"/>
          <p:cNvSpPr txBox="1">
            <a:spLocks noGrp="1"/>
          </p:cNvSpPr>
          <p:nvPr>
            <p:ph type="title"/>
          </p:nvPr>
        </p:nvSpPr>
        <p:spPr>
          <a:xfrm>
            <a:off x="1531650" y="445025"/>
            <a:ext cx="6080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atin typeface="Merriweather Light"/>
                <a:ea typeface="Merriweather Light"/>
                <a:cs typeface="Merriweather Light"/>
                <a:sym typeface="Merriweather Light"/>
              </a:defRPr>
            </a:lvl2pPr>
            <a:lvl3pPr lvl="2" algn="ctr" rtl="0">
              <a:spcBef>
                <a:spcPts val="0"/>
              </a:spcBef>
              <a:spcAft>
                <a:spcPts val="0"/>
              </a:spcAft>
              <a:buSzPts val="3000"/>
              <a:buNone/>
              <a:defRPr>
                <a:latin typeface="Merriweather Light"/>
                <a:ea typeface="Merriweather Light"/>
                <a:cs typeface="Merriweather Light"/>
                <a:sym typeface="Merriweather Light"/>
              </a:defRPr>
            </a:lvl3pPr>
            <a:lvl4pPr lvl="3" algn="ctr" rtl="0">
              <a:spcBef>
                <a:spcPts val="0"/>
              </a:spcBef>
              <a:spcAft>
                <a:spcPts val="0"/>
              </a:spcAft>
              <a:buSzPts val="3000"/>
              <a:buNone/>
              <a:defRPr>
                <a:latin typeface="Merriweather Light"/>
                <a:ea typeface="Merriweather Light"/>
                <a:cs typeface="Merriweather Light"/>
                <a:sym typeface="Merriweather Light"/>
              </a:defRPr>
            </a:lvl4pPr>
            <a:lvl5pPr lvl="4" algn="ctr" rtl="0">
              <a:spcBef>
                <a:spcPts val="0"/>
              </a:spcBef>
              <a:spcAft>
                <a:spcPts val="0"/>
              </a:spcAft>
              <a:buSzPts val="3000"/>
              <a:buNone/>
              <a:defRPr>
                <a:latin typeface="Merriweather Light"/>
                <a:ea typeface="Merriweather Light"/>
                <a:cs typeface="Merriweather Light"/>
                <a:sym typeface="Merriweather Light"/>
              </a:defRPr>
            </a:lvl5pPr>
            <a:lvl6pPr lvl="5" algn="ctr" rtl="0">
              <a:spcBef>
                <a:spcPts val="0"/>
              </a:spcBef>
              <a:spcAft>
                <a:spcPts val="0"/>
              </a:spcAft>
              <a:buSzPts val="3000"/>
              <a:buNone/>
              <a:defRPr>
                <a:latin typeface="Merriweather Light"/>
                <a:ea typeface="Merriweather Light"/>
                <a:cs typeface="Merriweather Light"/>
                <a:sym typeface="Merriweather Light"/>
              </a:defRPr>
            </a:lvl6pPr>
            <a:lvl7pPr lvl="6" algn="ctr" rtl="0">
              <a:spcBef>
                <a:spcPts val="0"/>
              </a:spcBef>
              <a:spcAft>
                <a:spcPts val="0"/>
              </a:spcAft>
              <a:buSzPts val="3000"/>
              <a:buNone/>
              <a:defRPr>
                <a:latin typeface="Merriweather Light"/>
                <a:ea typeface="Merriweather Light"/>
                <a:cs typeface="Merriweather Light"/>
                <a:sym typeface="Merriweather Light"/>
              </a:defRPr>
            </a:lvl7pPr>
            <a:lvl8pPr lvl="7" algn="ctr" rtl="0">
              <a:spcBef>
                <a:spcPts val="0"/>
              </a:spcBef>
              <a:spcAft>
                <a:spcPts val="0"/>
              </a:spcAft>
              <a:buSzPts val="3000"/>
              <a:buNone/>
              <a:defRPr>
                <a:latin typeface="Merriweather Light"/>
                <a:ea typeface="Merriweather Light"/>
                <a:cs typeface="Merriweather Light"/>
                <a:sym typeface="Merriweather Light"/>
              </a:defRPr>
            </a:lvl8pPr>
            <a:lvl9pPr lvl="8" algn="ctr"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sp>
        <p:nvSpPr>
          <p:cNvPr id="419" name="Google Shape;419;p46"/>
          <p:cNvSpPr txBox="1">
            <a:spLocks noGrp="1"/>
          </p:cNvSpPr>
          <p:nvPr>
            <p:ph type="subTitle" idx="1"/>
          </p:nvPr>
        </p:nvSpPr>
        <p:spPr>
          <a:xfrm>
            <a:off x="4525188" y="1537663"/>
            <a:ext cx="3957600" cy="2889000"/>
          </a:xfrm>
          <a:prstGeom prst="rect">
            <a:avLst/>
          </a:prstGeom>
        </p:spPr>
        <p:txBody>
          <a:bodyPr spcFirstLastPara="1" wrap="square" lIns="91425" tIns="91425" rIns="91425" bIns="91425" anchor="ctr" anchorCtr="0">
            <a:noAutofit/>
          </a:bodyPr>
          <a:lstStyle>
            <a:lvl1pPr marR="38100" lvl="0" algn="ctr" rtl="0">
              <a:lnSpc>
                <a:spcPct val="100000"/>
              </a:lnSpc>
              <a:spcBef>
                <a:spcPts val="0"/>
              </a:spcBef>
              <a:spcAft>
                <a:spcPts val="0"/>
              </a:spcAft>
              <a:buClr>
                <a:schemeClr val="accent1"/>
              </a:buClr>
              <a:buSzPts val="1400"/>
              <a:buChar char="●"/>
              <a:defRPr sz="1400"/>
            </a:lvl1pPr>
            <a:lvl2pPr lvl="1" algn="ctr" rtl="0">
              <a:spcBef>
                <a:spcPts val="0"/>
              </a:spcBef>
              <a:spcAft>
                <a:spcPts val="0"/>
              </a:spcAft>
              <a:buClr>
                <a:schemeClr val="dk1"/>
              </a:buClr>
              <a:buSzPts val="1400"/>
              <a:buChar char="○"/>
              <a:defRPr/>
            </a:lvl2pPr>
            <a:lvl3pPr lvl="2" algn="ctr" rtl="0">
              <a:spcBef>
                <a:spcPts val="0"/>
              </a:spcBef>
              <a:spcAft>
                <a:spcPts val="0"/>
              </a:spcAft>
              <a:buClr>
                <a:schemeClr val="dk1"/>
              </a:buClr>
              <a:buSzPts val="1400"/>
              <a:buChar char="■"/>
              <a:defRPr/>
            </a:lvl3pPr>
            <a:lvl4pPr lvl="3" algn="ctr" rtl="0">
              <a:spcBef>
                <a:spcPts val="0"/>
              </a:spcBef>
              <a:spcAft>
                <a:spcPts val="0"/>
              </a:spcAft>
              <a:buClr>
                <a:schemeClr val="dk1"/>
              </a:buClr>
              <a:buSzPts val="1400"/>
              <a:buChar char="●"/>
              <a:defRPr/>
            </a:lvl4pPr>
            <a:lvl5pPr lvl="4" algn="ctr" rtl="0">
              <a:spcBef>
                <a:spcPts val="0"/>
              </a:spcBef>
              <a:spcAft>
                <a:spcPts val="0"/>
              </a:spcAft>
              <a:buClr>
                <a:schemeClr val="dk1"/>
              </a:buClr>
              <a:buSzPts val="1400"/>
              <a:buChar char="○"/>
              <a:defRPr/>
            </a:lvl5pPr>
            <a:lvl6pPr lvl="5" algn="ctr" rtl="0">
              <a:spcBef>
                <a:spcPts val="0"/>
              </a:spcBef>
              <a:spcAft>
                <a:spcPts val="0"/>
              </a:spcAft>
              <a:buClr>
                <a:schemeClr val="dk1"/>
              </a:buClr>
              <a:buSzPts val="1400"/>
              <a:buChar char="■"/>
              <a:defRPr/>
            </a:lvl6pPr>
            <a:lvl7pPr lvl="6" algn="ctr" rtl="0">
              <a:spcBef>
                <a:spcPts val="0"/>
              </a:spcBef>
              <a:spcAft>
                <a:spcPts val="0"/>
              </a:spcAft>
              <a:buClr>
                <a:schemeClr val="dk1"/>
              </a:buClr>
              <a:buSzPts val="1400"/>
              <a:buChar char="●"/>
              <a:defRPr/>
            </a:lvl7pPr>
            <a:lvl8pPr lvl="7" algn="ctr" rtl="0">
              <a:spcBef>
                <a:spcPts val="0"/>
              </a:spcBef>
              <a:spcAft>
                <a:spcPts val="0"/>
              </a:spcAft>
              <a:buClr>
                <a:schemeClr val="dk1"/>
              </a:buClr>
              <a:buSzPts val="1400"/>
              <a:buChar char="○"/>
              <a:defRPr/>
            </a:lvl8pPr>
            <a:lvl9pPr lvl="8" algn="ctr" rtl="0">
              <a:spcBef>
                <a:spcPts val="0"/>
              </a:spcBef>
              <a:spcAft>
                <a:spcPts val="0"/>
              </a:spcAft>
              <a:buClr>
                <a:schemeClr val="dk1"/>
              </a:buClr>
              <a:buSzPts val="1400"/>
              <a:buChar char="■"/>
              <a:defRPr/>
            </a:lvl9pPr>
          </a:lstStyle>
          <a:p>
            <a:endParaRPr/>
          </a:p>
        </p:txBody>
      </p:sp>
      <p:sp>
        <p:nvSpPr>
          <p:cNvPr id="420" name="Google Shape;420;p46"/>
          <p:cNvSpPr txBox="1">
            <a:spLocks noGrp="1"/>
          </p:cNvSpPr>
          <p:nvPr>
            <p:ph type="subTitle" idx="2"/>
          </p:nvPr>
        </p:nvSpPr>
        <p:spPr>
          <a:xfrm>
            <a:off x="661213" y="1537663"/>
            <a:ext cx="3957600" cy="2889000"/>
          </a:xfrm>
          <a:prstGeom prst="rect">
            <a:avLst/>
          </a:prstGeom>
        </p:spPr>
        <p:txBody>
          <a:bodyPr spcFirstLastPara="1" wrap="square" lIns="91425" tIns="91425" rIns="91425" bIns="91425" anchor="ctr" anchorCtr="0">
            <a:noAutofit/>
          </a:bodyPr>
          <a:lstStyle>
            <a:lvl1pPr marR="38100" lvl="0" algn="ctr" rtl="0">
              <a:lnSpc>
                <a:spcPct val="100000"/>
              </a:lnSpc>
              <a:spcBef>
                <a:spcPts val="0"/>
              </a:spcBef>
              <a:spcAft>
                <a:spcPts val="0"/>
              </a:spcAft>
              <a:buClr>
                <a:schemeClr val="accent1"/>
              </a:buClr>
              <a:buSzPts val="1400"/>
              <a:buChar char="●"/>
              <a:defRPr sz="1400"/>
            </a:lvl1pPr>
            <a:lvl2pPr lvl="1" algn="ctr" rtl="0">
              <a:spcBef>
                <a:spcPts val="0"/>
              </a:spcBef>
              <a:spcAft>
                <a:spcPts val="0"/>
              </a:spcAft>
              <a:buClr>
                <a:schemeClr val="dk1"/>
              </a:buClr>
              <a:buSzPts val="1400"/>
              <a:buChar char="○"/>
              <a:defRPr/>
            </a:lvl2pPr>
            <a:lvl3pPr lvl="2" algn="ctr" rtl="0">
              <a:spcBef>
                <a:spcPts val="0"/>
              </a:spcBef>
              <a:spcAft>
                <a:spcPts val="0"/>
              </a:spcAft>
              <a:buClr>
                <a:schemeClr val="dk1"/>
              </a:buClr>
              <a:buSzPts val="1400"/>
              <a:buChar char="■"/>
              <a:defRPr/>
            </a:lvl3pPr>
            <a:lvl4pPr lvl="3" algn="ctr" rtl="0">
              <a:spcBef>
                <a:spcPts val="0"/>
              </a:spcBef>
              <a:spcAft>
                <a:spcPts val="0"/>
              </a:spcAft>
              <a:buClr>
                <a:schemeClr val="dk1"/>
              </a:buClr>
              <a:buSzPts val="1400"/>
              <a:buChar char="●"/>
              <a:defRPr/>
            </a:lvl4pPr>
            <a:lvl5pPr lvl="4" algn="ctr" rtl="0">
              <a:spcBef>
                <a:spcPts val="0"/>
              </a:spcBef>
              <a:spcAft>
                <a:spcPts val="0"/>
              </a:spcAft>
              <a:buClr>
                <a:schemeClr val="dk1"/>
              </a:buClr>
              <a:buSzPts val="1400"/>
              <a:buChar char="○"/>
              <a:defRPr/>
            </a:lvl5pPr>
            <a:lvl6pPr lvl="5" algn="ctr" rtl="0">
              <a:spcBef>
                <a:spcPts val="0"/>
              </a:spcBef>
              <a:spcAft>
                <a:spcPts val="0"/>
              </a:spcAft>
              <a:buClr>
                <a:schemeClr val="dk1"/>
              </a:buClr>
              <a:buSzPts val="1400"/>
              <a:buChar char="■"/>
              <a:defRPr/>
            </a:lvl6pPr>
            <a:lvl7pPr lvl="6" algn="ctr" rtl="0">
              <a:spcBef>
                <a:spcPts val="0"/>
              </a:spcBef>
              <a:spcAft>
                <a:spcPts val="0"/>
              </a:spcAft>
              <a:buClr>
                <a:schemeClr val="dk1"/>
              </a:buClr>
              <a:buSzPts val="1400"/>
              <a:buChar char="●"/>
              <a:defRPr/>
            </a:lvl7pPr>
            <a:lvl8pPr lvl="7" algn="ctr" rtl="0">
              <a:spcBef>
                <a:spcPts val="0"/>
              </a:spcBef>
              <a:spcAft>
                <a:spcPts val="0"/>
              </a:spcAft>
              <a:buClr>
                <a:schemeClr val="dk1"/>
              </a:buClr>
              <a:buSzPts val="1400"/>
              <a:buChar char="○"/>
              <a:defRPr/>
            </a:lvl8pPr>
            <a:lvl9pPr lvl="8" algn="ctr" rtl="0">
              <a:spcBef>
                <a:spcPts val="0"/>
              </a:spcBef>
              <a:spcAft>
                <a:spcPts val="0"/>
              </a:spcAft>
              <a:buClr>
                <a:schemeClr val="dk1"/>
              </a:buClr>
              <a:buSzPts val="1400"/>
              <a:buChar char="■"/>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and two columns 2">
  <p:cSld name="Title and two columns 2">
    <p:spTree>
      <p:nvGrpSpPr>
        <p:cNvPr id="1" name="Shape 421"/>
        <p:cNvGrpSpPr/>
        <p:nvPr/>
      </p:nvGrpSpPr>
      <p:grpSpPr>
        <a:xfrm>
          <a:off x="0" y="0"/>
          <a:ext cx="0" cy="0"/>
          <a:chOff x="0" y="0"/>
          <a:chExt cx="0" cy="0"/>
        </a:xfrm>
      </p:grpSpPr>
      <p:sp>
        <p:nvSpPr>
          <p:cNvPr id="422" name="Google Shape;422;p47"/>
          <p:cNvSpPr txBox="1">
            <a:spLocks noGrp="1"/>
          </p:cNvSpPr>
          <p:nvPr>
            <p:ph type="subTitle" idx="1"/>
          </p:nvPr>
        </p:nvSpPr>
        <p:spPr>
          <a:xfrm>
            <a:off x="4816075" y="3616375"/>
            <a:ext cx="2942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423" name="Google Shape;423;p47"/>
          <p:cNvSpPr txBox="1">
            <a:spLocks noGrp="1"/>
          </p:cNvSpPr>
          <p:nvPr>
            <p:ph type="subTitle" idx="2"/>
          </p:nvPr>
        </p:nvSpPr>
        <p:spPr>
          <a:xfrm>
            <a:off x="4816200" y="3956375"/>
            <a:ext cx="2941800" cy="652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b="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24" name="Google Shape;424;p47"/>
          <p:cNvSpPr txBox="1">
            <a:spLocks noGrp="1"/>
          </p:cNvSpPr>
          <p:nvPr>
            <p:ph type="subTitle" idx="3"/>
          </p:nvPr>
        </p:nvSpPr>
        <p:spPr>
          <a:xfrm>
            <a:off x="1385829" y="3616375"/>
            <a:ext cx="2942100" cy="357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a:endParaRPr/>
          </a:p>
        </p:txBody>
      </p:sp>
      <p:sp>
        <p:nvSpPr>
          <p:cNvPr id="425" name="Google Shape;425;p47"/>
          <p:cNvSpPr txBox="1">
            <a:spLocks noGrp="1"/>
          </p:cNvSpPr>
          <p:nvPr>
            <p:ph type="subTitle" idx="4"/>
          </p:nvPr>
        </p:nvSpPr>
        <p:spPr>
          <a:xfrm>
            <a:off x="1386025" y="3956375"/>
            <a:ext cx="2941800" cy="652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b="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26" name="Google Shape;426;p47"/>
          <p:cNvSpPr txBox="1">
            <a:spLocks noGrp="1"/>
          </p:cNvSpPr>
          <p:nvPr>
            <p:ph type="title"/>
          </p:nvPr>
        </p:nvSpPr>
        <p:spPr>
          <a:xfrm>
            <a:off x="713225" y="445025"/>
            <a:ext cx="2729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endParaRPr/>
          </a:p>
        </p:txBody>
      </p:sp>
      <p:cxnSp>
        <p:nvCxnSpPr>
          <p:cNvPr id="427" name="Google Shape;427;p4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28" name="Google Shape;428;p4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441"/>
        <p:cNvGrpSpPr/>
        <p:nvPr/>
      </p:nvGrpSpPr>
      <p:grpSpPr>
        <a:xfrm>
          <a:off x="0" y="0"/>
          <a:ext cx="0" cy="0"/>
          <a:chOff x="0" y="0"/>
          <a:chExt cx="0" cy="0"/>
        </a:xfrm>
      </p:grpSpPr>
      <p:sp>
        <p:nvSpPr>
          <p:cNvPr id="442" name="Google Shape;442;p49"/>
          <p:cNvSpPr txBox="1">
            <a:spLocks noGrp="1"/>
          </p:cNvSpPr>
          <p:nvPr>
            <p:ph type="title"/>
          </p:nvPr>
        </p:nvSpPr>
        <p:spPr>
          <a:xfrm>
            <a:off x="2832900" y="791200"/>
            <a:ext cx="3478200" cy="922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300"/>
              <a:buNone/>
              <a:defRPr sz="7000"/>
            </a:lvl1pPr>
            <a:lvl2pPr lvl="1" algn="ctr" rtl="0">
              <a:spcBef>
                <a:spcPts val="0"/>
              </a:spcBef>
              <a:spcAft>
                <a:spcPts val="0"/>
              </a:spcAft>
              <a:buSzPts val="3000"/>
              <a:buNone/>
              <a:defRPr>
                <a:latin typeface="Open Sans"/>
                <a:ea typeface="Open Sans"/>
                <a:cs typeface="Open Sans"/>
                <a:sym typeface="Open Sans"/>
              </a:defRPr>
            </a:lvl2pPr>
            <a:lvl3pPr lvl="2" algn="ctr" rtl="0">
              <a:spcBef>
                <a:spcPts val="0"/>
              </a:spcBef>
              <a:spcAft>
                <a:spcPts val="0"/>
              </a:spcAft>
              <a:buSzPts val="3000"/>
              <a:buNone/>
              <a:defRPr>
                <a:latin typeface="Open Sans"/>
                <a:ea typeface="Open Sans"/>
                <a:cs typeface="Open Sans"/>
                <a:sym typeface="Open Sans"/>
              </a:defRPr>
            </a:lvl3pPr>
            <a:lvl4pPr lvl="3" algn="ctr" rtl="0">
              <a:spcBef>
                <a:spcPts val="0"/>
              </a:spcBef>
              <a:spcAft>
                <a:spcPts val="0"/>
              </a:spcAft>
              <a:buSzPts val="3000"/>
              <a:buNone/>
              <a:defRPr>
                <a:latin typeface="Open Sans"/>
                <a:ea typeface="Open Sans"/>
                <a:cs typeface="Open Sans"/>
                <a:sym typeface="Open Sans"/>
              </a:defRPr>
            </a:lvl4pPr>
            <a:lvl5pPr lvl="4" algn="ctr" rtl="0">
              <a:spcBef>
                <a:spcPts val="0"/>
              </a:spcBef>
              <a:spcAft>
                <a:spcPts val="0"/>
              </a:spcAft>
              <a:buSzPts val="3000"/>
              <a:buNone/>
              <a:defRPr>
                <a:latin typeface="Open Sans"/>
                <a:ea typeface="Open Sans"/>
                <a:cs typeface="Open Sans"/>
                <a:sym typeface="Open Sans"/>
              </a:defRPr>
            </a:lvl5pPr>
            <a:lvl6pPr lvl="5" algn="ctr" rtl="0">
              <a:spcBef>
                <a:spcPts val="0"/>
              </a:spcBef>
              <a:spcAft>
                <a:spcPts val="0"/>
              </a:spcAft>
              <a:buSzPts val="3000"/>
              <a:buNone/>
              <a:defRPr>
                <a:latin typeface="Open Sans"/>
                <a:ea typeface="Open Sans"/>
                <a:cs typeface="Open Sans"/>
                <a:sym typeface="Open Sans"/>
              </a:defRPr>
            </a:lvl6pPr>
            <a:lvl7pPr lvl="6" algn="ctr" rtl="0">
              <a:spcBef>
                <a:spcPts val="0"/>
              </a:spcBef>
              <a:spcAft>
                <a:spcPts val="0"/>
              </a:spcAft>
              <a:buSzPts val="3000"/>
              <a:buNone/>
              <a:defRPr>
                <a:latin typeface="Open Sans"/>
                <a:ea typeface="Open Sans"/>
                <a:cs typeface="Open Sans"/>
                <a:sym typeface="Open Sans"/>
              </a:defRPr>
            </a:lvl7pPr>
            <a:lvl8pPr lvl="7" algn="ctr" rtl="0">
              <a:spcBef>
                <a:spcPts val="0"/>
              </a:spcBef>
              <a:spcAft>
                <a:spcPts val="0"/>
              </a:spcAft>
              <a:buSzPts val="3000"/>
              <a:buNone/>
              <a:defRPr>
                <a:latin typeface="Open Sans"/>
                <a:ea typeface="Open Sans"/>
                <a:cs typeface="Open Sans"/>
                <a:sym typeface="Open Sans"/>
              </a:defRPr>
            </a:lvl8pPr>
            <a:lvl9pPr lvl="8" algn="ctr" rtl="0">
              <a:spcBef>
                <a:spcPts val="0"/>
              </a:spcBef>
              <a:spcAft>
                <a:spcPts val="0"/>
              </a:spcAft>
              <a:buSzPts val="3000"/>
              <a:buNone/>
              <a:defRPr>
                <a:latin typeface="Open Sans"/>
                <a:ea typeface="Open Sans"/>
                <a:cs typeface="Open Sans"/>
                <a:sym typeface="Open Sans"/>
              </a:defRPr>
            </a:lvl9pPr>
          </a:lstStyle>
          <a:p>
            <a:endParaRPr/>
          </a:p>
        </p:txBody>
      </p:sp>
      <p:sp>
        <p:nvSpPr>
          <p:cNvPr id="443" name="Google Shape;443;p49"/>
          <p:cNvSpPr txBox="1">
            <a:spLocks noGrp="1"/>
          </p:cNvSpPr>
          <p:nvPr>
            <p:ph type="subTitle" idx="1"/>
          </p:nvPr>
        </p:nvSpPr>
        <p:spPr>
          <a:xfrm>
            <a:off x="2983350" y="1749425"/>
            <a:ext cx="3177300" cy="922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444" name="Google Shape;444;p49"/>
          <p:cNvSpPr txBox="1"/>
          <p:nvPr/>
        </p:nvSpPr>
        <p:spPr>
          <a:xfrm>
            <a:off x="2900450" y="3438275"/>
            <a:ext cx="3343200" cy="71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b="1">
                <a:solidFill>
                  <a:schemeClr val="dk2"/>
                </a:solidFill>
                <a:latin typeface="Montserrat"/>
                <a:ea typeface="Montserrat"/>
                <a:cs typeface="Montserrat"/>
                <a:sym typeface="Montserrat"/>
              </a:rPr>
              <a:t>CREDITS</a:t>
            </a:r>
            <a:r>
              <a:rPr lang="en" sz="1100">
                <a:solidFill>
                  <a:schemeClr val="dk2"/>
                </a:solidFill>
                <a:latin typeface="Montserrat"/>
                <a:ea typeface="Montserrat"/>
                <a:cs typeface="Montserrat"/>
                <a:sym typeface="Montserrat"/>
              </a:rPr>
              <a:t>: This presentation template was created by </a:t>
            </a:r>
            <a:r>
              <a:rPr lang="en" sz="1100" b="1">
                <a:solidFill>
                  <a:schemeClr val="dk2"/>
                </a:solidFill>
                <a:uFill>
                  <a:noFill/>
                </a:uFill>
                <a:latin typeface="Montserrat"/>
                <a:ea typeface="Montserrat"/>
                <a:cs typeface="Montserrat"/>
                <a:sym typeface="Montserrat"/>
                <a:hlinkClick r:id="rId2">
                  <a:extLst>
                    <a:ext uri="{A12FA001-AC4F-418D-AE19-62706E023703}">
                      <ahyp:hlinkClr xmlns:ahyp="http://schemas.microsoft.com/office/drawing/2018/hyperlinkcolor" val="tx"/>
                    </a:ext>
                  </a:extLst>
                </a:hlinkClick>
              </a:rPr>
              <a:t>Slidesgo</a:t>
            </a:r>
            <a:r>
              <a:rPr lang="en" sz="1100">
                <a:solidFill>
                  <a:schemeClr val="dk2"/>
                </a:solidFill>
                <a:latin typeface="Montserrat"/>
                <a:ea typeface="Montserrat"/>
                <a:cs typeface="Montserrat"/>
                <a:sym typeface="Montserrat"/>
              </a:rPr>
              <a:t>, including icons by </a:t>
            </a:r>
            <a:r>
              <a:rPr lang="en" sz="1100" b="1">
                <a:solidFill>
                  <a:schemeClr val="dk2"/>
                </a:solidFill>
                <a:uFill>
                  <a:noFill/>
                </a:uFill>
                <a:latin typeface="Montserrat"/>
                <a:ea typeface="Montserrat"/>
                <a:cs typeface="Montserrat"/>
                <a:sym typeface="Montserrat"/>
                <a:hlinkClick r:id="rId3">
                  <a:extLst>
                    <a:ext uri="{A12FA001-AC4F-418D-AE19-62706E023703}">
                      <ahyp:hlinkClr xmlns:ahyp="http://schemas.microsoft.com/office/drawing/2018/hyperlinkcolor" val="tx"/>
                    </a:ext>
                  </a:extLst>
                </a:hlinkClick>
              </a:rPr>
              <a:t>Flaticon</a:t>
            </a:r>
            <a:r>
              <a:rPr lang="en" sz="1100">
                <a:solidFill>
                  <a:schemeClr val="dk2"/>
                </a:solidFill>
                <a:latin typeface="Montserrat"/>
                <a:ea typeface="Montserrat"/>
                <a:cs typeface="Montserrat"/>
                <a:sym typeface="Montserrat"/>
              </a:rPr>
              <a:t>, infographics &amp; images by </a:t>
            </a:r>
            <a:r>
              <a:rPr lang="en" sz="1100" b="1">
                <a:solidFill>
                  <a:schemeClr val="dk2"/>
                </a:solidFill>
                <a:uFill>
                  <a:noFill/>
                </a:uFill>
                <a:latin typeface="Montserrat"/>
                <a:ea typeface="Montserrat"/>
                <a:cs typeface="Montserrat"/>
                <a:sym typeface="Montserrat"/>
                <a:hlinkClick r:id="rId4">
                  <a:extLst>
                    <a:ext uri="{A12FA001-AC4F-418D-AE19-62706E023703}">
                      <ahyp:hlinkClr xmlns:ahyp="http://schemas.microsoft.com/office/drawing/2018/hyperlinkcolor" val="tx"/>
                    </a:ext>
                  </a:extLst>
                </a:hlinkClick>
              </a:rPr>
              <a:t>Freepik</a:t>
            </a:r>
            <a:endParaRPr sz="1100" b="1">
              <a:solidFill>
                <a:schemeClr val="dk2"/>
              </a:solidFill>
              <a:latin typeface="Montserrat"/>
              <a:ea typeface="Montserrat"/>
              <a:cs typeface="Montserrat"/>
              <a:sym typeface="Montserrat"/>
            </a:endParaRPr>
          </a:p>
        </p:txBody>
      </p:sp>
      <p:cxnSp>
        <p:nvCxnSpPr>
          <p:cNvPr id="445" name="Google Shape;445;p4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46" name="Google Shape;446;p49"/>
          <p:cNvCxnSpPr/>
          <p:nvPr/>
        </p:nvCxnSpPr>
        <p:spPr>
          <a:xfrm>
            <a:off x="-257975" y="3935375"/>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47" name="Google Shape;447;p4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48" name="Google Shape;448;p49"/>
          <p:cNvCxnSpPr/>
          <p:nvPr/>
        </p:nvCxnSpPr>
        <p:spPr>
          <a:xfrm>
            <a:off x="6621199" y="-673200"/>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449"/>
        <p:cNvGrpSpPr/>
        <p:nvPr/>
      </p:nvGrpSpPr>
      <p:grpSpPr>
        <a:xfrm>
          <a:off x="0" y="0"/>
          <a:ext cx="0" cy="0"/>
          <a:chOff x="0" y="0"/>
          <a:chExt cx="0" cy="0"/>
        </a:xfrm>
      </p:grpSpPr>
      <p:cxnSp>
        <p:nvCxnSpPr>
          <p:cNvPr id="450" name="Google Shape;450;p5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1" name="Google Shape;451;p5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452"/>
        <p:cNvGrpSpPr/>
        <p:nvPr/>
      </p:nvGrpSpPr>
      <p:grpSpPr>
        <a:xfrm>
          <a:off x="0" y="0"/>
          <a:ext cx="0" cy="0"/>
          <a:chOff x="0" y="0"/>
          <a:chExt cx="0" cy="0"/>
        </a:xfrm>
      </p:grpSpPr>
      <p:cxnSp>
        <p:nvCxnSpPr>
          <p:cNvPr id="453" name="Google Shape;453;p5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4" name="Google Shape;454;p5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5" name="Google Shape;455;p51"/>
          <p:cNvCxnSpPr/>
          <p:nvPr/>
        </p:nvCxnSpPr>
        <p:spPr>
          <a:xfrm>
            <a:off x="7596016" y="-530202"/>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56" name="Google Shape;456;p51"/>
          <p:cNvCxnSpPr/>
          <p:nvPr/>
        </p:nvCxnSpPr>
        <p:spPr>
          <a:xfrm>
            <a:off x="-147275" y="3943475"/>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Background 2">
  <p:cSld name="Background 2">
    <p:spTree>
      <p:nvGrpSpPr>
        <p:cNvPr id="1" name="Shape 457"/>
        <p:cNvGrpSpPr/>
        <p:nvPr/>
      </p:nvGrpSpPr>
      <p:grpSpPr>
        <a:xfrm>
          <a:off x="0" y="0"/>
          <a:ext cx="0" cy="0"/>
          <a:chOff x="0" y="0"/>
          <a:chExt cx="0" cy="0"/>
        </a:xfrm>
      </p:grpSpPr>
      <p:cxnSp>
        <p:nvCxnSpPr>
          <p:cNvPr id="458" name="Google Shape;458;p5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9" name="Google Shape;459;p5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0" name="Google Shape;460;p52"/>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Background 3">
  <p:cSld name="Background 3">
    <p:spTree>
      <p:nvGrpSpPr>
        <p:cNvPr id="1" name="Shape 461"/>
        <p:cNvGrpSpPr/>
        <p:nvPr/>
      </p:nvGrpSpPr>
      <p:grpSpPr>
        <a:xfrm>
          <a:off x="0" y="0"/>
          <a:ext cx="0" cy="0"/>
          <a:chOff x="0" y="0"/>
          <a:chExt cx="0" cy="0"/>
        </a:xfrm>
      </p:grpSpPr>
      <p:cxnSp>
        <p:nvCxnSpPr>
          <p:cNvPr id="462" name="Google Shape;462;p5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3" name="Google Shape;463;p5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64" name="Google Shape;464;p53"/>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5" name="Google Shape;465;p53"/>
          <p:cNvCxnSpPr/>
          <p:nvPr/>
        </p:nvCxnSpPr>
        <p:spPr>
          <a:xfrm>
            <a:off x="7667727" y="-47725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6" name="Google Shape;466;p53"/>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7" name="Google Shape;467;p53"/>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B4CBDC"/>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sz="3000" i="1">
                <a:solidFill>
                  <a:schemeClr val="dk1"/>
                </a:solidFill>
              </a:defRPr>
            </a:lvl2pPr>
            <a:lvl3pPr lvl="2">
              <a:spcBef>
                <a:spcPts val="0"/>
              </a:spcBef>
              <a:spcAft>
                <a:spcPts val="0"/>
              </a:spcAft>
              <a:buClr>
                <a:schemeClr val="dk1"/>
              </a:buClr>
              <a:buSzPts val="3000"/>
              <a:buNone/>
              <a:defRPr sz="3000" i="1">
                <a:solidFill>
                  <a:schemeClr val="dk1"/>
                </a:solidFill>
              </a:defRPr>
            </a:lvl3pPr>
            <a:lvl4pPr lvl="3">
              <a:spcBef>
                <a:spcPts val="0"/>
              </a:spcBef>
              <a:spcAft>
                <a:spcPts val="0"/>
              </a:spcAft>
              <a:buClr>
                <a:schemeClr val="dk1"/>
              </a:buClr>
              <a:buSzPts val="3000"/>
              <a:buNone/>
              <a:defRPr sz="3000" i="1">
                <a:solidFill>
                  <a:schemeClr val="dk1"/>
                </a:solidFill>
              </a:defRPr>
            </a:lvl4pPr>
            <a:lvl5pPr lvl="4">
              <a:spcBef>
                <a:spcPts val="0"/>
              </a:spcBef>
              <a:spcAft>
                <a:spcPts val="0"/>
              </a:spcAft>
              <a:buClr>
                <a:schemeClr val="dk1"/>
              </a:buClr>
              <a:buSzPts val="3000"/>
              <a:buNone/>
              <a:defRPr sz="3000" i="1">
                <a:solidFill>
                  <a:schemeClr val="dk1"/>
                </a:solidFill>
              </a:defRPr>
            </a:lvl5pPr>
            <a:lvl6pPr lvl="5">
              <a:spcBef>
                <a:spcPts val="0"/>
              </a:spcBef>
              <a:spcAft>
                <a:spcPts val="0"/>
              </a:spcAft>
              <a:buClr>
                <a:schemeClr val="dk1"/>
              </a:buClr>
              <a:buSzPts val="3000"/>
              <a:buNone/>
              <a:defRPr sz="3000" i="1">
                <a:solidFill>
                  <a:schemeClr val="dk1"/>
                </a:solidFill>
              </a:defRPr>
            </a:lvl6pPr>
            <a:lvl7pPr lvl="6">
              <a:spcBef>
                <a:spcPts val="0"/>
              </a:spcBef>
              <a:spcAft>
                <a:spcPts val="0"/>
              </a:spcAft>
              <a:buClr>
                <a:schemeClr val="dk1"/>
              </a:buClr>
              <a:buSzPts val="3000"/>
              <a:buNone/>
              <a:defRPr sz="3000" i="1">
                <a:solidFill>
                  <a:schemeClr val="dk1"/>
                </a:solidFill>
              </a:defRPr>
            </a:lvl7pPr>
            <a:lvl8pPr lvl="7">
              <a:spcBef>
                <a:spcPts val="0"/>
              </a:spcBef>
              <a:spcAft>
                <a:spcPts val="0"/>
              </a:spcAft>
              <a:buClr>
                <a:schemeClr val="dk1"/>
              </a:buClr>
              <a:buSzPts val="3000"/>
              <a:buNone/>
              <a:defRPr sz="3000" i="1">
                <a:solidFill>
                  <a:schemeClr val="dk1"/>
                </a:solidFill>
              </a:defRPr>
            </a:lvl8pPr>
            <a:lvl9pPr lvl="8">
              <a:spcBef>
                <a:spcPts val="0"/>
              </a:spcBef>
              <a:spcAft>
                <a:spcPts val="0"/>
              </a:spcAft>
              <a:buClr>
                <a:schemeClr val="dk1"/>
              </a:buClr>
              <a:buSzPts val="3000"/>
              <a:buNone/>
              <a:defRPr sz="3000" i="1">
                <a:solidFill>
                  <a:schemeClr val="dk1"/>
                </a:solidFill>
              </a:defRPr>
            </a:lvl9pPr>
          </a:lstStyle>
          <a:p>
            <a:endParaRPr/>
          </a:p>
        </p:txBody>
      </p:sp>
      <p:sp>
        <p:nvSpPr>
          <p:cNvPr id="7" name="Google Shape;7;p1"/>
          <p:cNvSpPr txBox="1">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pic>
        <p:nvPicPr>
          <p:cNvPr id="2" name="Picture 2">
            <a:extLst>
              <a:ext uri="{FF2B5EF4-FFF2-40B4-BE49-F238E27FC236}">
                <a16:creationId xmlns:a16="http://schemas.microsoft.com/office/drawing/2014/main" id="{25672B71-DDB1-F676-4205-F955EA6D1FAE}"/>
              </a:ext>
            </a:extLst>
          </p:cNvPr>
          <p:cNvPicPr>
            <a:picLocks noChangeAspect="1" noChangeArrowheads="1"/>
          </p:cNvPicPr>
          <p:nvPr userDrawn="1"/>
        </p:nvPicPr>
        <p:blipFill rotWithShape="1">
          <a:blip r:embed="rId55">
            <a:extLst>
              <a:ext uri="{28A0092B-C50C-407E-A947-70E740481C1C}">
                <a14:useLocalDpi xmlns:a14="http://schemas.microsoft.com/office/drawing/2010/main" val="0"/>
              </a:ext>
            </a:extLst>
          </a:blip>
          <a:srcRect l="9782" t="13060" r="9782" b="6505"/>
          <a:stretch>
            <a:fillRect/>
          </a:stretch>
        </p:blipFill>
        <p:spPr bwMode="auto">
          <a:xfrm>
            <a:off x="7876354" y="372233"/>
            <a:ext cx="1108742" cy="1084024"/>
          </a:xfrm>
          <a:prstGeom prst="ellipse">
            <a:avLst/>
          </a:prstGeom>
          <a:noFill/>
          <a:extLst>
            <a:ext uri="{909E8E84-426E-40DD-AFC4-6F175D3DCCD1}">
              <a14:hiddenFill xmlns:a14="http://schemas.microsoft.com/office/drawing/2010/main">
                <a:solidFill>
                  <a:srgbClr val="FFFFFF"/>
                </a:solidFill>
              </a14:hiddenFill>
            </a:ext>
          </a:extLst>
        </p:spPr>
      </p:pic>
    </p:spTree>
  </p:cSld>
  <p:clrMap bg1="lt1" tx1="dk1" bg2="dk2" tx2="lt2" accent1="accent1" accent2="accent2" accent3="accent3" accent4="accent4" accent5="accent5" accent6="accent6" hlink="hlink" folHlink="folHlink"/>
  <p:sldLayoutIdLst>
    <p:sldLayoutId id="2147483648" r:id="rId1"/>
    <p:sldLayoutId id="2147483652" r:id="rId2"/>
    <p:sldLayoutId id="2147483706" r:id="rId3"/>
    <p:sldLayoutId id="2147485633" r:id="rId4"/>
    <p:sldLayoutId id="2147485505" r:id="rId5"/>
    <p:sldLayoutId id="2147485499" r:id="rId6"/>
    <p:sldLayoutId id="2147485489" r:id="rId7"/>
    <p:sldLayoutId id="2147485464" r:id="rId8"/>
    <p:sldLayoutId id="2147485120" r:id="rId9"/>
    <p:sldLayoutId id="2147485113" r:id="rId10"/>
    <p:sldLayoutId id="2147485111" r:id="rId11"/>
    <p:sldLayoutId id="2147485108" r:id="rId12"/>
    <p:sldLayoutId id="2147484253" r:id="rId13"/>
    <p:sldLayoutId id="2147484249" r:id="rId14"/>
    <p:sldLayoutId id="2147484243" r:id="rId15"/>
    <p:sldLayoutId id="2147484104" r:id="rId16"/>
    <p:sldLayoutId id="2147483800" r:id="rId17"/>
    <p:sldLayoutId id="2147483791" r:id="rId18"/>
    <p:sldLayoutId id="2147483765" r:id="rId19"/>
    <p:sldLayoutId id="2147485665" r:id="rId20"/>
    <p:sldLayoutId id="2147484395" r:id="rId21"/>
    <p:sldLayoutId id="2147484388" r:id="rId22"/>
    <p:sldLayoutId id="2147484386" r:id="rId23"/>
    <p:sldLayoutId id="2147484383" r:id="rId24"/>
    <p:sldLayoutId id="2147484358" r:id="rId25"/>
    <p:sldLayoutId id="2147484319" r:id="rId26"/>
    <p:sldLayoutId id="2147484310" r:id="rId27"/>
    <p:sldLayoutId id="2147485651" r:id="rId28"/>
    <p:sldLayoutId id="2147485647" r:id="rId29"/>
    <p:sldLayoutId id="2147485641" r:id="rId30"/>
    <p:sldLayoutId id="2147485502" r:id="rId31"/>
    <p:sldLayoutId id="2147485495" r:id="rId32"/>
    <p:sldLayoutId id="2147485493" r:id="rId33"/>
    <p:sldLayoutId id="2147485490" r:id="rId34"/>
    <p:sldLayoutId id="2147485465" r:id="rId35"/>
    <p:sldLayoutId id="2147485121" r:id="rId36"/>
    <p:sldLayoutId id="2147485112" r:id="rId37"/>
    <p:sldLayoutId id="2147484268" r:id="rId38"/>
    <p:sldLayoutId id="2147488007" r:id="rId39"/>
    <p:sldLayoutId id="2147487998" r:id="rId40"/>
    <p:sldLayoutId id="2147483655" r:id="rId41"/>
    <p:sldLayoutId id="2147483663" r:id="rId42"/>
    <p:sldLayoutId id="2147483667" r:id="rId43"/>
    <p:sldLayoutId id="2147483668" r:id="rId44"/>
    <p:sldLayoutId id="2147483669" r:id="rId45"/>
    <p:sldLayoutId id="2147483679" r:id="rId46"/>
    <p:sldLayoutId id="2147483692" r:id="rId47"/>
    <p:sldLayoutId id="2147483693" r:id="rId48"/>
    <p:sldLayoutId id="2147483695" r:id="rId49"/>
    <p:sldLayoutId id="2147483696" r:id="rId50"/>
    <p:sldLayoutId id="2147483697" r:id="rId51"/>
    <p:sldLayoutId id="2147483698" r:id="rId52"/>
    <p:sldLayoutId id="2147483699" r:id="rId5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6.xml"/></Relationships>
</file>

<file path=ppt/slides/_rels/slide8.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8.xml"/><Relationship Id="rId1" Type="http://schemas.openxmlformats.org/officeDocument/2006/relationships/slideLayout" Target="../slideLayouts/slideLayout44.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3.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43.xml"/><Relationship Id="rId6" Type="http://schemas.openxmlformats.org/officeDocument/2006/relationships/customXml" Target="../ink/ink3.xml"/><Relationship Id="rId5" Type="http://schemas.openxmlformats.org/officeDocument/2006/relationships/image" Target="../media/image5.png"/><Relationship Id="rId4" Type="http://schemas.openxmlformats.org/officeDocument/2006/relationships/customXml" Target="../ink/ink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41.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pic>
        <p:nvPicPr>
          <p:cNvPr id="1026" name="Picture 2">
            <a:extLst>
              <a:ext uri="{FF2B5EF4-FFF2-40B4-BE49-F238E27FC236}">
                <a16:creationId xmlns:a16="http://schemas.microsoft.com/office/drawing/2014/main" id="{30DDA124-CF3B-AEF8-4EAD-4B0EA1C7894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782" t="13060" r="9782" b="6505"/>
          <a:stretch>
            <a:fillRect/>
          </a:stretch>
        </p:blipFill>
        <p:spPr bwMode="auto">
          <a:xfrm>
            <a:off x="2936307" y="620550"/>
            <a:ext cx="3271386" cy="3198456"/>
          </a:xfrm>
          <a:prstGeom prst="ellipse">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AD472715-A74D-28A1-D4B6-566C0B3AF8A9}"/>
              </a:ext>
            </a:extLst>
          </p:cNvPr>
          <p:cNvSpPr/>
          <p:nvPr/>
        </p:nvSpPr>
        <p:spPr>
          <a:xfrm>
            <a:off x="7355279" y="347032"/>
            <a:ext cx="1733909" cy="1354347"/>
          </a:xfrm>
          <a:prstGeom prst="rect">
            <a:avLst/>
          </a:prstGeom>
          <a:solidFill>
            <a:srgbClr val="B4CBD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 name="Google Shape;483;p59"/>
          <p:cNvSpPr txBox="1">
            <a:spLocks noGrp="1"/>
          </p:cNvSpPr>
          <p:nvPr>
            <p:ph type="subTitle" idx="1"/>
          </p:nvPr>
        </p:nvSpPr>
        <p:spPr>
          <a:xfrm>
            <a:off x="1788721" y="3442121"/>
            <a:ext cx="5566558" cy="753769"/>
          </a:xfrm>
          <a:prstGeom prst="rect">
            <a:avLst/>
          </a:prstGeom>
        </p:spPr>
        <p:txBody>
          <a:bodyPr spcFirstLastPara="1" wrap="square" lIns="91425" tIns="91425" rIns="91425" bIns="91425" anchor="t" anchorCtr="0">
            <a:noAutofit/>
          </a:bodyPr>
          <a:lstStyle/>
          <a:p>
            <a:pPr marL="0" indent="0">
              <a:lnSpc>
                <a:spcPct val="150000"/>
              </a:lnSpc>
            </a:pPr>
            <a:r>
              <a:rPr lang="en">
                <a:solidFill>
                  <a:schemeClr val="dk1"/>
                </a:solidFill>
              </a:rPr>
              <a:t>Amala </a:t>
            </a:r>
            <a:r>
              <a:rPr lang="en" err="1">
                <a:solidFill>
                  <a:schemeClr val="dk1"/>
                </a:solidFill>
              </a:rPr>
              <a:t>Vilivalam</a:t>
            </a:r>
            <a:r>
              <a:rPr lang="en">
                <a:solidFill>
                  <a:schemeClr val="dk1"/>
                </a:solidFill>
              </a:rPr>
              <a:t>, Priscilla Chang, Zeina Samra, Juleen Kirols, Riya </a:t>
            </a:r>
            <a:r>
              <a:rPr lang="en" err="1">
                <a:solidFill>
                  <a:schemeClr val="dk1"/>
                </a:solidFill>
              </a:rPr>
              <a:t>Chowdawarapu</a:t>
            </a:r>
            <a:endParaRPr lang="en">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83"/>
                                        </p:tgtEl>
                                        <p:attrNameLst>
                                          <p:attrName>style.visibility</p:attrName>
                                        </p:attrNameLst>
                                      </p:cBhvr>
                                      <p:to>
                                        <p:strVal val="visible"/>
                                      </p:to>
                                    </p:set>
                                    <p:anim calcmode="lin" valueType="num">
                                      <p:cBhvr additive="base">
                                        <p:cTn id="7" dur="1000"/>
                                        <p:tgtEl>
                                          <p:spTgt spid="48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65"/>
          <p:cNvSpPr txBox="1">
            <a:spLocks noGrp="1"/>
          </p:cNvSpPr>
          <p:nvPr>
            <p:ph type="subTitle" idx="1"/>
          </p:nvPr>
        </p:nvSpPr>
        <p:spPr>
          <a:xfrm>
            <a:off x="857729" y="1381800"/>
            <a:ext cx="7428541" cy="2379900"/>
          </a:xfrm>
          <a:prstGeom prst="rect">
            <a:avLst/>
          </a:prstGeom>
        </p:spPr>
        <p:txBody>
          <a:bodyPr spcFirstLastPara="1" wrap="square" lIns="91425" tIns="91425" rIns="91425" bIns="91425" anchor="t" anchorCtr="0">
            <a:noAutofit/>
          </a:bodyPr>
          <a:lstStyle/>
          <a:p>
            <a:pPr marL="285750" indent="-285750">
              <a:lnSpc>
                <a:spcPct val="150000"/>
              </a:lnSpc>
            </a:pPr>
            <a:r>
              <a:rPr lang="en-US"/>
              <a:t>Rest/relaxation area in student centers </a:t>
            </a:r>
          </a:p>
          <a:p>
            <a:pPr marL="285750" indent="-285750">
              <a:lnSpc>
                <a:spcPct val="150000"/>
              </a:lnSpc>
            </a:pPr>
            <a:r>
              <a:rPr lang="en-US"/>
              <a:t>Provides commuter students with a place to nap between classes</a:t>
            </a:r>
          </a:p>
          <a:p>
            <a:pPr marL="285750" indent="-285750">
              <a:lnSpc>
                <a:spcPct val="150000"/>
              </a:lnSpc>
            </a:pPr>
            <a:r>
              <a:rPr lang="en-US"/>
              <a:t>~6 pods that students can reserve in 30-minute session</a:t>
            </a:r>
          </a:p>
          <a:p>
            <a:pPr marL="0" indent="0">
              <a:lnSpc>
                <a:spcPct val="150000"/>
              </a:lnSpc>
              <a:buNone/>
            </a:pPr>
            <a:r>
              <a:rPr lang="en-US"/>
              <a:t>	- Timers in each pod, monitored by employees</a:t>
            </a:r>
          </a:p>
          <a:p>
            <a:pPr marL="0" indent="0">
              <a:lnSpc>
                <a:spcPct val="150000"/>
              </a:lnSpc>
              <a:buNone/>
            </a:pPr>
            <a:r>
              <a:rPr lang="en-US"/>
              <a:t>	- Premium: book longer sessions </a:t>
            </a:r>
          </a:p>
          <a:p>
            <a:pPr marL="285750" indent="-285750">
              <a:lnSpc>
                <a:spcPct val="150000"/>
              </a:lnSpc>
            </a:pPr>
            <a:r>
              <a:rPr lang="en-US"/>
              <a:t>Available on all campuses</a:t>
            </a:r>
          </a:p>
          <a:p>
            <a:pPr marL="285750" indent="-285750">
              <a:lnSpc>
                <a:spcPct val="150000"/>
              </a:lnSpc>
            </a:pPr>
            <a:r>
              <a:rPr lang="en-US"/>
              <a:t>Cleaning services + disposable sheets for sanitation</a:t>
            </a:r>
          </a:p>
          <a:p>
            <a:pPr marL="285750" indent="-285750">
              <a:lnSpc>
                <a:spcPct val="150000"/>
              </a:lnSpc>
            </a:pPr>
            <a:r>
              <a:rPr lang="en-US"/>
              <a:t>Associated Workshops: yoga/meditation</a:t>
            </a:r>
          </a:p>
        </p:txBody>
      </p:sp>
      <p:sp>
        <p:nvSpPr>
          <p:cNvPr id="547" name="Google Shape;547;p65"/>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Our Business Concept</a:t>
            </a:r>
            <a:endParaRPr/>
          </a:p>
        </p:txBody>
      </p:sp>
      <p:pic>
        <p:nvPicPr>
          <p:cNvPr id="1026" name="Picture 2" descr="Clock Icon PNG Images, Vectors Free Download - Pngtree">
            <a:extLst>
              <a:ext uri="{FF2B5EF4-FFF2-40B4-BE49-F238E27FC236}">
                <a16:creationId xmlns:a16="http://schemas.microsoft.com/office/drawing/2014/main" id="{6F023700-3130-ABCD-2C2F-9A65D046FF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0853" y="1976527"/>
            <a:ext cx="2578220" cy="25782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66"/>
          <p:cNvSpPr txBox="1">
            <a:spLocks noGrp="1"/>
          </p:cNvSpPr>
          <p:nvPr>
            <p:ph type="subTitle" idx="1"/>
          </p:nvPr>
        </p:nvSpPr>
        <p:spPr>
          <a:xfrm>
            <a:off x="750581" y="1121283"/>
            <a:ext cx="7539396" cy="3226430"/>
          </a:xfrm>
          <a:prstGeom prst="rect">
            <a:avLst/>
          </a:prstGeom>
        </p:spPr>
        <p:txBody>
          <a:bodyPr spcFirstLastPara="1" wrap="square" lIns="91425" tIns="91425" rIns="91425" bIns="91425" anchor="t" anchorCtr="0">
            <a:noAutofit/>
          </a:bodyPr>
          <a:lstStyle/>
          <a:p>
            <a:pPr marL="0" lvl="0" indent="0">
              <a:buClr>
                <a:schemeClr val="dk1"/>
              </a:buClr>
              <a:buSzPts val="1100"/>
              <a:buNone/>
            </a:pPr>
            <a:r>
              <a:rPr lang="en-US">
                <a:solidFill>
                  <a:schemeClr val="dk1"/>
                </a:solidFill>
              </a:rPr>
              <a:t>SleeepyPods provides students, especially commuters, with </a:t>
            </a:r>
            <a:r>
              <a:rPr lang="en-US" b="1">
                <a:solidFill>
                  <a:schemeClr val="dk1"/>
                </a:solidFill>
              </a:rPr>
              <a:t>designated napping spots on every campus</a:t>
            </a:r>
            <a:r>
              <a:rPr lang="en-US">
                <a:solidFill>
                  <a:schemeClr val="dk1"/>
                </a:solidFill>
              </a:rPr>
              <a:t>. Each student center would have an area with </a:t>
            </a:r>
            <a:r>
              <a:rPr lang="en-US" b="1">
                <a:solidFill>
                  <a:schemeClr val="dk1"/>
                </a:solidFill>
              </a:rPr>
              <a:t>4-5 napping pods </a:t>
            </a:r>
            <a:r>
              <a:rPr lang="en-US">
                <a:solidFill>
                  <a:schemeClr val="dk1"/>
                </a:solidFill>
              </a:rPr>
              <a:t>that students can reserve for </a:t>
            </a:r>
            <a:r>
              <a:rPr lang="en-US" b="1">
                <a:solidFill>
                  <a:schemeClr val="dk1"/>
                </a:solidFill>
              </a:rPr>
              <a:t>30-minute increments</a:t>
            </a:r>
            <a:r>
              <a:rPr lang="en-US">
                <a:solidFill>
                  <a:schemeClr val="dk1"/>
                </a:solidFill>
              </a:rPr>
              <a:t>. To help students deal with the awkward gaps between morning and evening classes, they can take breaks as they normally would back in their rooms but at a more convenient location. </a:t>
            </a:r>
          </a:p>
          <a:p>
            <a:pPr marL="0" lvl="0" indent="0">
              <a:buClr>
                <a:schemeClr val="dk1"/>
              </a:buClr>
              <a:buSzPts val="1100"/>
              <a:buNone/>
            </a:pPr>
            <a:endParaRPr lang="en-US">
              <a:solidFill>
                <a:schemeClr val="dk1"/>
              </a:solidFill>
            </a:endParaRPr>
          </a:p>
          <a:p>
            <a:pPr marL="0" lvl="0" indent="0">
              <a:buClr>
                <a:schemeClr val="dk1"/>
              </a:buClr>
              <a:buSzPts val="1100"/>
              <a:buNone/>
            </a:pPr>
            <a:r>
              <a:rPr lang="en-US">
                <a:solidFill>
                  <a:schemeClr val="dk1"/>
                </a:solidFill>
              </a:rPr>
              <a:t>This is especially beneficial for the </a:t>
            </a:r>
            <a:r>
              <a:rPr lang="en-US" b="1">
                <a:solidFill>
                  <a:schemeClr val="dk1"/>
                </a:solidFill>
              </a:rPr>
              <a:t>commuter minority</a:t>
            </a:r>
            <a:r>
              <a:rPr lang="en-US">
                <a:solidFill>
                  <a:schemeClr val="dk1"/>
                </a:solidFill>
              </a:rPr>
              <a:t> at a university, where they are unable to make continuous trips to campus and back home in a day. This is the baseline service our company provides, but we also have a </a:t>
            </a:r>
            <a:r>
              <a:rPr lang="en-US" b="1">
                <a:solidFill>
                  <a:schemeClr val="dk1"/>
                </a:solidFill>
              </a:rPr>
              <a:t>premium service</a:t>
            </a:r>
            <a:r>
              <a:rPr lang="en-US">
                <a:solidFill>
                  <a:schemeClr val="dk1"/>
                </a:solidFill>
              </a:rPr>
              <a:t> that would involve booking a pod for an extended period. </a:t>
            </a:r>
          </a:p>
          <a:p>
            <a:pPr marL="0" lvl="0" indent="0">
              <a:buClr>
                <a:schemeClr val="dk1"/>
              </a:buClr>
              <a:buSzPts val="1100"/>
              <a:buNone/>
            </a:pPr>
            <a:endParaRPr lang="en-US">
              <a:solidFill>
                <a:schemeClr val="dk1"/>
              </a:solidFill>
            </a:endParaRPr>
          </a:p>
          <a:p>
            <a:pPr marL="0" lvl="0" indent="0">
              <a:buClr>
                <a:schemeClr val="dk1"/>
              </a:buClr>
              <a:buSzPts val="1100"/>
              <a:buNone/>
            </a:pPr>
            <a:r>
              <a:rPr lang="en-US">
                <a:solidFill>
                  <a:schemeClr val="dk1"/>
                </a:solidFill>
              </a:rPr>
              <a:t>While there are limits to how long a student can reserve a pod at a time, the program will be available from </a:t>
            </a:r>
            <a:r>
              <a:rPr lang="en-US" b="1">
                <a:solidFill>
                  <a:schemeClr val="dk1"/>
                </a:solidFill>
              </a:rPr>
              <a:t>10 am – 8 pm </a:t>
            </a:r>
            <a:r>
              <a:rPr lang="en-US">
                <a:solidFill>
                  <a:schemeClr val="dk1"/>
                </a:solidFill>
              </a:rPr>
              <a:t>and be </a:t>
            </a:r>
            <a:r>
              <a:rPr lang="en-US" b="1">
                <a:solidFill>
                  <a:schemeClr val="dk1"/>
                </a:solidFill>
              </a:rPr>
              <a:t>extended during</a:t>
            </a:r>
          </a:p>
          <a:p>
            <a:pPr marL="0" lvl="0" indent="0">
              <a:buClr>
                <a:schemeClr val="dk1"/>
              </a:buClr>
              <a:buSzPts val="1100"/>
              <a:buNone/>
            </a:pPr>
            <a:r>
              <a:rPr lang="en-US" b="1">
                <a:solidFill>
                  <a:schemeClr val="dk1"/>
                </a:solidFill>
              </a:rPr>
              <a:t>finals season</a:t>
            </a:r>
            <a:r>
              <a:rPr lang="en-US">
                <a:solidFill>
                  <a:schemeClr val="dk1"/>
                </a:solidFill>
              </a:rPr>
              <a:t>. Workshops, such as yoga/meditation/stress relief, will also take place with a focus on mental health.</a:t>
            </a:r>
            <a:endParaRPr/>
          </a:p>
        </p:txBody>
      </p:sp>
      <p:sp>
        <p:nvSpPr>
          <p:cNvPr id="554" name="Google Shape;554;p66"/>
          <p:cNvSpPr txBox="1">
            <a:spLocks noGrp="1"/>
          </p:cNvSpPr>
          <p:nvPr>
            <p:ph type="title"/>
          </p:nvPr>
        </p:nvSpPr>
        <p:spPr>
          <a:xfrm>
            <a:off x="308691" y="401893"/>
            <a:ext cx="5679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Customer Value Proposition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45">
          <a:extLst>
            <a:ext uri="{FF2B5EF4-FFF2-40B4-BE49-F238E27FC236}">
              <a16:creationId xmlns:a16="http://schemas.microsoft.com/office/drawing/2014/main" id="{45A844D7-FF66-59C4-546F-AEA78FBB908B}"/>
            </a:ext>
          </a:extLst>
        </p:cNvPr>
        <p:cNvGrpSpPr/>
        <p:nvPr/>
      </p:nvGrpSpPr>
      <p:grpSpPr>
        <a:xfrm>
          <a:off x="0" y="0"/>
          <a:ext cx="0" cy="0"/>
          <a:chOff x="0" y="0"/>
          <a:chExt cx="0" cy="0"/>
        </a:xfrm>
      </p:grpSpPr>
      <p:sp>
        <p:nvSpPr>
          <p:cNvPr id="546" name="Google Shape;546;p65">
            <a:extLst>
              <a:ext uri="{FF2B5EF4-FFF2-40B4-BE49-F238E27FC236}">
                <a16:creationId xmlns:a16="http://schemas.microsoft.com/office/drawing/2014/main" id="{94FFA778-556B-9A27-B56D-E8204BA9D63E}"/>
              </a:ext>
            </a:extLst>
          </p:cNvPr>
          <p:cNvSpPr txBox="1">
            <a:spLocks noGrp="1"/>
          </p:cNvSpPr>
          <p:nvPr>
            <p:ph type="subTitle" idx="1"/>
          </p:nvPr>
        </p:nvSpPr>
        <p:spPr>
          <a:xfrm>
            <a:off x="1732047" y="1043608"/>
            <a:ext cx="5679900" cy="345487"/>
          </a:xfrm>
          <a:prstGeom prst="rect">
            <a:avLst/>
          </a:prstGeom>
          <a:solidFill>
            <a:srgbClr val="D3EEFF"/>
          </a:solidFill>
        </p:spPr>
        <p:txBody>
          <a:bodyPr spcFirstLastPara="1" wrap="square" lIns="91425" tIns="91425" rIns="91425" bIns="91425" anchor="ctr" anchorCtr="0">
            <a:noAutofit/>
          </a:bodyPr>
          <a:lstStyle/>
          <a:p>
            <a:pPr marL="114300" indent="0" algn="ctr">
              <a:buNone/>
            </a:pPr>
            <a:r>
              <a:rPr lang="en-US" sz="1600">
                <a:solidFill>
                  <a:schemeClr val="dk1"/>
                </a:solidFill>
              </a:rPr>
              <a:t>Instilling peace amidst the rush</a:t>
            </a:r>
          </a:p>
        </p:txBody>
      </p:sp>
      <p:sp>
        <p:nvSpPr>
          <p:cNvPr id="547" name="Google Shape;547;p65">
            <a:extLst>
              <a:ext uri="{FF2B5EF4-FFF2-40B4-BE49-F238E27FC236}">
                <a16:creationId xmlns:a16="http://schemas.microsoft.com/office/drawing/2014/main" id="{020C8EFB-CFC1-5E06-1F5C-C6250B24879E}"/>
              </a:ext>
            </a:extLst>
          </p:cNvPr>
          <p:cNvSpPr txBox="1">
            <a:spLocks noGrp="1"/>
          </p:cNvSpPr>
          <p:nvPr>
            <p:ph type="title"/>
          </p:nvPr>
        </p:nvSpPr>
        <p:spPr>
          <a:xfrm>
            <a:off x="1732048" y="303335"/>
            <a:ext cx="5679900" cy="913017"/>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4000"/>
              <a:t>Our Vision</a:t>
            </a:r>
          </a:p>
        </p:txBody>
      </p:sp>
      <p:sp>
        <p:nvSpPr>
          <p:cNvPr id="2" name="Google Shape;546;p65">
            <a:extLst>
              <a:ext uri="{FF2B5EF4-FFF2-40B4-BE49-F238E27FC236}">
                <a16:creationId xmlns:a16="http://schemas.microsoft.com/office/drawing/2014/main" id="{43DEA03C-C8F6-DE4C-CCF3-EB8308B67589}"/>
              </a:ext>
            </a:extLst>
          </p:cNvPr>
          <p:cNvSpPr txBox="1">
            <a:spLocks/>
          </p:cNvSpPr>
          <p:nvPr/>
        </p:nvSpPr>
        <p:spPr>
          <a:xfrm>
            <a:off x="1732047" y="2417566"/>
            <a:ext cx="5679901" cy="2094805"/>
          </a:xfrm>
          <a:prstGeom prst="rect">
            <a:avLst/>
          </a:prstGeom>
          <a:solidFill>
            <a:srgbClr val="D3EEFF"/>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lgn="ctr">
              <a:lnSpc>
                <a:spcPct val="150000"/>
              </a:lnSpc>
              <a:buFont typeface="Montserrat"/>
              <a:buNone/>
            </a:pPr>
            <a:r>
              <a:rPr lang="en-US" sz="1200">
                <a:solidFill>
                  <a:schemeClr val="dk1"/>
                </a:solidFill>
              </a:rPr>
              <a:t>Sleeepy Pods aims to provide </a:t>
            </a:r>
            <a:r>
              <a:rPr lang="en-US" sz="1200" b="1">
                <a:solidFill>
                  <a:schemeClr val="dk1"/>
                </a:solidFill>
              </a:rPr>
              <a:t>commuter college students </a:t>
            </a:r>
            <a:r>
              <a:rPr lang="en-US" sz="1200">
                <a:solidFill>
                  <a:schemeClr val="dk1"/>
                </a:solidFill>
              </a:rPr>
              <a:t>a place to </a:t>
            </a:r>
            <a:r>
              <a:rPr lang="en-US" sz="1200" b="1">
                <a:solidFill>
                  <a:schemeClr val="dk1"/>
                </a:solidFill>
              </a:rPr>
              <a:t>nap and recharge</a:t>
            </a:r>
            <a:r>
              <a:rPr lang="en-US" sz="1200">
                <a:solidFill>
                  <a:schemeClr val="dk1"/>
                </a:solidFill>
              </a:rPr>
              <a:t> with our technology-enabled nap pods. Located in each of the </a:t>
            </a:r>
            <a:r>
              <a:rPr lang="en-US" sz="1200" b="1">
                <a:solidFill>
                  <a:schemeClr val="dk1"/>
                </a:solidFill>
              </a:rPr>
              <a:t>student centers</a:t>
            </a:r>
            <a:r>
              <a:rPr lang="en-US" sz="1200">
                <a:solidFill>
                  <a:schemeClr val="dk1"/>
                </a:solidFill>
              </a:rPr>
              <a:t>, our service is designed to provide a convenient resting place without traveling home or for students who have dorms on different campuses. Through </a:t>
            </a:r>
            <a:r>
              <a:rPr lang="en-US" sz="1200" b="1">
                <a:solidFill>
                  <a:schemeClr val="dk1"/>
                </a:solidFill>
              </a:rPr>
              <a:t>short nap sessions, extended premium options, and wellness workshops</a:t>
            </a:r>
            <a:r>
              <a:rPr lang="en-US" sz="1200">
                <a:solidFill>
                  <a:schemeClr val="dk1"/>
                </a:solidFill>
              </a:rPr>
              <a:t>, SleeepyPods helps recharge both </a:t>
            </a:r>
            <a:r>
              <a:rPr lang="en-US" sz="1200" b="1">
                <a:solidFill>
                  <a:schemeClr val="dk1"/>
                </a:solidFill>
              </a:rPr>
              <a:t>physically and mentally</a:t>
            </a:r>
            <a:r>
              <a:rPr lang="en-US" sz="1200">
                <a:solidFill>
                  <a:schemeClr val="dk1"/>
                </a:solidFill>
              </a:rPr>
              <a:t>.</a:t>
            </a:r>
          </a:p>
        </p:txBody>
      </p:sp>
      <p:sp>
        <p:nvSpPr>
          <p:cNvPr id="3" name="Google Shape;547;p65">
            <a:extLst>
              <a:ext uri="{FF2B5EF4-FFF2-40B4-BE49-F238E27FC236}">
                <a16:creationId xmlns:a16="http://schemas.microsoft.com/office/drawing/2014/main" id="{9046C09C-D1E3-660B-3FE3-505E789FE90F}"/>
              </a:ext>
            </a:extLst>
          </p:cNvPr>
          <p:cNvSpPr txBox="1">
            <a:spLocks/>
          </p:cNvSpPr>
          <p:nvPr/>
        </p:nvSpPr>
        <p:spPr>
          <a:xfrm>
            <a:off x="1479938" y="1693512"/>
            <a:ext cx="6184124" cy="84763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Vidaloka"/>
              <a:buNone/>
              <a:defRPr sz="3000" b="0" i="0" u="none" strike="noStrike" cap="none">
                <a:solidFill>
                  <a:schemeClr val="dk1"/>
                </a:solidFill>
                <a:latin typeface="Vidaloka"/>
                <a:ea typeface="Vidaloka"/>
                <a:cs typeface="Vidaloka"/>
                <a:sym typeface="Vidaloka"/>
              </a:defRPr>
            </a:lvl1pPr>
            <a:lvl2pPr marR="0" lvl="1"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9pPr>
          </a:lstStyle>
          <a:p>
            <a:pPr algn="ctr"/>
            <a:r>
              <a:rPr lang="en-US" sz="4000"/>
              <a:t>Our Mission</a:t>
            </a:r>
          </a:p>
        </p:txBody>
      </p:sp>
    </p:spTree>
    <p:extLst>
      <p:ext uri="{BB962C8B-B14F-4D97-AF65-F5344CB8AC3E}">
        <p14:creationId xmlns:p14="http://schemas.microsoft.com/office/powerpoint/2010/main" val="1654218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45">
          <a:extLst>
            <a:ext uri="{FF2B5EF4-FFF2-40B4-BE49-F238E27FC236}">
              <a16:creationId xmlns:a16="http://schemas.microsoft.com/office/drawing/2014/main" id="{FC0B687C-69CD-1EFF-5B76-A91C137578DB}"/>
            </a:ext>
          </a:extLst>
        </p:cNvPr>
        <p:cNvGrpSpPr/>
        <p:nvPr/>
      </p:nvGrpSpPr>
      <p:grpSpPr>
        <a:xfrm>
          <a:off x="0" y="0"/>
          <a:ext cx="0" cy="0"/>
          <a:chOff x="0" y="0"/>
          <a:chExt cx="0" cy="0"/>
        </a:xfrm>
      </p:grpSpPr>
      <p:sp>
        <p:nvSpPr>
          <p:cNvPr id="2" name="Google Shape;547;p65">
            <a:extLst>
              <a:ext uri="{FF2B5EF4-FFF2-40B4-BE49-F238E27FC236}">
                <a16:creationId xmlns:a16="http://schemas.microsoft.com/office/drawing/2014/main" id="{7A8579BF-FD68-E5A6-F742-EE95A1459E22}"/>
              </a:ext>
            </a:extLst>
          </p:cNvPr>
          <p:cNvSpPr txBox="1">
            <a:spLocks/>
          </p:cNvSpPr>
          <p:nvPr/>
        </p:nvSpPr>
        <p:spPr>
          <a:xfrm>
            <a:off x="1754968" y="511519"/>
            <a:ext cx="6184124" cy="78997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Vidaloka"/>
              <a:buNone/>
              <a:defRPr sz="3000" b="0" i="0" u="none" strike="noStrike" cap="none">
                <a:solidFill>
                  <a:schemeClr val="dk1"/>
                </a:solidFill>
                <a:latin typeface="Vidaloka"/>
                <a:ea typeface="Vidaloka"/>
                <a:cs typeface="Vidaloka"/>
                <a:sym typeface="Vidaloka"/>
              </a:defRPr>
            </a:lvl1pPr>
            <a:lvl2pPr marR="0" lvl="1"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9pPr>
          </a:lstStyle>
          <a:p>
            <a:pPr algn="ctr"/>
            <a:r>
              <a:rPr lang="en-US" sz="5000"/>
              <a:t>Our Core Values</a:t>
            </a:r>
          </a:p>
        </p:txBody>
      </p:sp>
      <p:sp>
        <p:nvSpPr>
          <p:cNvPr id="3" name="Google Shape;546;p65">
            <a:extLst>
              <a:ext uri="{FF2B5EF4-FFF2-40B4-BE49-F238E27FC236}">
                <a16:creationId xmlns:a16="http://schemas.microsoft.com/office/drawing/2014/main" id="{32DFA681-54AC-C289-3FCA-CF2FDF3190A4}"/>
              </a:ext>
            </a:extLst>
          </p:cNvPr>
          <p:cNvSpPr txBox="1">
            <a:spLocks/>
          </p:cNvSpPr>
          <p:nvPr/>
        </p:nvSpPr>
        <p:spPr>
          <a:xfrm>
            <a:off x="709776" y="1600236"/>
            <a:ext cx="1815353" cy="392466"/>
          </a:xfrm>
          <a:prstGeom prst="rect">
            <a:avLst/>
          </a:prstGeom>
          <a:solidFill>
            <a:srgbClr val="D3EE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lgn="ctr">
              <a:buFont typeface="Montserrat"/>
              <a:buNone/>
            </a:pPr>
            <a:r>
              <a:rPr lang="en-US" sz="1050" b="1">
                <a:solidFill>
                  <a:schemeClr val="dk1"/>
                </a:solidFill>
              </a:rPr>
              <a:t>Student Well-Being</a:t>
            </a:r>
          </a:p>
        </p:txBody>
      </p:sp>
      <p:sp>
        <p:nvSpPr>
          <p:cNvPr id="4" name="Google Shape;546;p65">
            <a:extLst>
              <a:ext uri="{FF2B5EF4-FFF2-40B4-BE49-F238E27FC236}">
                <a16:creationId xmlns:a16="http://schemas.microsoft.com/office/drawing/2014/main" id="{69BC7075-65B0-54E7-FE34-342CB3F6F2AB}"/>
              </a:ext>
            </a:extLst>
          </p:cNvPr>
          <p:cNvSpPr txBox="1">
            <a:spLocks/>
          </p:cNvSpPr>
          <p:nvPr/>
        </p:nvSpPr>
        <p:spPr>
          <a:xfrm>
            <a:off x="2682815" y="1600236"/>
            <a:ext cx="5909094" cy="392466"/>
          </a:xfrm>
          <a:prstGeom prst="rect">
            <a:avLst/>
          </a:prstGeom>
          <a:noFill/>
          <a:ln>
            <a:solidFill>
              <a:schemeClr val="tx1"/>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lgn="ctr">
              <a:buFont typeface="Montserrat"/>
              <a:buNone/>
            </a:pPr>
            <a:r>
              <a:rPr lang="en-US" sz="1050">
                <a:solidFill>
                  <a:schemeClr val="dk1"/>
                </a:solidFill>
              </a:rPr>
              <a:t>We prioritize mental health, rest, and stress reduction as essential components of student success.</a:t>
            </a:r>
          </a:p>
        </p:txBody>
      </p:sp>
      <p:sp>
        <p:nvSpPr>
          <p:cNvPr id="5" name="Google Shape;546;p65">
            <a:extLst>
              <a:ext uri="{FF2B5EF4-FFF2-40B4-BE49-F238E27FC236}">
                <a16:creationId xmlns:a16="http://schemas.microsoft.com/office/drawing/2014/main" id="{D328AF4B-AB77-14D6-09B1-783D02724E6D}"/>
              </a:ext>
            </a:extLst>
          </p:cNvPr>
          <p:cNvSpPr txBox="1">
            <a:spLocks/>
          </p:cNvSpPr>
          <p:nvPr/>
        </p:nvSpPr>
        <p:spPr>
          <a:xfrm>
            <a:off x="709776" y="2143335"/>
            <a:ext cx="1815353" cy="392466"/>
          </a:xfrm>
          <a:prstGeom prst="rect">
            <a:avLst/>
          </a:prstGeom>
          <a:solidFill>
            <a:srgbClr val="D3EE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lgn="ctr">
              <a:buFont typeface="Montserrat"/>
              <a:buNone/>
            </a:pPr>
            <a:r>
              <a:rPr lang="en-US" sz="1050" b="1">
                <a:solidFill>
                  <a:schemeClr val="dk1"/>
                </a:solidFill>
              </a:rPr>
              <a:t>Commuter Inclusion</a:t>
            </a:r>
          </a:p>
        </p:txBody>
      </p:sp>
      <p:sp>
        <p:nvSpPr>
          <p:cNvPr id="6" name="Google Shape;546;p65">
            <a:extLst>
              <a:ext uri="{FF2B5EF4-FFF2-40B4-BE49-F238E27FC236}">
                <a16:creationId xmlns:a16="http://schemas.microsoft.com/office/drawing/2014/main" id="{2D990443-61EF-34BD-1946-9FCB1565D23E}"/>
              </a:ext>
            </a:extLst>
          </p:cNvPr>
          <p:cNvSpPr txBox="1">
            <a:spLocks/>
          </p:cNvSpPr>
          <p:nvPr/>
        </p:nvSpPr>
        <p:spPr>
          <a:xfrm>
            <a:off x="2682814" y="2143335"/>
            <a:ext cx="5909094" cy="392466"/>
          </a:xfrm>
          <a:prstGeom prst="rect">
            <a:avLst/>
          </a:prstGeom>
          <a:noFill/>
          <a:ln>
            <a:solidFill>
              <a:schemeClr val="tx1"/>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lgn="ctr">
              <a:buFont typeface="Montserrat"/>
              <a:buNone/>
            </a:pPr>
            <a:r>
              <a:rPr lang="en-US" sz="1050">
                <a:solidFill>
                  <a:schemeClr val="dk1"/>
                </a:solidFill>
              </a:rPr>
              <a:t>We are committed to meeting the unique needs of Rutgers commuter students by providing nearby, reliable spaces for rest and recovery throughout the day.</a:t>
            </a:r>
          </a:p>
        </p:txBody>
      </p:sp>
      <p:sp>
        <p:nvSpPr>
          <p:cNvPr id="7" name="Google Shape;546;p65">
            <a:extLst>
              <a:ext uri="{FF2B5EF4-FFF2-40B4-BE49-F238E27FC236}">
                <a16:creationId xmlns:a16="http://schemas.microsoft.com/office/drawing/2014/main" id="{AD5ABF43-E616-5D18-3417-EFC4F6198D60}"/>
              </a:ext>
            </a:extLst>
          </p:cNvPr>
          <p:cNvSpPr txBox="1">
            <a:spLocks/>
          </p:cNvSpPr>
          <p:nvPr/>
        </p:nvSpPr>
        <p:spPr>
          <a:xfrm>
            <a:off x="709776" y="2686434"/>
            <a:ext cx="1815353" cy="392466"/>
          </a:xfrm>
          <a:prstGeom prst="rect">
            <a:avLst/>
          </a:prstGeom>
          <a:solidFill>
            <a:srgbClr val="D3EE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lgn="ctr">
              <a:buFont typeface="Montserrat"/>
              <a:buNone/>
            </a:pPr>
            <a:r>
              <a:rPr lang="en-US" sz="1050" b="1">
                <a:solidFill>
                  <a:schemeClr val="dk1"/>
                </a:solidFill>
              </a:rPr>
              <a:t>Safety and Trust</a:t>
            </a:r>
          </a:p>
        </p:txBody>
      </p:sp>
      <p:sp>
        <p:nvSpPr>
          <p:cNvPr id="8" name="Google Shape;546;p65">
            <a:extLst>
              <a:ext uri="{FF2B5EF4-FFF2-40B4-BE49-F238E27FC236}">
                <a16:creationId xmlns:a16="http://schemas.microsoft.com/office/drawing/2014/main" id="{D64D1E26-8B2D-5288-944E-81D24D84DF63}"/>
              </a:ext>
            </a:extLst>
          </p:cNvPr>
          <p:cNvSpPr txBox="1">
            <a:spLocks/>
          </p:cNvSpPr>
          <p:nvPr/>
        </p:nvSpPr>
        <p:spPr>
          <a:xfrm>
            <a:off x="2682814" y="2686434"/>
            <a:ext cx="5909094" cy="392466"/>
          </a:xfrm>
          <a:prstGeom prst="rect">
            <a:avLst/>
          </a:prstGeom>
          <a:noFill/>
          <a:ln>
            <a:solidFill>
              <a:schemeClr val="tx1"/>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lgn="ctr">
              <a:buFont typeface="Montserrat"/>
              <a:buNone/>
            </a:pPr>
            <a:r>
              <a:rPr lang="en-US" sz="1050">
                <a:solidFill>
                  <a:schemeClr val="dk1"/>
                </a:solidFill>
              </a:rPr>
              <a:t>We maintain high standards for cleanliness, privacy, and security.</a:t>
            </a:r>
          </a:p>
        </p:txBody>
      </p:sp>
      <p:sp>
        <p:nvSpPr>
          <p:cNvPr id="9" name="Google Shape;546;p65">
            <a:extLst>
              <a:ext uri="{FF2B5EF4-FFF2-40B4-BE49-F238E27FC236}">
                <a16:creationId xmlns:a16="http://schemas.microsoft.com/office/drawing/2014/main" id="{959B8BA8-1F33-7143-1B1D-FDF4CBDD2C18}"/>
              </a:ext>
            </a:extLst>
          </p:cNvPr>
          <p:cNvSpPr txBox="1">
            <a:spLocks/>
          </p:cNvSpPr>
          <p:nvPr/>
        </p:nvSpPr>
        <p:spPr>
          <a:xfrm>
            <a:off x="709776" y="3229532"/>
            <a:ext cx="1815353" cy="705169"/>
          </a:xfrm>
          <a:prstGeom prst="rect">
            <a:avLst/>
          </a:prstGeom>
          <a:solidFill>
            <a:srgbClr val="D3EE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lgn="ctr">
              <a:buFont typeface="Montserrat"/>
              <a:buNone/>
            </a:pPr>
            <a:r>
              <a:rPr lang="en-US" sz="1050" b="1">
                <a:solidFill>
                  <a:schemeClr val="dk1"/>
                </a:solidFill>
              </a:rPr>
              <a:t>Stewardship</a:t>
            </a:r>
          </a:p>
        </p:txBody>
      </p:sp>
      <p:sp>
        <p:nvSpPr>
          <p:cNvPr id="10" name="Google Shape;546;p65">
            <a:extLst>
              <a:ext uri="{FF2B5EF4-FFF2-40B4-BE49-F238E27FC236}">
                <a16:creationId xmlns:a16="http://schemas.microsoft.com/office/drawing/2014/main" id="{41FE4A49-BC21-2B73-FF07-AD5D133B3614}"/>
              </a:ext>
            </a:extLst>
          </p:cNvPr>
          <p:cNvSpPr txBox="1">
            <a:spLocks/>
          </p:cNvSpPr>
          <p:nvPr/>
        </p:nvSpPr>
        <p:spPr>
          <a:xfrm>
            <a:off x="2682814" y="3229533"/>
            <a:ext cx="5909094" cy="705170"/>
          </a:xfrm>
          <a:prstGeom prst="rect">
            <a:avLst/>
          </a:prstGeom>
          <a:noFill/>
          <a:ln>
            <a:solidFill>
              <a:schemeClr val="tx1"/>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lgn="ctr">
              <a:buFont typeface="Montserrat"/>
              <a:buNone/>
            </a:pPr>
            <a:r>
              <a:rPr lang="en-US" sz="1050">
                <a:solidFill>
                  <a:schemeClr val="dk1"/>
                </a:solidFill>
              </a:rPr>
              <a:t>SleeepyPods believes humility and service develops character and integrity. Thus, we plan to employ student workers to maintain and oversee nap pods. Students will have firsthand opportunity to serve the rest of the university community and contribute to the wellness of their peers.</a:t>
            </a:r>
          </a:p>
        </p:txBody>
      </p:sp>
      <p:sp>
        <p:nvSpPr>
          <p:cNvPr id="11" name="Google Shape;546;p65">
            <a:extLst>
              <a:ext uri="{FF2B5EF4-FFF2-40B4-BE49-F238E27FC236}">
                <a16:creationId xmlns:a16="http://schemas.microsoft.com/office/drawing/2014/main" id="{42906F69-C910-2E62-28EE-8DF0C643DCBC}"/>
              </a:ext>
            </a:extLst>
          </p:cNvPr>
          <p:cNvSpPr txBox="1">
            <a:spLocks/>
          </p:cNvSpPr>
          <p:nvPr/>
        </p:nvSpPr>
        <p:spPr>
          <a:xfrm>
            <a:off x="709776" y="4085334"/>
            <a:ext cx="1815353" cy="392466"/>
          </a:xfrm>
          <a:prstGeom prst="rect">
            <a:avLst/>
          </a:prstGeom>
          <a:solidFill>
            <a:srgbClr val="D3EE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lgn="ctr">
              <a:buFont typeface="Montserrat"/>
              <a:buNone/>
            </a:pPr>
            <a:r>
              <a:rPr lang="en-US" sz="1050" b="1">
                <a:solidFill>
                  <a:schemeClr val="dk1"/>
                </a:solidFill>
              </a:rPr>
              <a:t>Dependable Availability</a:t>
            </a:r>
          </a:p>
        </p:txBody>
      </p:sp>
      <p:sp>
        <p:nvSpPr>
          <p:cNvPr id="12" name="Google Shape;546;p65">
            <a:extLst>
              <a:ext uri="{FF2B5EF4-FFF2-40B4-BE49-F238E27FC236}">
                <a16:creationId xmlns:a16="http://schemas.microsoft.com/office/drawing/2014/main" id="{841BCC28-26B0-4046-B2CC-5F417E6D30D8}"/>
              </a:ext>
            </a:extLst>
          </p:cNvPr>
          <p:cNvSpPr txBox="1">
            <a:spLocks/>
          </p:cNvSpPr>
          <p:nvPr/>
        </p:nvSpPr>
        <p:spPr>
          <a:xfrm>
            <a:off x="2682814" y="4085334"/>
            <a:ext cx="5909094" cy="392466"/>
          </a:xfrm>
          <a:prstGeom prst="rect">
            <a:avLst/>
          </a:prstGeom>
          <a:noFill/>
          <a:ln>
            <a:solidFill>
              <a:schemeClr val="tx1"/>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lgn="ctr">
              <a:buFont typeface="Montserrat"/>
              <a:buNone/>
            </a:pPr>
            <a:r>
              <a:rPr lang="en-US" sz="1050">
                <a:solidFill>
                  <a:schemeClr val="dk1"/>
                </a:solidFill>
              </a:rPr>
              <a:t>Each student has an opportunity to get a session as there is a time limit on each session. If a student wants more time, they will have to pay a fee.</a:t>
            </a:r>
          </a:p>
        </p:txBody>
      </p:sp>
    </p:spTree>
    <p:extLst>
      <p:ext uri="{BB962C8B-B14F-4D97-AF65-F5344CB8AC3E}">
        <p14:creationId xmlns:p14="http://schemas.microsoft.com/office/powerpoint/2010/main" val="4017300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900" decel="100000" fill="hold"/>
                                        <p:tgtEl>
                                          <p:spTgt spid="3"/>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3"/>
                                        </p:tgtEl>
                                        <p:attrNameLst>
                                          <p:attrName>ppt_y</p:attrName>
                                        </p:attrNameLst>
                                      </p:cBhvr>
                                      <p:tavLst>
                                        <p:tav tm="0">
                                          <p:val>
                                            <p:strVal val="#ppt_y-.03"/>
                                          </p:val>
                                        </p:tav>
                                        <p:tav tm="100000">
                                          <p:val>
                                            <p:strVal val="#ppt_y"/>
                                          </p:val>
                                        </p:tav>
                                      </p:tavLst>
                                    </p:anim>
                                  </p:childTnLst>
                                </p:cTn>
                              </p:par>
                              <p:par>
                                <p:cTn id="11" presetID="37"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900" decel="100000" fill="hold"/>
                                        <p:tgtEl>
                                          <p:spTgt spid="4"/>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4"/>
                                        </p:tgtEl>
                                        <p:attrNameLst>
                                          <p:attrName>ppt_y</p:attrName>
                                        </p:attrNameLst>
                                      </p:cBhvr>
                                      <p:tavLst>
                                        <p:tav tm="0">
                                          <p:val>
                                            <p:strVal val="#ppt_y-.03"/>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7"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900" decel="100000" fill="hold"/>
                                        <p:tgtEl>
                                          <p:spTgt spid="5"/>
                                        </p:tgtEl>
                                        <p:attrNameLst>
                                          <p:attrName>ppt_y</p:attrName>
                                        </p:attrNameLst>
                                      </p:cBhvr>
                                      <p:tavLst>
                                        <p:tav tm="0">
                                          <p:val>
                                            <p:strVal val="#ppt_y+1"/>
                                          </p:val>
                                        </p:tav>
                                        <p:tav tm="100000">
                                          <p:val>
                                            <p:strVal val="#ppt_y-.03"/>
                                          </p:val>
                                        </p:tav>
                                      </p:tavLst>
                                    </p:anim>
                                    <p:anim calcmode="lin" valueType="num">
                                      <p:cBhvr>
                                        <p:cTn id="24" dur="100" accel="100000" fill="hold">
                                          <p:stCondLst>
                                            <p:cond delay="900"/>
                                          </p:stCondLst>
                                        </p:cTn>
                                        <p:tgtEl>
                                          <p:spTgt spid="5"/>
                                        </p:tgtEl>
                                        <p:attrNameLst>
                                          <p:attrName>ppt_y</p:attrName>
                                        </p:attrNameLst>
                                      </p:cBhvr>
                                      <p:tavLst>
                                        <p:tav tm="0">
                                          <p:val>
                                            <p:strVal val="#ppt_y-.03"/>
                                          </p:val>
                                        </p:tav>
                                        <p:tav tm="100000">
                                          <p:val>
                                            <p:strVal val="#ppt_y"/>
                                          </p:val>
                                        </p:tav>
                                      </p:tavLst>
                                    </p:anim>
                                  </p:childTnLst>
                                </p:cTn>
                              </p:par>
                              <p:par>
                                <p:cTn id="25" presetID="37"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1000"/>
                                        <p:tgtEl>
                                          <p:spTgt spid="6"/>
                                        </p:tgtEl>
                                      </p:cBhvr>
                                    </p:animEffect>
                                    <p:anim calcmode="lin" valueType="num">
                                      <p:cBhvr>
                                        <p:cTn id="28" dur="1000" fill="hold"/>
                                        <p:tgtEl>
                                          <p:spTgt spid="6"/>
                                        </p:tgtEl>
                                        <p:attrNameLst>
                                          <p:attrName>ppt_x</p:attrName>
                                        </p:attrNameLst>
                                      </p:cBhvr>
                                      <p:tavLst>
                                        <p:tav tm="0">
                                          <p:val>
                                            <p:strVal val="#ppt_x"/>
                                          </p:val>
                                        </p:tav>
                                        <p:tav tm="100000">
                                          <p:val>
                                            <p:strVal val="#ppt_x"/>
                                          </p:val>
                                        </p:tav>
                                      </p:tavLst>
                                    </p:anim>
                                    <p:anim calcmode="lin" valueType="num">
                                      <p:cBhvr>
                                        <p:cTn id="29" dur="900" decel="100000" fill="hold"/>
                                        <p:tgtEl>
                                          <p:spTgt spid="6"/>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6"/>
                                        </p:tgtEl>
                                        <p:attrNameLst>
                                          <p:attrName>ppt_y</p:attrName>
                                        </p:attrNameLst>
                                      </p:cBhvr>
                                      <p:tavLst>
                                        <p:tav tm="0">
                                          <p:val>
                                            <p:strVal val="#ppt_y-.03"/>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7"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1000"/>
                                        <p:tgtEl>
                                          <p:spTgt spid="7"/>
                                        </p:tgtEl>
                                      </p:cBhvr>
                                    </p:animEffect>
                                    <p:anim calcmode="lin" valueType="num">
                                      <p:cBhvr>
                                        <p:cTn id="36" dur="1000" fill="hold"/>
                                        <p:tgtEl>
                                          <p:spTgt spid="7"/>
                                        </p:tgtEl>
                                        <p:attrNameLst>
                                          <p:attrName>ppt_x</p:attrName>
                                        </p:attrNameLst>
                                      </p:cBhvr>
                                      <p:tavLst>
                                        <p:tav tm="0">
                                          <p:val>
                                            <p:strVal val="#ppt_x"/>
                                          </p:val>
                                        </p:tav>
                                        <p:tav tm="100000">
                                          <p:val>
                                            <p:strVal val="#ppt_x"/>
                                          </p:val>
                                        </p:tav>
                                      </p:tavLst>
                                    </p:anim>
                                    <p:anim calcmode="lin" valueType="num">
                                      <p:cBhvr>
                                        <p:cTn id="37" dur="900" decel="100000" fill="hold"/>
                                        <p:tgtEl>
                                          <p:spTgt spid="7"/>
                                        </p:tgtEl>
                                        <p:attrNameLst>
                                          <p:attrName>ppt_y</p:attrName>
                                        </p:attrNameLst>
                                      </p:cBhvr>
                                      <p:tavLst>
                                        <p:tav tm="0">
                                          <p:val>
                                            <p:strVal val="#ppt_y+1"/>
                                          </p:val>
                                        </p:tav>
                                        <p:tav tm="100000">
                                          <p:val>
                                            <p:strVal val="#ppt_y-.03"/>
                                          </p:val>
                                        </p:tav>
                                      </p:tavLst>
                                    </p:anim>
                                    <p:anim calcmode="lin" valueType="num">
                                      <p:cBhvr>
                                        <p:cTn id="38" dur="100" accel="100000" fill="hold">
                                          <p:stCondLst>
                                            <p:cond delay="900"/>
                                          </p:stCondLst>
                                        </p:cTn>
                                        <p:tgtEl>
                                          <p:spTgt spid="7"/>
                                        </p:tgtEl>
                                        <p:attrNameLst>
                                          <p:attrName>ppt_y</p:attrName>
                                        </p:attrNameLst>
                                      </p:cBhvr>
                                      <p:tavLst>
                                        <p:tav tm="0">
                                          <p:val>
                                            <p:strVal val="#ppt_y-.03"/>
                                          </p:val>
                                        </p:tav>
                                        <p:tav tm="100000">
                                          <p:val>
                                            <p:strVal val="#ppt_y"/>
                                          </p:val>
                                        </p:tav>
                                      </p:tavLst>
                                    </p:anim>
                                  </p:childTnLst>
                                </p:cTn>
                              </p:par>
                              <p:par>
                                <p:cTn id="39" presetID="37" presetClass="entr" presetSubtype="0" fill="hold" grpId="0" nodeType="with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1000"/>
                                        <p:tgtEl>
                                          <p:spTgt spid="8"/>
                                        </p:tgtEl>
                                      </p:cBhvr>
                                    </p:animEffect>
                                    <p:anim calcmode="lin" valueType="num">
                                      <p:cBhvr>
                                        <p:cTn id="42" dur="1000" fill="hold"/>
                                        <p:tgtEl>
                                          <p:spTgt spid="8"/>
                                        </p:tgtEl>
                                        <p:attrNameLst>
                                          <p:attrName>ppt_x</p:attrName>
                                        </p:attrNameLst>
                                      </p:cBhvr>
                                      <p:tavLst>
                                        <p:tav tm="0">
                                          <p:val>
                                            <p:strVal val="#ppt_x"/>
                                          </p:val>
                                        </p:tav>
                                        <p:tav tm="100000">
                                          <p:val>
                                            <p:strVal val="#ppt_x"/>
                                          </p:val>
                                        </p:tav>
                                      </p:tavLst>
                                    </p:anim>
                                    <p:anim calcmode="lin" valueType="num">
                                      <p:cBhvr>
                                        <p:cTn id="43" dur="900" decel="100000" fill="hold"/>
                                        <p:tgtEl>
                                          <p:spTgt spid="8"/>
                                        </p:tgtEl>
                                        <p:attrNameLst>
                                          <p:attrName>ppt_y</p:attrName>
                                        </p:attrNameLst>
                                      </p:cBhvr>
                                      <p:tavLst>
                                        <p:tav tm="0">
                                          <p:val>
                                            <p:strVal val="#ppt_y+1"/>
                                          </p:val>
                                        </p:tav>
                                        <p:tav tm="100000">
                                          <p:val>
                                            <p:strVal val="#ppt_y-.03"/>
                                          </p:val>
                                        </p:tav>
                                      </p:tavLst>
                                    </p:anim>
                                    <p:anim calcmode="lin" valueType="num">
                                      <p:cBhvr>
                                        <p:cTn id="44" dur="100" accel="100000" fill="hold">
                                          <p:stCondLst>
                                            <p:cond delay="900"/>
                                          </p:stCondLst>
                                        </p:cTn>
                                        <p:tgtEl>
                                          <p:spTgt spid="8"/>
                                        </p:tgtEl>
                                        <p:attrNameLst>
                                          <p:attrName>ppt_y</p:attrName>
                                        </p:attrNameLst>
                                      </p:cBhvr>
                                      <p:tavLst>
                                        <p:tav tm="0">
                                          <p:val>
                                            <p:strVal val="#ppt_y-.03"/>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37" presetClass="entr" presetSubtype="0"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1000"/>
                                        <p:tgtEl>
                                          <p:spTgt spid="9"/>
                                        </p:tgtEl>
                                      </p:cBhvr>
                                    </p:animEffect>
                                    <p:anim calcmode="lin" valueType="num">
                                      <p:cBhvr>
                                        <p:cTn id="50" dur="1000" fill="hold"/>
                                        <p:tgtEl>
                                          <p:spTgt spid="9"/>
                                        </p:tgtEl>
                                        <p:attrNameLst>
                                          <p:attrName>ppt_x</p:attrName>
                                        </p:attrNameLst>
                                      </p:cBhvr>
                                      <p:tavLst>
                                        <p:tav tm="0">
                                          <p:val>
                                            <p:strVal val="#ppt_x"/>
                                          </p:val>
                                        </p:tav>
                                        <p:tav tm="100000">
                                          <p:val>
                                            <p:strVal val="#ppt_x"/>
                                          </p:val>
                                        </p:tav>
                                      </p:tavLst>
                                    </p:anim>
                                    <p:anim calcmode="lin" valueType="num">
                                      <p:cBhvr>
                                        <p:cTn id="51" dur="900" decel="100000" fill="hold"/>
                                        <p:tgtEl>
                                          <p:spTgt spid="9"/>
                                        </p:tgtEl>
                                        <p:attrNameLst>
                                          <p:attrName>ppt_y</p:attrName>
                                        </p:attrNameLst>
                                      </p:cBhvr>
                                      <p:tavLst>
                                        <p:tav tm="0">
                                          <p:val>
                                            <p:strVal val="#ppt_y+1"/>
                                          </p:val>
                                        </p:tav>
                                        <p:tav tm="100000">
                                          <p:val>
                                            <p:strVal val="#ppt_y-.03"/>
                                          </p:val>
                                        </p:tav>
                                      </p:tavLst>
                                    </p:anim>
                                    <p:anim calcmode="lin" valueType="num">
                                      <p:cBhvr>
                                        <p:cTn id="52" dur="100" accel="100000" fill="hold">
                                          <p:stCondLst>
                                            <p:cond delay="900"/>
                                          </p:stCondLst>
                                        </p:cTn>
                                        <p:tgtEl>
                                          <p:spTgt spid="9"/>
                                        </p:tgtEl>
                                        <p:attrNameLst>
                                          <p:attrName>ppt_y</p:attrName>
                                        </p:attrNameLst>
                                      </p:cBhvr>
                                      <p:tavLst>
                                        <p:tav tm="0">
                                          <p:val>
                                            <p:strVal val="#ppt_y-.03"/>
                                          </p:val>
                                        </p:tav>
                                        <p:tav tm="100000">
                                          <p:val>
                                            <p:strVal val="#ppt_y"/>
                                          </p:val>
                                        </p:tav>
                                      </p:tavLst>
                                    </p:anim>
                                  </p:childTnLst>
                                </p:cTn>
                              </p:par>
                              <p:par>
                                <p:cTn id="53" presetID="37" presetClass="entr" presetSubtype="0" fill="hold" grpId="0" nodeType="with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fade">
                                      <p:cBhvr>
                                        <p:cTn id="55" dur="1000"/>
                                        <p:tgtEl>
                                          <p:spTgt spid="10"/>
                                        </p:tgtEl>
                                      </p:cBhvr>
                                    </p:animEffect>
                                    <p:anim calcmode="lin" valueType="num">
                                      <p:cBhvr>
                                        <p:cTn id="56" dur="1000" fill="hold"/>
                                        <p:tgtEl>
                                          <p:spTgt spid="10"/>
                                        </p:tgtEl>
                                        <p:attrNameLst>
                                          <p:attrName>ppt_x</p:attrName>
                                        </p:attrNameLst>
                                      </p:cBhvr>
                                      <p:tavLst>
                                        <p:tav tm="0">
                                          <p:val>
                                            <p:strVal val="#ppt_x"/>
                                          </p:val>
                                        </p:tav>
                                        <p:tav tm="100000">
                                          <p:val>
                                            <p:strVal val="#ppt_x"/>
                                          </p:val>
                                        </p:tav>
                                      </p:tavLst>
                                    </p:anim>
                                    <p:anim calcmode="lin" valueType="num">
                                      <p:cBhvr>
                                        <p:cTn id="57" dur="900" decel="100000" fill="hold"/>
                                        <p:tgtEl>
                                          <p:spTgt spid="10"/>
                                        </p:tgtEl>
                                        <p:attrNameLst>
                                          <p:attrName>ppt_y</p:attrName>
                                        </p:attrNameLst>
                                      </p:cBhvr>
                                      <p:tavLst>
                                        <p:tav tm="0">
                                          <p:val>
                                            <p:strVal val="#ppt_y+1"/>
                                          </p:val>
                                        </p:tav>
                                        <p:tav tm="100000">
                                          <p:val>
                                            <p:strVal val="#ppt_y-.03"/>
                                          </p:val>
                                        </p:tav>
                                      </p:tavLst>
                                    </p:anim>
                                    <p:anim calcmode="lin" valueType="num">
                                      <p:cBhvr>
                                        <p:cTn id="58" dur="100" accel="100000" fill="hold">
                                          <p:stCondLst>
                                            <p:cond delay="900"/>
                                          </p:stCondLst>
                                        </p:cTn>
                                        <p:tgtEl>
                                          <p:spTgt spid="10"/>
                                        </p:tgtEl>
                                        <p:attrNameLst>
                                          <p:attrName>ppt_y</p:attrName>
                                        </p:attrNameLst>
                                      </p:cBhvr>
                                      <p:tavLst>
                                        <p:tav tm="0">
                                          <p:val>
                                            <p:strVal val="#ppt_y-.03"/>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37" presetClass="entr" presetSubtype="0" fill="hold" grpId="0" nodeType="clickEffect">
                                  <p:stCondLst>
                                    <p:cond delay="0"/>
                                  </p:stCondLst>
                                  <p:childTnLst>
                                    <p:set>
                                      <p:cBhvr>
                                        <p:cTn id="62" dur="1" fill="hold">
                                          <p:stCondLst>
                                            <p:cond delay="0"/>
                                          </p:stCondLst>
                                        </p:cTn>
                                        <p:tgtEl>
                                          <p:spTgt spid="11"/>
                                        </p:tgtEl>
                                        <p:attrNameLst>
                                          <p:attrName>style.visibility</p:attrName>
                                        </p:attrNameLst>
                                      </p:cBhvr>
                                      <p:to>
                                        <p:strVal val="visible"/>
                                      </p:to>
                                    </p:set>
                                    <p:animEffect transition="in" filter="fade">
                                      <p:cBhvr>
                                        <p:cTn id="63" dur="1000"/>
                                        <p:tgtEl>
                                          <p:spTgt spid="11"/>
                                        </p:tgtEl>
                                      </p:cBhvr>
                                    </p:animEffect>
                                    <p:anim calcmode="lin" valueType="num">
                                      <p:cBhvr>
                                        <p:cTn id="64" dur="1000" fill="hold"/>
                                        <p:tgtEl>
                                          <p:spTgt spid="11"/>
                                        </p:tgtEl>
                                        <p:attrNameLst>
                                          <p:attrName>ppt_x</p:attrName>
                                        </p:attrNameLst>
                                      </p:cBhvr>
                                      <p:tavLst>
                                        <p:tav tm="0">
                                          <p:val>
                                            <p:strVal val="#ppt_x"/>
                                          </p:val>
                                        </p:tav>
                                        <p:tav tm="100000">
                                          <p:val>
                                            <p:strVal val="#ppt_x"/>
                                          </p:val>
                                        </p:tav>
                                      </p:tavLst>
                                    </p:anim>
                                    <p:anim calcmode="lin" valueType="num">
                                      <p:cBhvr>
                                        <p:cTn id="65" dur="900" decel="100000" fill="hold"/>
                                        <p:tgtEl>
                                          <p:spTgt spid="11"/>
                                        </p:tgtEl>
                                        <p:attrNameLst>
                                          <p:attrName>ppt_y</p:attrName>
                                        </p:attrNameLst>
                                      </p:cBhvr>
                                      <p:tavLst>
                                        <p:tav tm="0">
                                          <p:val>
                                            <p:strVal val="#ppt_y+1"/>
                                          </p:val>
                                        </p:tav>
                                        <p:tav tm="100000">
                                          <p:val>
                                            <p:strVal val="#ppt_y-.03"/>
                                          </p:val>
                                        </p:tav>
                                      </p:tavLst>
                                    </p:anim>
                                    <p:anim calcmode="lin" valueType="num">
                                      <p:cBhvr>
                                        <p:cTn id="66" dur="100" accel="100000" fill="hold">
                                          <p:stCondLst>
                                            <p:cond delay="900"/>
                                          </p:stCondLst>
                                        </p:cTn>
                                        <p:tgtEl>
                                          <p:spTgt spid="11"/>
                                        </p:tgtEl>
                                        <p:attrNameLst>
                                          <p:attrName>ppt_y</p:attrName>
                                        </p:attrNameLst>
                                      </p:cBhvr>
                                      <p:tavLst>
                                        <p:tav tm="0">
                                          <p:val>
                                            <p:strVal val="#ppt_y-.03"/>
                                          </p:val>
                                        </p:tav>
                                        <p:tav tm="100000">
                                          <p:val>
                                            <p:strVal val="#ppt_y"/>
                                          </p:val>
                                        </p:tav>
                                      </p:tavLst>
                                    </p:anim>
                                  </p:childTnLst>
                                </p:cTn>
                              </p:par>
                              <p:par>
                                <p:cTn id="67" presetID="37" presetClass="entr" presetSubtype="0" fill="hold" grpId="0" nodeType="withEffect">
                                  <p:stCondLst>
                                    <p:cond delay="0"/>
                                  </p:stCondLst>
                                  <p:childTnLst>
                                    <p:set>
                                      <p:cBhvr>
                                        <p:cTn id="68" dur="1" fill="hold">
                                          <p:stCondLst>
                                            <p:cond delay="0"/>
                                          </p:stCondLst>
                                        </p:cTn>
                                        <p:tgtEl>
                                          <p:spTgt spid="12"/>
                                        </p:tgtEl>
                                        <p:attrNameLst>
                                          <p:attrName>style.visibility</p:attrName>
                                        </p:attrNameLst>
                                      </p:cBhvr>
                                      <p:to>
                                        <p:strVal val="visible"/>
                                      </p:to>
                                    </p:set>
                                    <p:animEffect transition="in" filter="fade">
                                      <p:cBhvr>
                                        <p:cTn id="69" dur="1000"/>
                                        <p:tgtEl>
                                          <p:spTgt spid="12"/>
                                        </p:tgtEl>
                                      </p:cBhvr>
                                    </p:animEffect>
                                    <p:anim calcmode="lin" valueType="num">
                                      <p:cBhvr>
                                        <p:cTn id="70" dur="1000" fill="hold"/>
                                        <p:tgtEl>
                                          <p:spTgt spid="12"/>
                                        </p:tgtEl>
                                        <p:attrNameLst>
                                          <p:attrName>ppt_x</p:attrName>
                                        </p:attrNameLst>
                                      </p:cBhvr>
                                      <p:tavLst>
                                        <p:tav tm="0">
                                          <p:val>
                                            <p:strVal val="#ppt_x"/>
                                          </p:val>
                                        </p:tav>
                                        <p:tav tm="100000">
                                          <p:val>
                                            <p:strVal val="#ppt_x"/>
                                          </p:val>
                                        </p:tav>
                                      </p:tavLst>
                                    </p:anim>
                                    <p:anim calcmode="lin" valueType="num">
                                      <p:cBhvr>
                                        <p:cTn id="71" dur="900" decel="100000" fill="hold"/>
                                        <p:tgtEl>
                                          <p:spTgt spid="12"/>
                                        </p:tgtEl>
                                        <p:attrNameLst>
                                          <p:attrName>ppt_y</p:attrName>
                                        </p:attrNameLst>
                                      </p:cBhvr>
                                      <p:tavLst>
                                        <p:tav tm="0">
                                          <p:val>
                                            <p:strVal val="#ppt_y+1"/>
                                          </p:val>
                                        </p:tav>
                                        <p:tav tm="100000">
                                          <p:val>
                                            <p:strVal val="#ppt_y-.03"/>
                                          </p:val>
                                        </p:tav>
                                      </p:tavLst>
                                    </p:anim>
                                    <p:anim calcmode="lin" valueType="num">
                                      <p:cBhvr>
                                        <p:cTn id="72" dur="100" accel="100000" fill="hold">
                                          <p:stCondLst>
                                            <p:cond delay="900"/>
                                          </p:stCondLst>
                                        </p:cTn>
                                        <p:tgtEl>
                                          <p:spTgt spid="12"/>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52">
          <a:extLst>
            <a:ext uri="{FF2B5EF4-FFF2-40B4-BE49-F238E27FC236}">
              <a16:creationId xmlns:a16="http://schemas.microsoft.com/office/drawing/2014/main" id="{FBC6AC16-6D97-30AF-5C2B-A87EA5BD57EE}"/>
            </a:ext>
          </a:extLst>
        </p:cNvPr>
        <p:cNvGrpSpPr/>
        <p:nvPr/>
      </p:nvGrpSpPr>
      <p:grpSpPr>
        <a:xfrm>
          <a:off x="0" y="0"/>
          <a:ext cx="0" cy="0"/>
          <a:chOff x="0" y="0"/>
          <a:chExt cx="0" cy="0"/>
        </a:xfrm>
      </p:grpSpPr>
      <p:sp>
        <p:nvSpPr>
          <p:cNvPr id="554" name="Google Shape;554;p66">
            <a:extLst>
              <a:ext uri="{FF2B5EF4-FFF2-40B4-BE49-F238E27FC236}">
                <a16:creationId xmlns:a16="http://schemas.microsoft.com/office/drawing/2014/main" id="{2F7F5EE1-45DA-57B2-2D36-0EF9FB8E5DFD}"/>
              </a:ext>
            </a:extLst>
          </p:cNvPr>
          <p:cNvSpPr txBox="1">
            <a:spLocks noGrp="1"/>
          </p:cNvSpPr>
          <p:nvPr>
            <p:ph type="title"/>
          </p:nvPr>
        </p:nvSpPr>
        <p:spPr>
          <a:xfrm>
            <a:off x="513599" y="671173"/>
            <a:ext cx="3706726"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Financial Objectives</a:t>
            </a:r>
            <a:endParaRPr/>
          </a:p>
        </p:txBody>
      </p:sp>
      <p:sp>
        <p:nvSpPr>
          <p:cNvPr id="2" name="Google Shape;546;p65">
            <a:extLst>
              <a:ext uri="{FF2B5EF4-FFF2-40B4-BE49-F238E27FC236}">
                <a16:creationId xmlns:a16="http://schemas.microsoft.com/office/drawing/2014/main" id="{0E1DC355-93FF-A602-4C2E-A5D8C87975AD}"/>
              </a:ext>
            </a:extLst>
          </p:cNvPr>
          <p:cNvSpPr txBox="1">
            <a:spLocks/>
          </p:cNvSpPr>
          <p:nvPr/>
        </p:nvSpPr>
        <p:spPr>
          <a:xfrm>
            <a:off x="657225" y="1438275"/>
            <a:ext cx="3419475" cy="3145801"/>
          </a:xfrm>
          <a:prstGeom prst="rect">
            <a:avLst/>
          </a:prstGeom>
          <a:solidFill>
            <a:srgbClr val="D3EEFF"/>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1"/>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1"/>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1"/>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1"/>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1"/>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1"/>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1"/>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1"/>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fontAlgn="base">
              <a:buNone/>
            </a:pPr>
            <a:r>
              <a:rPr lang="en-US" sz="1600"/>
              <a:t>1. Achieve </a:t>
            </a:r>
            <a:r>
              <a:rPr lang="en-US" sz="1600" b="1"/>
              <a:t>positive cash </a:t>
            </a:r>
            <a:r>
              <a:rPr lang="en-US" sz="1600"/>
              <a:t>flow by the end of 3 years through sale of nap pods.</a:t>
            </a:r>
          </a:p>
          <a:p>
            <a:pPr marL="114300" indent="0" fontAlgn="base">
              <a:buNone/>
            </a:pPr>
            <a:endParaRPr lang="en-US" sz="1600"/>
          </a:p>
          <a:p>
            <a:pPr marL="114300" indent="0" fontAlgn="base">
              <a:buNone/>
            </a:pPr>
            <a:r>
              <a:rPr lang="en-US" sz="1600"/>
              <a:t>2. Generate </a:t>
            </a:r>
            <a:r>
              <a:rPr lang="en-US" sz="1600" b="1"/>
              <a:t>$3 million in profit </a:t>
            </a:r>
            <a:r>
              <a:rPr lang="en-US" sz="1600"/>
              <a:t>by the end of the third academic year to support ongoing operations.</a:t>
            </a:r>
          </a:p>
          <a:p>
            <a:pPr marL="114300" indent="0" fontAlgn="base">
              <a:buNone/>
            </a:pPr>
            <a:endParaRPr lang="en-US" sz="1600"/>
          </a:p>
          <a:p>
            <a:pPr marL="114300" indent="0" fontAlgn="base">
              <a:buNone/>
            </a:pPr>
            <a:r>
              <a:rPr lang="en-US" sz="1600"/>
              <a:t>3. Maintain </a:t>
            </a:r>
            <a:r>
              <a:rPr lang="en-US" sz="1600" b="1"/>
              <a:t>operating margins of at least 15%</a:t>
            </a:r>
            <a:r>
              <a:rPr lang="en-US" sz="1600"/>
              <a:t> by the end of year 5.</a:t>
            </a:r>
          </a:p>
        </p:txBody>
      </p:sp>
      <p:sp>
        <p:nvSpPr>
          <p:cNvPr id="3" name="Google Shape;554;p66">
            <a:extLst>
              <a:ext uri="{FF2B5EF4-FFF2-40B4-BE49-F238E27FC236}">
                <a16:creationId xmlns:a16="http://schemas.microsoft.com/office/drawing/2014/main" id="{5CA6E916-6FE5-8510-8A99-899DCEFA80B4}"/>
              </a:ext>
            </a:extLst>
          </p:cNvPr>
          <p:cNvSpPr txBox="1">
            <a:spLocks/>
          </p:cNvSpPr>
          <p:nvPr/>
        </p:nvSpPr>
        <p:spPr>
          <a:xfrm>
            <a:off x="4312687" y="685121"/>
            <a:ext cx="3563101"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Vidaloka"/>
              <a:buNone/>
              <a:defRPr sz="3000" b="0" i="0" u="none" strike="noStrike" cap="none">
                <a:solidFill>
                  <a:schemeClr val="dk1"/>
                </a:solidFill>
                <a:latin typeface="Vidaloka"/>
                <a:ea typeface="Vidaloka"/>
                <a:cs typeface="Vidaloka"/>
                <a:sym typeface="Vidaloka"/>
              </a:defRPr>
            </a:lvl1pPr>
            <a:lvl2pPr marR="0" lvl="1" algn="ctr"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9pPr>
          </a:lstStyle>
          <a:p>
            <a:r>
              <a:rPr lang="en-US"/>
              <a:t>Strategic Objectives</a:t>
            </a:r>
          </a:p>
        </p:txBody>
      </p:sp>
      <p:sp>
        <p:nvSpPr>
          <p:cNvPr id="4" name="Google Shape;546;p65">
            <a:extLst>
              <a:ext uri="{FF2B5EF4-FFF2-40B4-BE49-F238E27FC236}">
                <a16:creationId xmlns:a16="http://schemas.microsoft.com/office/drawing/2014/main" id="{462C9298-8283-D85B-0CB7-B8912F1332E1}"/>
              </a:ext>
            </a:extLst>
          </p:cNvPr>
          <p:cNvSpPr txBox="1">
            <a:spLocks/>
          </p:cNvSpPr>
          <p:nvPr/>
        </p:nvSpPr>
        <p:spPr>
          <a:xfrm>
            <a:off x="4312687" y="1438275"/>
            <a:ext cx="3563101" cy="3145801"/>
          </a:xfrm>
          <a:prstGeom prst="rect">
            <a:avLst/>
          </a:prstGeom>
          <a:solidFill>
            <a:srgbClr val="D3EEFF"/>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1"/>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1"/>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1"/>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1"/>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1"/>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1"/>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1"/>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1"/>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fontAlgn="base">
              <a:buNone/>
            </a:pPr>
            <a:r>
              <a:rPr lang="en-US" sz="1500"/>
              <a:t>1. Install and operate at least </a:t>
            </a:r>
            <a:r>
              <a:rPr lang="en-US" sz="1500" b="1"/>
              <a:t>6 units/student center within the first 12 months </a:t>
            </a:r>
            <a:r>
              <a:rPr lang="en-US" sz="1500"/>
              <a:t>of operation with each new school.</a:t>
            </a:r>
          </a:p>
          <a:p>
            <a:pPr marL="114300" indent="0" fontAlgn="base">
              <a:buNone/>
            </a:pPr>
            <a:endParaRPr lang="en-US" sz="1500"/>
          </a:p>
          <a:p>
            <a:pPr marL="114300" indent="0" fontAlgn="base">
              <a:buNone/>
            </a:pPr>
            <a:r>
              <a:rPr lang="en-US" sz="1500"/>
              <a:t>2. Expand and </a:t>
            </a:r>
            <a:r>
              <a:rPr lang="en-US" sz="1500" b="1"/>
              <a:t>operate in all other BIG10 </a:t>
            </a:r>
            <a:r>
              <a:rPr lang="en-US" sz="1500"/>
              <a:t>schools within the next 3 years. </a:t>
            </a:r>
          </a:p>
          <a:p>
            <a:pPr marL="114300" indent="0" fontAlgn="base">
              <a:buNone/>
            </a:pPr>
            <a:endParaRPr lang="en-US" sz="1500"/>
          </a:p>
          <a:p>
            <a:pPr marL="114300" indent="0" fontAlgn="base">
              <a:buNone/>
            </a:pPr>
            <a:r>
              <a:rPr lang="en-US" sz="1500"/>
              <a:t>3. Host at least </a:t>
            </a:r>
            <a:r>
              <a:rPr lang="en-US" sz="1500" b="1"/>
              <a:t>two wellness workshops</a:t>
            </a:r>
            <a:r>
              <a:rPr lang="en-US" sz="1500"/>
              <a:t> per month with minimum attendance of </a:t>
            </a:r>
            <a:r>
              <a:rPr lang="en-US" sz="1500" b="1"/>
              <a:t>20 students </a:t>
            </a:r>
            <a:r>
              <a:rPr lang="en-US" sz="1500"/>
              <a:t>for the next 3 years.</a:t>
            </a:r>
          </a:p>
        </p:txBody>
      </p:sp>
    </p:spTree>
    <p:extLst>
      <p:ext uri="{BB962C8B-B14F-4D97-AF65-F5344CB8AC3E}">
        <p14:creationId xmlns:p14="http://schemas.microsoft.com/office/powerpoint/2010/main" val="2223842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44"/>
        <p:cNvGrpSpPr/>
        <p:nvPr/>
      </p:nvGrpSpPr>
      <p:grpSpPr>
        <a:xfrm>
          <a:off x="0" y="0"/>
          <a:ext cx="0" cy="0"/>
          <a:chOff x="0" y="0"/>
          <a:chExt cx="0" cy="0"/>
        </a:xfrm>
      </p:grpSpPr>
      <p:sp>
        <p:nvSpPr>
          <p:cNvPr id="3" name="Google Shape;546;p65">
            <a:extLst>
              <a:ext uri="{FF2B5EF4-FFF2-40B4-BE49-F238E27FC236}">
                <a16:creationId xmlns:a16="http://schemas.microsoft.com/office/drawing/2014/main" id="{3484396A-0A25-AF31-6003-D2C7F586C012}"/>
              </a:ext>
            </a:extLst>
          </p:cNvPr>
          <p:cNvSpPr txBox="1">
            <a:spLocks/>
          </p:cNvSpPr>
          <p:nvPr/>
        </p:nvSpPr>
        <p:spPr>
          <a:xfrm>
            <a:off x="252169" y="3579010"/>
            <a:ext cx="275574" cy="347468"/>
          </a:xfrm>
          <a:prstGeom prst="rect">
            <a:avLst/>
          </a:prstGeom>
          <a:solidFill>
            <a:srgbClr val="D3EE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lgn="ctr">
              <a:buFont typeface="Montserrat"/>
              <a:buNone/>
            </a:pPr>
            <a:endParaRPr lang="en-US" sz="1050">
              <a:solidFill>
                <a:schemeClr val="dk1"/>
              </a:solidFill>
            </a:endParaRPr>
          </a:p>
        </p:txBody>
      </p:sp>
      <p:sp>
        <p:nvSpPr>
          <p:cNvPr id="5" name="Google Shape;546;p65">
            <a:extLst>
              <a:ext uri="{FF2B5EF4-FFF2-40B4-BE49-F238E27FC236}">
                <a16:creationId xmlns:a16="http://schemas.microsoft.com/office/drawing/2014/main" id="{AC340A55-20FD-79EA-0835-3E87D8CFB16A}"/>
              </a:ext>
            </a:extLst>
          </p:cNvPr>
          <p:cNvSpPr txBox="1">
            <a:spLocks/>
          </p:cNvSpPr>
          <p:nvPr/>
        </p:nvSpPr>
        <p:spPr>
          <a:xfrm>
            <a:off x="242568" y="2594597"/>
            <a:ext cx="270233" cy="374173"/>
          </a:xfrm>
          <a:prstGeom prst="rect">
            <a:avLst/>
          </a:prstGeom>
          <a:solidFill>
            <a:srgbClr val="D3EE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lgn="ctr">
              <a:buFont typeface="Montserrat"/>
              <a:buNone/>
            </a:pPr>
            <a:endParaRPr lang="en-US" sz="1050">
              <a:solidFill>
                <a:schemeClr val="dk1"/>
              </a:solidFill>
            </a:endParaRPr>
          </a:p>
        </p:txBody>
      </p:sp>
      <p:sp>
        <p:nvSpPr>
          <p:cNvPr id="7" name="Google Shape;546;p65">
            <a:extLst>
              <a:ext uri="{FF2B5EF4-FFF2-40B4-BE49-F238E27FC236}">
                <a16:creationId xmlns:a16="http://schemas.microsoft.com/office/drawing/2014/main" id="{F4A954FC-21C5-4794-2869-1F769E6D65AB}"/>
              </a:ext>
            </a:extLst>
          </p:cNvPr>
          <p:cNvSpPr txBox="1">
            <a:spLocks/>
          </p:cNvSpPr>
          <p:nvPr/>
        </p:nvSpPr>
        <p:spPr>
          <a:xfrm>
            <a:off x="247635" y="1144189"/>
            <a:ext cx="280915" cy="390196"/>
          </a:xfrm>
          <a:prstGeom prst="rect">
            <a:avLst/>
          </a:prstGeom>
          <a:solidFill>
            <a:srgbClr val="D3EE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lgn="ctr">
              <a:buFont typeface="Montserrat"/>
              <a:buNone/>
            </a:pPr>
            <a:endParaRPr lang="en-US" sz="1050">
              <a:solidFill>
                <a:schemeClr val="dk1"/>
              </a:solidFill>
            </a:endParaRPr>
          </a:p>
        </p:txBody>
      </p:sp>
      <p:sp>
        <p:nvSpPr>
          <p:cNvPr id="1147" name="Google Shape;1147;p98"/>
          <p:cNvSpPr txBox="1">
            <a:spLocks noGrp="1"/>
          </p:cNvSpPr>
          <p:nvPr>
            <p:ph type="subTitle" idx="3"/>
          </p:nvPr>
        </p:nvSpPr>
        <p:spPr>
          <a:xfrm>
            <a:off x="208233" y="1126483"/>
            <a:ext cx="7985772" cy="429477"/>
          </a:xfrm>
          <a:prstGeom prst="rect">
            <a:avLst/>
          </a:prstGeom>
        </p:spPr>
        <p:txBody>
          <a:bodyPr spcFirstLastPara="1" wrap="square" lIns="91425" tIns="91425" rIns="91425" bIns="91425" anchor="t" anchorCtr="0">
            <a:noAutofit/>
          </a:bodyPr>
          <a:lstStyle/>
          <a:p>
            <a:pPr marL="342900" algn="l">
              <a:buAutoNum type="arabicParenR"/>
            </a:pPr>
            <a:r>
              <a:rPr lang="en" sz="1600" err="1"/>
              <a:t>SleeepyPods</a:t>
            </a:r>
            <a:r>
              <a:rPr lang="en" sz="1600"/>
              <a:t> and its workshops are welcoming and accessible to all students, including commuters, students with disabilities, and students from diﬀerent cultural backgrounds.</a:t>
            </a:r>
          </a:p>
          <a:p>
            <a:pPr marL="342900" algn="l">
              <a:buAutoNum type="arabicParenR"/>
            </a:pPr>
            <a:endParaRPr lang="en" sz="1600"/>
          </a:p>
          <a:p>
            <a:pPr marL="342900" algn="l">
              <a:buAutoNum type="arabicParenR"/>
            </a:pPr>
            <a:endParaRPr lang="en" sz="1600"/>
          </a:p>
          <a:p>
            <a:pPr marL="342900" algn="l">
              <a:buAutoNum type="arabicParenR"/>
            </a:pPr>
            <a:endParaRPr lang="en" sz="1600"/>
          </a:p>
          <a:p>
            <a:pPr marL="342900" algn="l">
              <a:buAutoNum type="arabicParenR"/>
            </a:pPr>
            <a:r>
              <a:rPr lang="en" sz="1600"/>
              <a:t>Offer longer sessions/hours during midterms and finals season.</a:t>
            </a:r>
          </a:p>
          <a:p>
            <a:pPr marL="342900" algn="l">
              <a:buAutoNum type="arabicParenR"/>
            </a:pPr>
            <a:endParaRPr lang="en" sz="1600"/>
          </a:p>
          <a:p>
            <a:pPr marL="342900" algn="l">
              <a:buAutoNum type="arabicParenR"/>
            </a:pPr>
            <a:endParaRPr lang="en" sz="1600"/>
          </a:p>
          <a:p>
            <a:pPr marL="342900" algn="l">
              <a:buAutoNum type="arabicParenR"/>
            </a:pPr>
            <a:endParaRPr lang="en" sz="1600"/>
          </a:p>
          <a:p>
            <a:pPr marL="342900" algn="l">
              <a:buAutoNum type="arabicParenR"/>
            </a:pPr>
            <a:r>
              <a:rPr lang="en" sz="1600"/>
              <a:t>Implement environmentally responsible practices, like using biodegradable sheets, energy-efficient pod equipment, and minimal-waste cleaning processes.</a:t>
            </a:r>
          </a:p>
        </p:txBody>
      </p:sp>
      <p:sp>
        <p:nvSpPr>
          <p:cNvPr id="1148" name="Google Shape;1148;p98"/>
          <p:cNvSpPr txBox="1">
            <a:spLocks noGrp="1"/>
          </p:cNvSpPr>
          <p:nvPr>
            <p:ph type="subTitle" idx="4"/>
          </p:nvPr>
        </p:nvSpPr>
        <p:spPr>
          <a:xfrm>
            <a:off x="896991" y="1856874"/>
            <a:ext cx="7159199" cy="576811"/>
          </a:xfrm>
          <a:prstGeom prst="rect">
            <a:avLst/>
          </a:prstGeom>
        </p:spPr>
        <p:txBody>
          <a:bodyPr spcFirstLastPara="1" wrap="square" lIns="91425" tIns="91425" rIns="91425" bIns="91425" anchor="t" anchorCtr="0">
            <a:noAutofit/>
          </a:bodyPr>
          <a:lstStyle/>
          <a:p>
            <a:pPr marL="0" indent="0"/>
            <a:r>
              <a:rPr lang="en" sz="1200"/>
              <a:t>Rationale: Helps everyone feel included and valued, which meets student expectations, and supports the university’s goal of creating a fair campus environment.</a:t>
            </a:r>
            <a:endParaRPr lang="en-US"/>
          </a:p>
          <a:p>
            <a:pPr marL="0" indent="0"/>
            <a:endParaRPr lang="en" sz="1200"/>
          </a:p>
        </p:txBody>
      </p:sp>
      <p:sp>
        <p:nvSpPr>
          <p:cNvPr id="1150" name="Google Shape;1150;p98"/>
          <p:cNvSpPr txBox="1">
            <a:spLocks noGrp="1"/>
          </p:cNvSpPr>
          <p:nvPr>
            <p:ph type="subTitle" idx="6"/>
          </p:nvPr>
        </p:nvSpPr>
        <p:spPr>
          <a:xfrm>
            <a:off x="1015396" y="2848036"/>
            <a:ext cx="7337793" cy="572700"/>
          </a:xfrm>
          <a:prstGeom prst="rect">
            <a:avLst/>
          </a:prstGeom>
        </p:spPr>
        <p:txBody>
          <a:bodyPr spcFirstLastPara="1" wrap="square" lIns="91425" tIns="91425" rIns="91425" bIns="91425" anchor="t" anchorCtr="0">
            <a:noAutofit/>
          </a:bodyPr>
          <a:lstStyle/>
          <a:p>
            <a:pPr marL="0" indent="0"/>
            <a:r>
              <a:rPr lang="en" sz="1200"/>
              <a:t>Rationale: Physical rest is essential for the brain to properly learn. During high-stress periods, students need to rest both physically and mentally to perform their best. </a:t>
            </a:r>
          </a:p>
          <a:p>
            <a:pPr marL="0" indent="0"/>
            <a:endParaRPr lang="en"/>
          </a:p>
        </p:txBody>
      </p:sp>
      <p:sp>
        <p:nvSpPr>
          <p:cNvPr id="1152" name="Google Shape;1152;p98"/>
          <p:cNvSpPr txBox="1">
            <a:spLocks noGrp="1"/>
          </p:cNvSpPr>
          <p:nvPr>
            <p:ph type="subTitle" idx="8"/>
          </p:nvPr>
        </p:nvSpPr>
        <p:spPr>
          <a:xfrm>
            <a:off x="1016295" y="4088857"/>
            <a:ext cx="7337794" cy="572700"/>
          </a:xfrm>
          <a:prstGeom prst="rect">
            <a:avLst/>
          </a:prstGeom>
        </p:spPr>
        <p:txBody>
          <a:bodyPr spcFirstLastPara="1" wrap="square" lIns="91425" tIns="91425" rIns="91425" bIns="91425" anchor="t" anchorCtr="0">
            <a:noAutofit/>
          </a:bodyPr>
          <a:lstStyle/>
          <a:p>
            <a:pPr marL="0" indent="0"/>
            <a:r>
              <a:rPr lang="en" sz="1200"/>
              <a:t>Rationale: Example of environmental responsibility and reduces long-term costs for business.</a:t>
            </a:r>
            <a:endParaRPr lang="en-US" sz="1200"/>
          </a:p>
          <a:p>
            <a:pPr marL="0" indent="0"/>
            <a:endParaRPr lang="en" sz="1200"/>
          </a:p>
        </p:txBody>
      </p:sp>
      <p:sp>
        <p:nvSpPr>
          <p:cNvPr id="1155" name="Google Shape;1155;p98"/>
          <p:cNvSpPr txBox="1">
            <a:spLocks noGrp="1"/>
          </p:cNvSpPr>
          <p:nvPr>
            <p:ph type="title"/>
          </p:nvPr>
        </p:nvSpPr>
        <p:spPr>
          <a:xfrm>
            <a:off x="783356" y="169554"/>
            <a:ext cx="7585511" cy="572700"/>
          </a:xfrm>
          <a:prstGeom prst="rect">
            <a:avLst/>
          </a:prstGeom>
        </p:spPr>
        <p:txBody>
          <a:bodyPr spcFirstLastPara="1" wrap="square" lIns="91425" tIns="91425" rIns="91425" bIns="91425" anchor="t" anchorCtr="0">
            <a:noAutofit/>
          </a:bodyPr>
          <a:lstStyle/>
          <a:p>
            <a:r>
              <a:rPr lang="en"/>
              <a:t>Corporate Social Responsibility Key Initiatives</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48">
                                            <p:txEl>
                                              <p:pRg st="0" end="0"/>
                                            </p:txEl>
                                          </p:spTgt>
                                        </p:tgtEl>
                                        <p:attrNameLst>
                                          <p:attrName>style.visibility</p:attrName>
                                        </p:attrNameLst>
                                      </p:cBhvr>
                                      <p:to>
                                        <p:strVal val="visible"/>
                                      </p:to>
                                    </p:set>
                                    <p:animEffect transition="in" filter="fade">
                                      <p:cBhvr>
                                        <p:cTn id="7" dur="500"/>
                                        <p:tgtEl>
                                          <p:spTgt spid="114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50">
                                            <p:txEl>
                                              <p:pRg st="0" end="0"/>
                                            </p:txEl>
                                          </p:spTgt>
                                        </p:tgtEl>
                                        <p:attrNameLst>
                                          <p:attrName>style.visibility</p:attrName>
                                        </p:attrNameLst>
                                      </p:cBhvr>
                                      <p:to>
                                        <p:strVal val="visible"/>
                                      </p:to>
                                    </p:set>
                                    <p:animEffect transition="in" filter="fade">
                                      <p:cBhvr>
                                        <p:cTn id="12" dur="500"/>
                                        <p:tgtEl>
                                          <p:spTgt spid="115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52">
                                            <p:txEl>
                                              <p:pRg st="0" end="0"/>
                                            </p:txEl>
                                          </p:spTgt>
                                        </p:tgtEl>
                                        <p:attrNameLst>
                                          <p:attrName>style.visibility</p:attrName>
                                        </p:attrNameLst>
                                      </p:cBhvr>
                                      <p:to>
                                        <p:strVal val="visible"/>
                                      </p:to>
                                    </p:set>
                                    <p:animEffect transition="in" filter="fade">
                                      <p:cBhvr>
                                        <p:cTn id="17" dur="500"/>
                                        <p:tgtEl>
                                          <p:spTgt spid="115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8" grpId="0" build="p"/>
      <p:bldP spid="1150" grpId="0" build="p"/>
      <p:bldP spid="115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3" name="Google Shape;546;p65">
            <a:extLst>
              <a:ext uri="{FF2B5EF4-FFF2-40B4-BE49-F238E27FC236}">
                <a16:creationId xmlns:a16="http://schemas.microsoft.com/office/drawing/2014/main" id="{F2520950-F287-7563-BDB0-CF955FA3E0FC}"/>
              </a:ext>
            </a:extLst>
          </p:cNvPr>
          <p:cNvSpPr txBox="1">
            <a:spLocks/>
          </p:cNvSpPr>
          <p:nvPr/>
        </p:nvSpPr>
        <p:spPr>
          <a:xfrm>
            <a:off x="364409" y="1383464"/>
            <a:ext cx="2563647" cy="705169"/>
          </a:xfrm>
          <a:prstGeom prst="rect">
            <a:avLst/>
          </a:prstGeom>
          <a:solidFill>
            <a:srgbClr val="D3EE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lgn="ctr">
              <a:buFont typeface="Montserrat"/>
              <a:buNone/>
            </a:pPr>
            <a:endParaRPr lang="en-US" sz="1050">
              <a:solidFill>
                <a:schemeClr val="dk1"/>
              </a:solidFill>
            </a:endParaRPr>
          </a:p>
        </p:txBody>
      </p:sp>
      <p:sp>
        <p:nvSpPr>
          <p:cNvPr id="4" name="Google Shape;637;p74">
            <a:extLst>
              <a:ext uri="{FF2B5EF4-FFF2-40B4-BE49-F238E27FC236}">
                <a16:creationId xmlns:a16="http://schemas.microsoft.com/office/drawing/2014/main" id="{6CB9D010-344C-3062-8712-4AD8C96E3D44}"/>
              </a:ext>
            </a:extLst>
          </p:cNvPr>
          <p:cNvSpPr txBox="1">
            <a:spLocks noGrp="1"/>
          </p:cNvSpPr>
          <p:nvPr/>
        </p:nvSpPr>
        <p:spPr>
          <a:xfrm>
            <a:off x="2697250" y="327914"/>
            <a:ext cx="3752393"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Vidaloka"/>
              <a:buNone/>
              <a:defRPr sz="3000" b="0" i="0" u="none" strike="noStrike" cap="none">
                <a:solidFill>
                  <a:schemeClr val="dk1"/>
                </a:solidFill>
                <a:latin typeface="Vidaloka"/>
                <a:ea typeface="Vidaloka"/>
                <a:cs typeface="Vidaloka"/>
                <a:sym typeface="Vidaloka"/>
              </a:defRPr>
            </a:lvl1pPr>
            <a:lvl2pPr marR="0" lvl="1"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9pPr>
          </a:lstStyle>
          <a:p>
            <a:pPr algn="l"/>
            <a:r>
              <a:rPr lang="en"/>
              <a:t>New Product/Service </a:t>
            </a:r>
            <a:endParaRPr lang="en-US"/>
          </a:p>
        </p:txBody>
      </p:sp>
      <p:sp>
        <p:nvSpPr>
          <p:cNvPr id="5" name="Google Shape;640;p74">
            <a:extLst>
              <a:ext uri="{FF2B5EF4-FFF2-40B4-BE49-F238E27FC236}">
                <a16:creationId xmlns:a16="http://schemas.microsoft.com/office/drawing/2014/main" id="{8D98342A-E937-53A4-9156-39164777840C}"/>
              </a:ext>
            </a:extLst>
          </p:cNvPr>
          <p:cNvSpPr txBox="1">
            <a:spLocks noGrp="1"/>
          </p:cNvSpPr>
          <p:nvPr/>
        </p:nvSpPr>
        <p:spPr>
          <a:xfrm>
            <a:off x="401577" y="1495843"/>
            <a:ext cx="2486100" cy="4011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r" rtl="0">
              <a:lnSpc>
                <a:spcPct val="100000"/>
              </a:lnSpc>
              <a:spcBef>
                <a:spcPts val="0"/>
              </a:spcBef>
              <a:spcAft>
                <a:spcPts val="0"/>
              </a:spcAft>
              <a:buClr>
                <a:schemeClr val="dk2"/>
              </a:buClr>
              <a:buSzPts val="2100"/>
              <a:buFont typeface="Montserrat"/>
              <a:buNone/>
              <a:defRPr sz="2400" b="0" i="0" u="none" strike="noStrike" cap="none">
                <a:solidFill>
                  <a:schemeClr val="dk2"/>
                </a:solidFill>
                <a:latin typeface="Vidaloka"/>
                <a:ea typeface="Vidaloka"/>
                <a:cs typeface="Vidaloka"/>
                <a:sym typeface="Vidaloka"/>
              </a:defRPr>
            </a:lvl1pPr>
            <a:lvl2pPr marL="914400" marR="0" lvl="1"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9pPr>
          </a:lstStyle>
          <a:p>
            <a:pPr marL="0" indent="0"/>
            <a:r>
              <a:rPr lang="en">
                <a:ea typeface="Calibri"/>
                <a:cs typeface="Calibri"/>
              </a:rPr>
              <a:t>Premium Service</a:t>
            </a:r>
            <a:endParaRPr lang="en-US"/>
          </a:p>
        </p:txBody>
      </p:sp>
      <p:sp>
        <p:nvSpPr>
          <p:cNvPr id="6" name="Google Shape;641;p74">
            <a:extLst>
              <a:ext uri="{FF2B5EF4-FFF2-40B4-BE49-F238E27FC236}">
                <a16:creationId xmlns:a16="http://schemas.microsoft.com/office/drawing/2014/main" id="{AF6CBD63-C88B-F3A9-CD17-EC843EE98507}"/>
              </a:ext>
            </a:extLst>
          </p:cNvPr>
          <p:cNvSpPr txBox="1">
            <a:spLocks noGrp="1"/>
          </p:cNvSpPr>
          <p:nvPr/>
        </p:nvSpPr>
        <p:spPr>
          <a:xfrm>
            <a:off x="399968" y="2572648"/>
            <a:ext cx="7252452" cy="618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r" rtl="0">
              <a:lnSpc>
                <a:spcPct val="100000"/>
              </a:lnSpc>
              <a:spcBef>
                <a:spcPts val="0"/>
              </a:spcBef>
              <a:spcAft>
                <a:spcPts val="0"/>
              </a:spcAft>
              <a:buClr>
                <a:schemeClr val="dk2"/>
              </a:buClr>
              <a:buSzPts val="1400"/>
              <a:buFont typeface="Montserrat"/>
              <a:buNone/>
              <a:defRPr sz="1400" b="0" i="0" u="none" strike="noStrike" cap="none">
                <a:solidFill>
                  <a:schemeClr val="dk1"/>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None/>
              <a:defRPr sz="1400" b="0" i="0" u="none" strike="noStrike" cap="none">
                <a:solidFill>
                  <a:schemeClr val="dk2"/>
                </a:solidFill>
                <a:latin typeface="Montserrat"/>
                <a:ea typeface="Montserrat"/>
                <a:cs typeface="Montserrat"/>
                <a:sym typeface="Montserrat"/>
              </a:defRPr>
            </a:lvl9pPr>
          </a:lstStyle>
          <a:p>
            <a:pPr algn="ctr"/>
            <a:r>
              <a:rPr lang="en"/>
              <a:t>Nap pods are typically timed at no more than 30 minutes. Now with the addition of our premium service, the time limit can be extended for up to 3 hours, with a small fee per hour. This service also includes complimentary sleep kits</a:t>
            </a:r>
            <a:endParaRPr lang="en-US"/>
          </a:p>
          <a:p>
            <a:pPr marL="0" lvl="0" indent="0" algn="r">
              <a:spcBef>
                <a:spcPts val="0"/>
              </a:spcBef>
              <a:spcAft>
                <a:spcPts val="0"/>
              </a:spcAft>
              <a:buSzPts val="1100"/>
              <a:buFont typeface="Arial"/>
              <a:buNone/>
            </a:pPr>
            <a:endParaRPr lang="en"/>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2E9F11D9-41F6-D21B-C5DD-EFC3C466D2D2}"/>
                  </a:ext>
                </a:extLst>
              </p14:cNvPr>
              <p14:cNvContentPartPr/>
              <p14:nvPr/>
            </p14:nvContentPartPr>
            <p14:xfrm rot="540000" flipV="1">
              <a:off x="3165334" y="2053919"/>
              <a:ext cx="489081" cy="333482"/>
            </p14:xfrm>
          </p:contentPart>
        </mc:Choice>
        <mc:Fallback xmlns="">
          <p:pic>
            <p:nvPicPr>
              <p:cNvPr id="7" name="Ink 6">
                <a:extLst>
                  <a:ext uri="{FF2B5EF4-FFF2-40B4-BE49-F238E27FC236}">
                    <a16:creationId xmlns:a16="http://schemas.microsoft.com/office/drawing/2014/main" id="{2E9F11D9-41F6-D21B-C5DD-EFC3C466D2D2}"/>
                  </a:ext>
                </a:extLst>
              </p:cNvPr>
              <p:cNvPicPr/>
              <p:nvPr/>
            </p:nvPicPr>
            <p:blipFill>
              <a:blip r:embed="rId4"/>
              <a:stretch>
                <a:fillRect/>
              </a:stretch>
            </p:blipFill>
            <p:spPr>
              <a:xfrm rot="540000" flipV="1">
                <a:off x="3147340" y="2035932"/>
                <a:ext cx="524709" cy="369097"/>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3" name="Google Shape;546;p65">
            <a:extLst>
              <a:ext uri="{FF2B5EF4-FFF2-40B4-BE49-F238E27FC236}">
                <a16:creationId xmlns:a16="http://schemas.microsoft.com/office/drawing/2014/main" id="{71D2750E-6A68-3875-F38D-E140EFA52A59}"/>
              </a:ext>
            </a:extLst>
          </p:cNvPr>
          <p:cNvSpPr txBox="1">
            <a:spLocks/>
          </p:cNvSpPr>
          <p:nvPr/>
        </p:nvSpPr>
        <p:spPr>
          <a:xfrm>
            <a:off x="283562" y="2789777"/>
            <a:ext cx="4040788" cy="516236"/>
          </a:xfrm>
          <a:prstGeom prst="rect">
            <a:avLst/>
          </a:prstGeom>
          <a:solidFill>
            <a:srgbClr val="D3EE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lgn="ctr">
              <a:buFont typeface="Montserrat"/>
              <a:buNone/>
            </a:pPr>
            <a:endParaRPr lang="en-US" sz="1050">
              <a:solidFill>
                <a:schemeClr val="dk1"/>
              </a:solidFill>
            </a:endParaRPr>
          </a:p>
        </p:txBody>
      </p:sp>
      <p:sp>
        <p:nvSpPr>
          <p:cNvPr id="2" name="Google Shape;546;p65">
            <a:extLst>
              <a:ext uri="{FF2B5EF4-FFF2-40B4-BE49-F238E27FC236}">
                <a16:creationId xmlns:a16="http://schemas.microsoft.com/office/drawing/2014/main" id="{0DDD5221-AD6F-4B07-B55F-958F6A228BA0}"/>
              </a:ext>
            </a:extLst>
          </p:cNvPr>
          <p:cNvSpPr txBox="1">
            <a:spLocks/>
          </p:cNvSpPr>
          <p:nvPr/>
        </p:nvSpPr>
        <p:spPr>
          <a:xfrm>
            <a:off x="283562" y="1084692"/>
            <a:ext cx="4040788" cy="516236"/>
          </a:xfrm>
          <a:prstGeom prst="rect">
            <a:avLst/>
          </a:prstGeom>
          <a:solidFill>
            <a:srgbClr val="D3EE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lgn="ctr">
              <a:buFont typeface="Montserrat"/>
              <a:buNone/>
            </a:pPr>
            <a:endParaRPr lang="en-US" sz="1050">
              <a:solidFill>
                <a:schemeClr val="dk1"/>
              </a:solidFill>
            </a:endParaRPr>
          </a:p>
        </p:txBody>
      </p:sp>
      <p:sp>
        <p:nvSpPr>
          <p:cNvPr id="5" name="Subtitle 4">
            <a:extLst>
              <a:ext uri="{FF2B5EF4-FFF2-40B4-BE49-F238E27FC236}">
                <a16:creationId xmlns:a16="http://schemas.microsoft.com/office/drawing/2014/main" id="{4B063587-6A18-C1ED-EF6D-2EE74D156E8E}"/>
              </a:ext>
            </a:extLst>
          </p:cNvPr>
          <p:cNvSpPr>
            <a:spLocks noGrp="1"/>
          </p:cNvSpPr>
          <p:nvPr>
            <p:ph type="subTitle" idx="3"/>
          </p:nvPr>
        </p:nvSpPr>
        <p:spPr>
          <a:xfrm>
            <a:off x="131162" y="1084692"/>
            <a:ext cx="6938865" cy="401100"/>
          </a:xfrm>
        </p:spPr>
        <p:txBody>
          <a:bodyPr/>
          <a:lstStyle/>
          <a:p>
            <a:pPr algn="l"/>
            <a:r>
              <a:rPr lang="en-US"/>
              <a:t>Expansion decision/rationale</a:t>
            </a:r>
          </a:p>
        </p:txBody>
      </p:sp>
      <p:sp>
        <p:nvSpPr>
          <p:cNvPr id="7" name="Title 6">
            <a:extLst>
              <a:ext uri="{FF2B5EF4-FFF2-40B4-BE49-F238E27FC236}">
                <a16:creationId xmlns:a16="http://schemas.microsoft.com/office/drawing/2014/main" id="{B43BDEC6-D32A-397C-AFF5-30A9E79EEA07}"/>
              </a:ext>
            </a:extLst>
          </p:cNvPr>
          <p:cNvSpPr>
            <a:spLocks noGrp="1"/>
          </p:cNvSpPr>
          <p:nvPr>
            <p:ph type="title"/>
          </p:nvPr>
        </p:nvSpPr>
        <p:spPr/>
        <p:txBody>
          <a:bodyPr/>
          <a:lstStyle/>
          <a:p>
            <a:r>
              <a:rPr lang="en-US"/>
              <a:t>National Expansion?</a:t>
            </a:r>
          </a:p>
        </p:txBody>
      </p:sp>
      <p:sp>
        <p:nvSpPr>
          <p:cNvPr id="11" name="Google Shape;719;p83">
            <a:extLst>
              <a:ext uri="{FF2B5EF4-FFF2-40B4-BE49-F238E27FC236}">
                <a16:creationId xmlns:a16="http://schemas.microsoft.com/office/drawing/2014/main" id="{66C78830-A608-57AD-0723-58CE564FA0DD}"/>
              </a:ext>
            </a:extLst>
          </p:cNvPr>
          <p:cNvSpPr txBox="1"/>
          <p:nvPr/>
        </p:nvSpPr>
        <p:spPr>
          <a:xfrm>
            <a:off x="454076" y="1544213"/>
            <a:ext cx="7501828" cy="618600"/>
          </a:xfrm>
          <a:prstGeom prst="rect">
            <a:avLst/>
          </a:prstGeom>
          <a:noFill/>
          <a:ln>
            <a:noFill/>
          </a:ln>
        </p:spPr>
        <p:txBody>
          <a:bodyPr spcFirstLastPara="1" wrap="square" lIns="91425" tIns="91425" rIns="91425" bIns="91425" anchor="t" anchorCtr="0">
            <a:noAutofit/>
          </a:bodyPr>
          <a:lstStyle/>
          <a:p>
            <a:pPr marL="285750" indent="-285750">
              <a:buChar char="•"/>
            </a:pPr>
            <a:r>
              <a:rPr lang="en">
                <a:solidFill>
                  <a:schemeClr val="dk2"/>
                </a:solidFill>
                <a:latin typeface="Montserrat"/>
                <a:ea typeface="Montserrat"/>
                <a:cs typeface="Montserrat"/>
              </a:rPr>
              <a:t>We chose national expansion as it </a:t>
            </a:r>
            <a:r>
              <a:rPr lang="en">
                <a:solidFill>
                  <a:schemeClr val="dk2"/>
                </a:solidFill>
                <a:latin typeface="Montserrat"/>
                <a:ea typeface="Montserrat"/>
              </a:rPr>
              <a:t>allows </a:t>
            </a:r>
            <a:r>
              <a:rPr lang="en" err="1">
                <a:solidFill>
                  <a:schemeClr val="dk2"/>
                </a:solidFill>
                <a:latin typeface="Montserrat"/>
                <a:ea typeface="Montserrat"/>
              </a:rPr>
              <a:t>SleeepyPods</a:t>
            </a:r>
            <a:r>
              <a:rPr lang="en">
                <a:solidFill>
                  <a:schemeClr val="dk2"/>
                </a:solidFill>
                <a:latin typeface="Montserrat"/>
                <a:ea typeface="Montserrat"/>
              </a:rPr>
              <a:t> to grow beyond a single campus, and become a real solution to student burnout at a larger scale. Since student mental health and exhaustion are universal issues across universities, the business model can translate well to other campuses, such as the Big Ten schools.</a:t>
            </a:r>
            <a:endParaRPr lang="en">
              <a:solidFill>
                <a:schemeClr val="dk2"/>
              </a:solidFill>
              <a:latin typeface="Montserrat"/>
              <a:ea typeface="Montserrat"/>
              <a:cs typeface="Montserrat"/>
            </a:endParaRPr>
          </a:p>
        </p:txBody>
      </p:sp>
      <p:sp>
        <p:nvSpPr>
          <p:cNvPr id="16" name="Subtitle 4">
            <a:extLst>
              <a:ext uri="{FF2B5EF4-FFF2-40B4-BE49-F238E27FC236}">
                <a16:creationId xmlns:a16="http://schemas.microsoft.com/office/drawing/2014/main" id="{0A62AF04-D7B2-E3D2-AE05-2C0FD908D409}"/>
              </a:ext>
            </a:extLst>
          </p:cNvPr>
          <p:cNvSpPr txBox="1">
            <a:spLocks/>
          </p:cNvSpPr>
          <p:nvPr/>
        </p:nvSpPr>
        <p:spPr>
          <a:xfrm>
            <a:off x="131436" y="2774591"/>
            <a:ext cx="6938865" cy="4011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r" rtl="0">
              <a:lnSpc>
                <a:spcPct val="100000"/>
              </a:lnSpc>
              <a:spcBef>
                <a:spcPts val="0"/>
              </a:spcBef>
              <a:spcAft>
                <a:spcPts val="0"/>
              </a:spcAft>
              <a:buClr>
                <a:schemeClr val="dk2"/>
              </a:buClr>
              <a:buSzPts val="2100"/>
              <a:buFont typeface="Montserrat"/>
              <a:buNone/>
              <a:defRPr sz="2400" b="0" i="0" u="none" strike="noStrike" cap="none">
                <a:solidFill>
                  <a:schemeClr val="dk2"/>
                </a:solidFill>
                <a:latin typeface="Vidaloka"/>
                <a:ea typeface="Vidaloka"/>
                <a:cs typeface="Vidaloka"/>
                <a:sym typeface="Vidaloka"/>
              </a:defRPr>
            </a:lvl1pPr>
            <a:lvl2pPr marL="914400" marR="0" lvl="1"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2100"/>
              <a:buFont typeface="Montserrat"/>
              <a:buNone/>
              <a:defRPr sz="2100" b="1" i="0" u="none" strike="noStrike" cap="none">
                <a:solidFill>
                  <a:schemeClr val="dk2"/>
                </a:solidFill>
                <a:latin typeface="Montserrat"/>
                <a:ea typeface="Montserrat"/>
                <a:cs typeface="Montserrat"/>
                <a:sym typeface="Montserrat"/>
              </a:defRPr>
            </a:lvl9pPr>
          </a:lstStyle>
          <a:p>
            <a:pPr algn="l"/>
            <a:r>
              <a:rPr lang="en-US"/>
              <a:t>Approach decision/rationale</a:t>
            </a:r>
          </a:p>
        </p:txBody>
      </p:sp>
      <p:sp>
        <p:nvSpPr>
          <p:cNvPr id="17" name="Google Shape;719;p83">
            <a:extLst>
              <a:ext uri="{FF2B5EF4-FFF2-40B4-BE49-F238E27FC236}">
                <a16:creationId xmlns:a16="http://schemas.microsoft.com/office/drawing/2014/main" id="{73184DA6-B4F6-EDB8-EAA1-0197B52C49DE}"/>
              </a:ext>
            </a:extLst>
          </p:cNvPr>
          <p:cNvSpPr txBox="1"/>
          <p:nvPr/>
        </p:nvSpPr>
        <p:spPr>
          <a:xfrm>
            <a:off x="454075" y="3332720"/>
            <a:ext cx="7501828" cy="618600"/>
          </a:xfrm>
          <a:prstGeom prst="rect">
            <a:avLst/>
          </a:prstGeom>
          <a:noFill/>
          <a:ln>
            <a:noFill/>
          </a:ln>
        </p:spPr>
        <p:txBody>
          <a:bodyPr spcFirstLastPara="1" wrap="square" lIns="91425" tIns="91425" rIns="91425" bIns="91425" anchor="t" anchorCtr="0">
            <a:noAutofit/>
          </a:bodyPr>
          <a:lstStyle/>
          <a:p>
            <a:pPr marL="285750" indent="-285750">
              <a:buChar char="•"/>
            </a:pPr>
            <a:r>
              <a:rPr lang="en">
                <a:solidFill>
                  <a:schemeClr val="dk2"/>
                </a:solidFill>
                <a:latin typeface="Montserrat"/>
                <a:ea typeface="Montserrat"/>
              </a:rPr>
              <a:t>Franchise is the most strategic approach for </a:t>
            </a:r>
            <a:r>
              <a:rPr lang="en" err="1">
                <a:solidFill>
                  <a:schemeClr val="dk2"/>
                </a:solidFill>
                <a:latin typeface="Montserrat"/>
                <a:ea typeface="Montserrat"/>
              </a:rPr>
              <a:t>SleeepyPods</a:t>
            </a:r>
            <a:r>
              <a:rPr lang="en">
                <a:solidFill>
                  <a:schemeClr val="dk2"/>
                </a:solidFill>
                <a:latin typeface="Montserrat"/>
                <a:ea typeface="Montserrat"/>
              </a:rPr>
              <a:t> because it allows for more rapid expansion across a lot of campuses. It does not require substantial amounts of capital from the company. It reduces financial risk while being able to maximize national growth potential and brand awareness. </a:t>
            </a:r>
          </a:p>
          <a:p>
            <a:endParaRPr lang="en"/>
          </a:p>
          <a:p>
            <a:endParaRPr lang="en">
              <a:solidFill>
                <a:schemeClr val="dk2"/>
              </a:solidFill>
              <a:latin typeface="Montserrat"/>
              <a:ea typeface="Montserra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4" name="Google Shape;546;p65">
            <a:extLst>
              <a:ext uri="{FF2B5EF4-FFF2-40B4-BE49-F238E27FC236}">
                <a16:creationId xmlns:a16="http://schemas.microsoft.com/office/drawing/2014/main" id="{5F95B867-5F3A-C7AB-E7D4-D85645933B4C}"/>
              </a:ext>
            </a:extLst>
          </p:cNvPr>
          <p:cNvSpPr txBox="1">
            <a:spLocks/>
          </p:cNvSpPr>
          <p:nvPr/>
        </p:nvSpPr>
        <p:spPr>
          <a:xfrm>
            <a:off x="440936" y="2828706"/>
            <a:ext cx="2292740" cy="359400"/>
          </a:xfrm>
          <a:prstGeom prst="rect">
            <a:avLst/>
          </a:prstGeom>
          <a:solidFill>
            <a:srgbClr val="D3EE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lgn="ctr">
              <a:buFont typeface="Montserrat"/>
              <a:buNone/>
            </a:pPr>
            <a:endParaRPr lang="en-US" sz="1050">
              <a:solidFill>
                <a:schemeClr val="dk1"/>
              </a:solidFill>
            </a:endParaRPr>
          </a:p>
        </p:txBody>
      </p:sp>
      <p:sp>
        <p:nvSpPr>
          <p:cNvPr id="2" name="Google Shape;546;p65">
            <a:extLst>
              <a:ext uri="{FF2B5EF4-FFF2-40B4-BE49-F238E27FC236}">
                <a16:creationId xmlns:a16="http://schemas.microsoft.com/office/drawing/2014/main" id="{4800A1D4-506B-28EC-BF2F-4E38FDC663B1}"/>
              </a:ext>
            </a:extLst>
          </p:cNvPr>
          <p:cNvSpPr txBox="1">
            <a:spLocks/>
          </p:cNvSpPr>
          <p:nvPr/>
        </p:nvSpPr>
        <p:spPr>
          <a:xfrm>
            <a:off x="375060" y="1273528"/>
            <a:ext cx="2358615" cy="359400"/>
          </a:xfrm>
          <a:prstGeom prst="rect">
            <a:avLst/>
          </a:prstGeom>
          <a:solidFill>
            <a:srgbClr val="D3EE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lgn="ctr">
              <a:buFont typeface="Montserrat"/>
              <a:buNone/>
            </a:pPr>
            <a:endParaRPr lang="en-US" sz="1050">
              <a:solidFill>
                <a:schemeClr val="dk1"/>
              </a:solidFill>
            </a:endParaRPr>
          </a:p>
        </p:txBody>
      </p:sp>
      <p:sp>
        <p:nvSpPr>
          <p:cNvPr id="673" name="Google Shape;673;p79"/>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algn="ctr"/>
            <a:r>
              <a:rPr lang="en"/>
              <a:t>Global Expansion Details </a:t>
            </a:r>
            <a:endParaRPr lang="en-US"/>
          </a:p>
        </p:txBody>
      </p:sp>
      <p:sp>
        <p:nvSpPr>
          <p:cNvPr id="674" name="Google Shape;674;p79"/>
          <p:cNvSpPr/>
          <p:nvPr/>
        </p:nvSpPr>
        <p:spPr>
          <a:xfrm>
            <a:off x="714743" y="2016609"/>
            <a:ext cx="7402210" cy="359400"/>
          </a:xfrm>
          <a:prstGeom prst="rect">
            <a:avLst/>
          </a:prstGeom>
          <a:noFill/>
          <a:ln>
            <a:noFill/>
          </a:ln>
        </p:spPr>
        <p:txBody>
          <a:bodyPr spcFirstLastPara="1" wrap="square" lIns="91425" tIns="91425" rIns="91425" bIns="91425" anchor="ctr" anchorCtr="0">
            <a:noAutofit/>
          </a:bodyPr>
          <a:lstStyle/>
          <a:p>
            <a:pPr marL="285750" indent="-285750">
              <a:buChar char="•"/>
            </a:pPr>
            <a:r>
              <a:rPr lang="en">
                <a:solidFill>
                  <a:schemeClr val="dk1"/>
                </a:solidFill>
                <a:latin typeface="Montserrat"/>
                <a:ea typeface="Montserrat"/>
              </a:rPr>
              <a:t>Similar culture/work ethic to the United States - reduces adaptation challenges</a:t>
            </a:r>
            <a:endParaRPr lang="en-US">
              <a:solidFill>
                <a:schemeClr val="dk1"/>
              </a:solidFill>
              <a:latin typeface="Montserrat"/>
            </a:endParaRPr>
          </a:p>
          <a:p>
            <a:pPr marL="285750" indent="-285750">
              <a:buChar char="•"/>
            </a:pPr>
            <a:r>
              <a:rPr lang="en">
                <a:solidFill>
                  <a:schemeClr val="dk1"/>
                </a:solidFill>
                <a:latin typeface="Montserrat"/>
                <a:ea typeface="Montserrat"/>
              </a:rPr>
              <a:t>Strong economy and purchasing power.</a:t>
            </a:r>
            <a:endParaRPr lang="en">
              <a:solidFill>
                <a:schemeClr val="dk1"/>
              </a:solidFill>
              <a:latin typeface="Montserrat"/>
            </a:endParaRPr>
          </a:p>
          <a:p>
            <a:pPr marL="285750" indent="-285750">
              <a:buChar char="•"/>
            </a:pPr>
            <a:r>
              <a:rPr lang="en">
                <a:solidFill>
                  <a:schemeClr val="dk1"/>
                </a:solidFill>
                <a:latin typeface="Montserrat"/>
              </a:rPr>
              <a:t>High student wellness awareness, strong demand for nap pods.</a:t>
            </a:r>
          </a:p>
          <a:p>
            <a:pPr marL="285750" indent="-285750">
              <a:buChar char="•"/>
            </a:pPr>
            <a:r>
              <a:rPr lang="en">
                <a:solidFill>
                  <a:schemeClr val="dk1"/>
                </a:solidFill>
                <a:latin typeface="Montserrat"/>
              </a:rPr>
              <a:t>English-speaking market simplifies operations</a:t>
            </a:r>
          </a:p>
        </p:txBody>
      </p:sp>
      <p:sp>
        <p:nvSpPr>
          <p:cNvPr id="676" name="Google Shape;676;p79"/>
          <p:cNvSpPr txBox="1"/>
          <p:nvPr/>
        </p:nvSpPr>
        <p:spPr>
          <a:xfrm>
            <a:off x="512772" y="1337841"/>
            <a:ext cx="2083190" cy="268800"/>
          </a:xfrm>
          <a:prstGeom prst="rect">
            <a:avLst/>
          </a:prstGeom>
          <a:noFill/>
          <a:ln>
            <a:noFill/>
          </a:ln>
        </p:spPr>
        <p:txBody>
          <a:bodyPr spcFirstLastPara="1" wrap="square" lIns="91425" tIns="91425" rIns="91425" bIns="91425" anchor="ctr" anchorCtr="0">
            <a:noAutofit/>
          </a:bodyPr>
          <a:lstStyle/>
          <a:p>
            <a:r>
              <a:rPr lang="en" sz="2400">
                <a:solidFill>
                  <a:schemeClr val="dk1"/>
                </a:solidFill>
                <a:latin typeface="Vidaloka"/>
                <a:sym typeface="Vidaloka"/>
              </a:rPr>
              <a:t>Opportunities </a:t>
            </a:r>
            <a:endParaRPr lang="en-US">
              <a:solidFill>
                <a:schemeClr val="dk1"/>
              </a:solidFill>
            </a:endParaRPr>
          </a:p>
        </p:txBody>
      </p:sp>
      <p:sp>
        <p:nvSpPr>
          <p:cNvPr id="677" name="Google Shape;677;p79"/>
          <p:cNvSpPr/>
          <p:nvPr/>
        </p:nvSpPr>
        <p:spPr>
          <a:xfrm>
            <a:off x="714743" y="3432472"/>
            <a:ext cx="7780469" cy="359400"/>
          </a:xfrm>
          <a:prstGeom prst="rect">
            <a:avLst/>
          </a:prstGeom>
          <a:noFill/>
          <a:ln>
            <a:noFill/>
          </a:ln>
        </p:spPr>
        <p:txBody>
          <a:bodyPr spcFirstLastPara="1" wrap="square" lIns="91425" tIns="91425" rIns="91425" bIns="91425" anchor="ctr" anchorCtr="0">
            <a:noAutofit/>
          </a:bodyPr>
          <a:lstStyle/>
          <a:p>
            <a:pPr marL="285750" indent="-285750">
              <a:buChar char="•"/>
            </a:pPr>
            <a:r>
              <a:rPr lang="en">
                <a:solidFill>
                  <a:schemeClr val="dk1"/>
                </a:solidFill>
                <a:latin typeface="Montserrat"/>
                <a:ea typeface="Montserrat"/>
              </a:rPr>
              <a:t>Smaller total population than other markets. </a:t>
            </a:r>
            <a:endParaRPr lang="en">
              <a:solidFill>
                <a:schemeClr val="dk1"/>
              </a:solidFill>
              <a:latin typeface="Montserrat"/>
              <a:ea typeface="Calibri"/>
            </a:endParaRPr>
          </a:p>
          <a:p>
            <a:pPr marL="285750" indent="-285750">
              <a:buChar char="•"/>
            </a:pPr>
            <a:r>
              <a:rPr lang="en">
                <a:solidFill>
                  <a:schemeClr val="dk1"/>
                </a:solidFill>
                <a:latin typeface="Montserrat"/>
                <a:ea typeface="Calibri"/>
                <a:cs typeface="Calibri"/>
              </a:rPr>
              <a:t>Potential competition in wellness services</a:t>
            </a:r>
            <a:endParaRPr lang="en">
              <a:solidFill>
                <a:schemeClr val="dk1"/>
              </a:solidFill>
              <a:latin typeface="Montserrat"/>
              <a:ea typeface="Calibri"/>
            </a:endParaRPr>
          </a:p>
          <a:p>
            <a:pPr marL="285750" indent="-285750">
              <a:buChar char="•"/>
            </a:pPr>
            <a:r>
              <a:rPr lang="en">
                <a:solidFill>
                  <a:schemeClr val="dk1"/>
                </a:solidFill>
                <a:latin typeface="Montserrat"/>
                <a:ea typeface="Calibri"/>
                <a:cs typeface="Calibri"/>
              </a:rPr>
              <a:t>High commercial rent costs in urban campuses</a:t>
            </a:r>
            <a:endParaRPr lang="en">
              <a:solidFill>
                <a:schemeClr val="dk1"/>
              </a:solidFill>
              <a:latin typeface="Montserrat"/>
            </a:endParaRPr>
          </a:p>
          <a:p>
            <a:pPr marL="285750" indent="-285750" algn="ctr">
              <a:buChar char="•"/>
            </a:pPr>
            <a:endParaRPr lang="en">
              <a:solidFill>
                <a:schemeClr val="dk1"/>
              </a:solidFill>
              <a:latin typeface="Montserrat"/>
              <a:ea typeface="Montserrat"/>
            </a:endParaRPr>
          </a:p>
        </p:txBody>
      </p:sp>
      <p:sp>
        <p:nvSpPr>
          <p:cNvPr id="679" name="Google Shape;679;p79"/>
          <p:cNvSpPr txBox="1"/>
          <p:nvPr/>
        </p:nvSpPr>
        <p:spPr>
          <a:xfrm>
            <a:off x="714742" y="2854956"/>
            <a:ext cx="2018933" cy="268800"/>
          </a:xfrm>
          <a:prstGeom prst="rect">
            <a:avLst/>
          </a:prstGeom>
          <a:noFill/>
          <a:ln>
            <a:noFill/>
          </a:ln>
        </p:spPr>
        <p:txBody>
          <a:bodyPr spcFirstLastPara="1" wrap="square" lIns="91425" tIns="91425" rIns="91425" bIns="91425" anchor="ctr" anchorCtr="0">
            <a:noAutofit/>
          </a:bodyPr>
          <a:lstStyle/>
          <a:p>
            <a:pPr marL="0" lvl="0" indent="0" algn="l">
              <a:spcBef>
                <a:spcPts val="0"/>
              </a:spcBef>
              <a:spcAft>
                <a:spcPts val="0"/>
              </a:spcAft>
              <a:buNone/>
            </a:pPr>
            <a:r>
              <a:rPr lang="en" sz="2400">
                <a:solidFill>
                  <a:schemeClr val="dk1"/>
                </a:solidFill>
                <a:latin typeface="Vidaloka"/>
                <a:sym typeface="Vidaloka"/>
              </a:rPr>
              <a:t>Challenges</a:t>
            </a:r>
            <a:endParaRPr lang="en-US"/>
          </a:p>
        </p:txBody>
      </p:sp>
      <p:sp>
        <p:nvSpPr>
          <p:cNvPr id="3" name="Google Shape;609;p72">
            <a:extLst>
              <a:ext uri="{FF2B5EF4-FFF2-40B4-BE49-F238E27FC236}">
                <a16:creationId xmlns:a16="http://schemas.microsoft.com/office/drawing/2014/main" id="{743AB6B8-2B18-BA59-A31B-18904CCE4C7E}"/>
              </a:ext>
            </a:extLst>
          </p:cNvPr>
          <p:cNvSpPr txBox="1"/>
          <p:nvPr/>
        </p:nvSpPr>
        <p:spPr>
          <a:xfrm>
            <a:off x="2883148" y="943736"/>
            <a:ext cx="3381917" cy="492600"/>
          </a:xfrm>
          <a:prstGeom prst="rect">
            <a:avLst/>
          </a:prstGeom>
          <a:noFill/>
          <a:ln>
            <a:noFill/>
          </a:ln>
        </p:spPr>
        <p:txBody>
          <a:bodyPr spcFirstLastPara="1" wrap="square" lIns="91425" tIns="91425" rIns="91425" bIns="91425" anchor="t" anchorCtr="0">
            <a:noAutofit/>
          </a:bodyPr>
          <a:lstStyle/>
          <a:p>
            <a:r>
              <a:rPr lang="en" sz="1600">
                <a:solidFill>
                  <a:schemeClr val="dk1"/>
                </a:solidFill>
                <a:latin typeface="Vidaloka"/>
                <a:sym typeface="Vidaloka"/>
              </a:rPr>
              <a:t>Selected Country: United Kingdom </a:t>
            </a:r>
            <a:endParaRPr lang="en-US" sz="1600">
              <a:solidFill>
                <a:schemeClr val="dk1"/>
              </a:solidFill>
            </a:endParaRPr>
          </a:p>
        </p:txBody>
      </p:sp>
      <p:sp>
        <p:nvSpPr>
          <p:cNvPr id="5" name="Google Shape;609;p72">
            <a:extLst>
              <a:ext uri="{FF2B5EF4-FFF2-40B4-BE49-F238E27FC236}">
                <a16:creationId xmlns:a16="http://schemas.microsoft.com/office/drawing/2014/main" id="{CC7E1808-3486-9D3E-1252-86DB6F463AD5}"/>
              </a:ext>
            </a:extLst>
          </p:cNvPr>
          <p:cNvSpPr txBox="1"/>
          <p:nvPr/>
        </p:nvSpPr>
        <p:spPr>
          <a:xfrm>
            <a:off x="881117" y="3854960"/>
            <a:ext cx="7797679" cy="492600"/>
          </a:xfrm>
          <a:prstGeom prst="rect">
            <a:avLst/>
          </a:prstGeom>
          <a:noFill/>
          <a:ln>
            <a:noFill/>
          </a:ln>
        </p:spPr>
        <p:txBody>
          <a:bodyPr spcFirstLastPara="1" wrap="square" lIns="91425" tIns="91425" rIns="91425" bIns="91425" anchor="t" anchorCtr="0">
            <a:noAutofit/>
          </a:bodyPr>
          <a:lstStyle/>
          <a:p>
            <a:pPr algn="ctr"/>
            <a:r>
              <a:rPr lang="en" u="sng">
                <a:solidFill>
                  <a:schemeClr val="dk1"/>
                </a:solidFill>
                <a:latin typeface="Vidaloka"/>
                <a:sym typeface="Vidaloka"/>
              </a:rPr>
              <a:t>Overall Rationale:</a:t>
            </a:r>
            <a:r>
              <a:rPr lang="en">
                <a:solidFill>
                  <a:schemeClr val="dk1"/>
                </a:solidFill>
                <a:latin typeface="Vidaloka"/>
                <a:sym typeface="Vidaloka"/>
              </a:rPr>
              <a:t> The UK offers the best balance of opportunity and risk for </a:t>
            </a:r>
            <a:r>
              <a:rPr lang="en" err="1">
                <a:solidFill>
                  <a:schemeClr val="dk1"/>
                </a:solidFill>
                <a:latin typeface="Vidaloka"/>
                <a:sym typeface="Vidaloka"/>
              </a:rPr>
              <a:t>SleeepyPods</a:t>
            </a:r>
            <a:r>
              <a:rPr lang="en">
                <a:solidFill>
                  <a:schemeClr val="dk1"/>
                </a:solidFill>
                <a:latin typeface="Vidaloka"/>
                <a:sym typeface="Vidaloka"/>
              </a:rPr>
              <a:t> as its first international expansion. The cultural similarities to the United States reduce the need for major service modifications while strong legal protections and a supportive business environment lower the operational risk. </a:t>
            </a:r>
            <a:endParaRPr lang="en-US">
              <a:solidFill>
                <a:schemeClr val="dk1"/>
              </a:solidFill>
              <a:latin typeface="Vidaloka"/>
            </a:endParaRPr>
          </a:p>
          <a:p>
            <a:endParaRPr lang="en">
              <a:sym typeface="Vidaloka"/>
            </a:endParaRPr>
          </a:p>
          <a:p>
            <a:endParaRPr lang="en" sz="1600">
              <a:solidFill>
                <a:schemeClr val="dk1"/>
              </a:solidFill>
              <a:latin typeface="Vidalok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676"/>
                                        </p:tgtEl>
                                        <p:attrNameLst>
                                          <p:attrName>style.visibility</p:attrName>
                                        </p:attrNameLst>
                                      </p:cBhvr>
                                      <p:to>
                                        <p:strVal val="visible"/>
                                      </p:to>
                                    </p:set>
                                    <p:anim calcmode="lin" valueType="num">
                                      <p:cBhvr additive="base">
                                        <p:cTn id="16" dur="500" fill="hold"/>
                                        <p:tgtEl>
                                          <p:spTgt spid="676"/>
                                        </p:tgtEl>
                                        <p:attrNameLst>
                                          <p:attrName>ppt_x</p:attrName>
                                        </p:attrNameLst>
                                      </p:cBhvr>
                                      <p:tavLst>
                                        <p:tav tm="0">
                                          <p:val>
                                            <p:strVal val="#ppt_x"/>
                                          </p:val>
                                        </p:tav>
                                        <p:tav tm="100000">
                                          <p:val>
                                            <p:strVal val="#ppt_x"/>
                                          </p:val>
                                        </p:tav>
                                      </p:tavLst>
                                    </p:anim>
                                    <p:anim calcmode="lin" valueType="num">
                                      <p:cBhvr additive="base">
                                        <p:cTn id="17" dur="500" fill="hold"/>
                                        <p:tgtEl>
                                          <p:spTgt spid="676"/>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674"/>
                                        </p:tgtEl>
                                        <p:attrNameLst>
                                          <p:attrName>style.visibility</p:attrName>
                                        </p:attrNameLst>
                                      </p:cBhvr>
                                      <p:to>
                                        <p:strVal val="visible"/>
                                      </p:to>
                                    </p:set>
                                    <p:anim calcmode="lin" valueType="num">
                                      <p:cBhvr additive="base">
                                        <p:cTn id="20" dur="500" fill="hold"/>
                                        <p:tgtEl>
                                          <p:spTgt spid="674"/>
                                        </p:tgtEl>
                                        <p:attrNameLst>
                                          <p:attrName>ppt_x</p:attrName>
                                        </p:attrNameLst>
                                      </p:cBhvr>
                                      <p:tavLst>
                                        <p:tav tm="0">
                                          <p:val>
                                            <p:strVal val="#ppt_x"/>
                                          </p:val>
                                        </p:tav>
                                        <p:tav tm="100000">
                                          <p:val>
                                            <p:strVal val="#ppt_x"/>
                                          </p:val>
                                        </p:tav>
                                      </p:tavLst>
                                    </p:anim>
                                    <p:anim calcmode="lin" valueType="num">
                                      <p:cBhvr additive="base">
                                        <p:cTn id="21" dur="500" fill="hold"/>
                                        <p:tgtEl>
                                          <p:spTgt spid="674"/>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 calcmode="lin" valueType="num">
                                      <p:cBhvr additive="base">
                                        <p:cTn id="26" dur="500" fill="hold"/>
                                        <p:tgtEl>
                                          <p:spTgt spid="4"/>
                                        </p:tgtEl>
                                        <p:attrNameLst>
                                          <p:attrName>ppt_x</p:attrName>
                                        </p:attrNameLst>
                                      </p:cBhvr>
                                      <p:tavLst>
                                        <p:tav tm="0">
                                          <p:val>
                                            <p:strVal val="#ppt_x"/>
                                          </p:val>
                                        </p:tav>
                                        <p:tav tm="100000">
                                          <p:val>
                                            <p:strVal val="#ppt_x"/>
                                          </p:val>
                                        </p:tav>
                                      </p:tavLst>
                                    </p:anim>
                                    <p:anim calcmode="lin" valueType="num">
                                      <p:cBhvr additive="base">
                                        <p:cTn id="27" dur="500" fill="hold"/>
                                        <p:tgtEl>
                                          <p:spTgt spid="4"/>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679"/>
                                        </p:tgtEl>
                                        <p:attrNameLst>
                                          <p:attrName>style.visibility</p:attrName>
                                        </p:attrNameLst>
                                      </p:cBhvr>
                                      <p:to>
                                        <p:strVal val="visible"/>
                                      </p:to>
                                    </p:set>
                                    <p:anim calcmode="lin" valueType="num">
                                      <p:cBhvr additive="base">
                                        <p:cTn id="30" dur="500" fill="hold"/>
                                        <p:tgtEl>
                                          <p:spTgt spid="679"/>
                                        </p:tgtEl>
                                        <p:attrNameLst>
                                          <p:attrName>ppt_x</p:attrName>
                                        </p:attrNameLst>
                                      </p:cBhvr>
                                      <p:tavLst>
                                        <p:tav tm="0">
                                          <p:val>
                                            <p:strVal val="#ppt_x"/>
                                          </p:val>
                                        </p:tav>
                                        <p:tav tm="100000">
                                          <p:val>
                                            <p:strVal val="#ppt_x"/>
                                          </p:val>
                                        </p:tav>
                                      </p:tavLst>
                                    </p:anim>
                                    <p:anim calcmode="lin" valueType="num">
                                      <p:cBhvr additive="base">
                                        <p:cTn id="31" dur="500" fill="hold"/>
                                        <p:tgtEl>
                                          <p:spTgt spid="679"/>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677"/>
                                        </p:tgtEl>
                                        <p:attrNameLst>
                                          <p:attrName>style.visibility</p:attrName>
                                        </p:attrNameLst>
                                      </p:cBhvr>
                                      <p:to>
                                        <p:strVal val="visible"/>
                                      </p:to>
                                    </p:set>
                                    <p:anim calcmode="lin" valueType="num">
                                      <p:cBhvr additive="base">
                                        <p:cTn id="34" dur="500" fill="hold"/>
                                        <p:tgtEl>
                                          <p:spTgt spid="677"/>
                                        </p:tgtEl>
                                        <p:attrNameLst>
                                          <p:attrName>ppt_x</p:attrName>
                                        </p:attrNameLst>
                                      </p:cBhvr>
                                      <p:tavLst>
                                        <p:tav tm="0">
                                          <p:val>
                                            <p:strVal val="#ppt_x"/>
                                          </p:val>
                                        </p:tav>
                                        <p:tav tm="100000">
                                          <p:val>
                                            <p:strVal val="#ppt_x"/>
                                          </p:val>
                                        </p:tav>
                                      </p:tavLst>
                                    </p:anim>
                                    <p:anim calcmode="lin" valueType="num">
                                      <p:cBhvr additive="base">
                                        <p:cTn id="35" dur="500" fill="hold"/>
                                        <p:tgtEl>
                                          <p:spTgt spid="677"/>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fade">
                                      <p:cBhvr>
                                        <p:cTn id="4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animBg="1"/>
      <p:bldP spid="674" grpId="0"/>
      <p:bldP spid="676" grpId="0"/>
      <p:bldP spid="677" grpId="0"/>
      <p:bldP spid="679" grpId="0"/>
      <p:bldP spid="3" grpId="0"/>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72">
          <a:extLst>
            <a:ext uri="{FF2B5EF4-FFF2-40B4-BE49-F238E27FC236}">
              <a16:creationId xmlns:a16="http://schemas.microsoft.com/office/drawing/2014/main" id="{F9D6FA4A-83CA-DE13-1AF7-7173181B9960}"/>
            </a:ext>
          </a:extLst>
        </p:cNvPr>
        <p:cNvGrpSpPr/>
        <p:nvPr/>
      </p:nvGrpSpPr>
      <p:grpSpPr>
        <a:xfrm>
          <a:off x="0" y="0"/>
          <a:ext cx="0" cy="0"/>
          <a:chOff x="0" y="0"/>
          <a:chExt cx="0" cy="0"/>
        </a:xfrm>
      </p:grpSpPr>
      <p:sp>
        <p:nvSpPr>
          <p:cNvPr id="3" name="Google Shape;546;p65">
            <a:extLst>
              <a:ext uri="{FF2B5EF4-FFF2-40B4-BE49-F238E27FC236}">
                <a16:creationId xmlns:a16="http://schemas.microsoft.com/office/drawing/2014/main" id="{CB9E0DC2-BABE-702F-222A-DE2CBC14C4B4}"/>
              </a:ext>
            </a:extLst>
          </p:cNvPr>
          <p:cNvSpPr txBox="1">
            <a:spLocks/>
          </p:cNvSpPr>
          <p:nvPr/>
        </p:nvSpPr>
        <p:spPr>
          <a:xfrm>
            <a:off x="440935" y="2941747"/>
            <a:ext cx="5111340" cy="485235"/>
          </a:xfrm>
          <a:prstGeom prst="rect">
            <a:avLst/>
          </a:prstGeom>
          <a:solidFill>
            <a:srgbClr val="D3EE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lgn="ctr">
              <a:buFont typeface="Montserrat"/>
              <a:buNone/>
            </a:pPr>
            <a:endParaRPr lang="en-US" sz="1050">
              <a:solidFill>
                <a:schemeClr val="dk1"/>
              </a:solidFill>
            </a:endParaRPr>
          </a:p>
        </p:txBody>
      </p:sp>
      <p:sp>
        <p:nvSpPr>
          <p:cNvPr id="2" name="Google Shape;546;p65">
            <a:extLst>
              <a:ext uri="{FF2B5EF4-FFF2-40B4-BE49-F238E27FC236}">
                <a16:creationId xmlns:a16="http://schemas.microsoft.com/office/drawing/2014/main" id="{335A3B71-385D-0B22-0F9A-B954D161A465}"/>
              </a:ext>
            </a:extLst>
          </p:cNvPr>
          <p:cNvSpPr txBox="1">
            <a:spLocks/>
          </p:cNvSpPr>
          <p:nvPr/>
        </p:nvSpPr>
        <p:spPr>
          <a:xfrm>
            <a:off x="375060" y="1216377"/>
            <a:ext cx="5111340" cy="485235"/>
          </a:xfrm>
          <a:prstGeom prst="rect">
            <a:avLst/>
          </a:prstGeom>
          <a:solidFill>
            <a:srgbClr val="D3EE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lgn="ctr">
              <a:buFont typeface="Montserrat"/>
              <a:buNone/>
            </a:pPr>
            <a:endParaRPr lang="en-US" sz="1050">
              <a:solidFill>
                <a:schemeClr val="dk1"/>
              </a:solidFill>
            </a:endParaRPr>
          </a:p>
        </p:txBody>
      </p:sp>
      <p:sp>
        <p:nvSpPr>
          <p:cNvPr id="673" name="Google Shape;673;p79">
            <a:extLst>
              <a:ext uri="{FF2B5EF4-FFF2-40B4-BE49-F238E27FC236}">
                <a16:creationId xmlns:a16="http://schemas.microsoft.com/office/drawing/2014/main" id="{4B573A2B-942B-B5ED-39C0-F7D3438FA9C2}"/>
              </a:ext>
            </a:extLst>
          </p:cNvPr>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algn="ctr"/>
            <a:r>
              <a:rPr lang="en"/>
              <a:t>Expansion/Entry Strategies</a:t>
            </a:r>
            <a:endParaRPr lang="en-US"/>
          </a:p>
        </p:txBody>
      </p:sp>
      <p:sp>
        <p:nvSpPr>
          <p:cNvPr id="674" name="Google Shape;674;p79">
            <a:extLst>
              <a:ext uri="{FF2B5EF4-FFF2-40B4-BE49-F238E27FC236}">
                <a16:creationId xmlns:a16="http://schemas.microsoft.com/office/drawing/2014/main" id="{DEC68776-AC6F-9269-5BC6-33A05F0CBA2E}"/>
              </a:ext>
            </a:extLst>
          </p:cNvPr>
          <p:cNvSpPr/>
          <p:nvPr/>
        </p:nvSpPr>
        <p:spPr>
          <a:xfrm>
            <a:off x="546963" y="2087749"/>
            <a:ext cx="7402210" cy="359400"/>
          </a:xfrm>
          <a:prstGeom prst="rect">
            <a:avLst/>
          </a:prstGeom>
          <a:noFill/>
          <a:ln>
            <a:noFill/>
          </a:ln>
        </p:spPr>
        <p:txBody>
          <a:bodyPr spcFirstLastPara="1" wrap="square" lIns="91425" tIns="91425" rIns="91425" bIns="91425" anchor="ctr" anchorCtr="0">
            <a:noAutofit/>
          </a:bodyPr>
          <a:lstStyle/>
          <a:p>
            <a:pPr marL="285750" indent="-285750">
              <a:buChar char="•"/>
            </a:pPr>
            <a:r>
              <a:rPr lang="en">
                <a:solidFill>
                  <a:schemeClr val="dk1"/>
                </a:solidFill>
                <a:latin typeface="Montserrat"/>
              </a:rPr>
              <a:t>Our nap pods will be universally accepted </a:t>
            </a:r>
            <a:endParaRPr lang="en-US">
              <a:solidFill>
                <a:schemeClr val="dk1"/>
              </a:solidFill>
            </a:endParaRPr>
          </a:p>
          <a:p>
            <a:pPr marL="742950" lvl="1" indent="-285750">
              <a:buFont typeface="Courier New"/>
              <a:buChar char="o"/>
            </a:pPr>
            <a:r>
              <a:rPr lang="en">
                <a:solidFill>
                  <a:schemeClr val="dk1"/>
                </a:solidFill>
                <a:latin typeface="Montserrat"/>
              </a:rPr>
              <a:t>(not dependent on local preferences/tastes). </a:t>
            </a:r>
            <a:endParaRPr lang="en-US">
              <a:solidFill>
                <a:schemeClr val="dk1"/>
              </a:solidFill>
            </a:endParaRPr>
          </a:p>
          <a:p>
            <a:pPr marL="285750" indent="-285750">
              <a:buChar char="•"/>
            </a:pPr>
            <a:r>
              <a:rPr lang="en">
                <a:solidFill>
                  <a:schemeClr val="dk1"/>
                </a:solidFill>
                <a:latin typeface="Montserrat"/>
              </a:rPr>
              <a:t>Standardization cuts costs, time, and effort. </a:t>
            </a:r>
            <a:endParaRPr lang="en-US">
              <a:solidFill>
                <a:schemeClr val="dk1"/>
              </a:solidFill>
            </a:endParaRPr>
          </a:p>
          <a:p>
            <a:pPr marL="285750" indent="-285750">
              <a:buChar char="•"/>
            </a:pPr>
            <a:r>
              <a:rPr lang="en">
                <a:solidFill>
                  <a:schemeClr val="dk1"/>
                </a:solidFill>
                <a:latin typeface="Montserrat"/>
              </a:rPr>
              <a:t>In the future, the product will automatically adjust itself based on where the user is located. </a:t>
            </a:r>
            <a:endParaRPr lang="en-US">
              <a:solidFill>
                <a:schemeClr val="dk1"/>
              </a:solidFill>
            </a:endParaRPr>
          </a:p>
        </p:txBody>
      </p:sp>
      <p:sp>
        <p:nvSpPr>
          <p:cNvPr id="676" name="Google Shape;676;p79">
            <a:extLst>
              <a:ext uri="{FF2B5EF4-FFF2-40B4-BE49-F238E27FC236}">
                <a16:creationId xmlns:a16="http://schemas.microsoft.com/office/drawing/2014/main" id="{A9AB332A-3691-6C98-FD1E-F77EA15B0845}"/>
              </a:ext>
            </a:extLst>
          </p:cNvPr>
          <p:cNvSpPr txBox="1"/>
          <p:nvPr/>
        </p:nvSpPr>
        <p:spPr>
          <a:xfrm>
            <a:off x="440935" y="1333212"/>
            <a:ext cx="5826191" cy="268800"/>
          </a:xfrm>
          <a:prstGeom prst="rect">
            <a:avLst/>
          </a:prstGeom>
          <a:noFill/>
          <a:ln>
            <a:noFill/>
          </a:ln>
        </p:spPr>
        <p:txBody>
          <a:bodyPr spcFirstLastPara="1" wrap="square" lIns="91425" tIns="91425" rIns="91425" bIns="91425" anchor="ctr" anchorCtr="0">
            <a:noAutofit/>
          </a:bodyPr>
          <a:lstStyle/>
          <a:p>
            <a:r>
              <a:rPr lang="en" sz="2400">
                <a:solidFill>
                  <a:schemeClr val="dk1"/>
                </a:solidFill>
                <a:latin typeface="Vidaloka"/>
                <a:sym typeface="Vidaloka"/>
              </a:rPr>
              <a:t>Expansion Strategy: Global Standard</a:t>
            </a:r>
            <a:endParaRPr lang="en" sz="2400">
              <a:solidFill>
                <a:schemeClr val="dk1"/>
              </a:solidFill>
              <a:latin typeface="Vidaloka"/>
            </a:endParaRPr>
          </a:p>
        </p:txBody>
      </p:sp>
      <p:sp>
        <p:nvSpPr>
          <p:cNvPr id="677" name="Google Shape;677;p79">
            <a:extLst>
              <a:ext uri="{FF2B5EF4-FFF2-40B4-BE49-F238E27FC236}">
                <a16:creationId xmlns:a16="http://schemas.microsoft.com/office/drawing/2014/main" id="{5053EE5A-8B1C-179B-C5E1-7750CB826532}"/>
              </a:ext>
            </a:extLst>
          </p:cNvPr>
          <p:cNvSpPr/>
          <p:nvPr/>
        </p:nvSpPr>
        <p:spPr>
          <a:xfrm>
            <a:off x="546963" y="3867650"/>
            <a:ext cx="7733282" cy="485235"/>
          </a:xfrm>
          <a:prstGeom prst="rect">
            <a:avLst/>
          </a:prstGeom>
          <a:noFill/>
          <a:ln>
            <a:noFill/>
          </a:ln>
        </p:spPr>
        <p:txBody>
          <a:bodyPr spcFirstLastPara="1" wrap="square" lIns="91425" tIns="91425" rIns="91425" bIns="91425" anchor="ctr" anchorCtr="0">
            <a:noAutofit/>
          </a:bodyPr>
          <a:lstStyle/>
          <a:p>
            <a:pPr marL="285750" indent="-285750">
              <a:buChar char="•"/>
            </a:pPr>
            <a:r>
              <a:rPr lang="en">
                <a:solidFill>
                  <a:schemeClr val="dk1"/>
                </a:solidFill>
                <a:latin typeface="Montserrat"/>
                <a:ea typeface="Calibri"/>
                <a:cs typeface="Calibri"/>
              </a:rPr>
              <a:t>A local partner in the UK can help navigate university relationships, licensing requirements, and hiring local employees. </a:t>
            </a:r>
            <a:endParaRPr lang="en-US">
              <a:solidFill>
                <a:schemeClr val="dk1"/>
              </a:solidFill>
            </a:endParaRPr>
          </a:p>
          <a:p>
            <a:pPr marL="285750" indent="-285750">
              <a:buChar char="•"/>
            </a:pPr>
            <a:r>
              <a:rPr lang="en">
                <a:solidFill>
                  <a:schemeClr val="dk1"/>
                </a:solidFill>
                <a:latin typeface="Montserrat"/>
                <a:ea typeface="Calibri"/>
                <a:cs typeface="Calibri"/>
              </a:rPr>
              <a:t>The partner’s </a:t>
            </a:r>
            <a:r>
              <a:rPr lang="en" b="1">
                <a:solidFill>
                  <a:schemeClr val="dk1"/>
                </a:solidFill>
                <a:latin typeface="Montserrat"/>
                <a:ea typeface="Calibri"/>
                <a:cs typeface="Calibri"/>
              </a:rPr>
              <a:t>local knowledge </a:t>
            </a:r>
            <a:r>
              <a:rPr lang="en">
                <a:solidFill>
                  <a:schemeClr val="dk1"/>
                </a:solidFill>
                <a:latin typeface="Montserrat"/>
                <a:ea typeface="Calibri"/>
                <a:cs typeface="Calibri"/>
              </a:rPr>
              <a:t>reduces risk and speeds up market entry</a:t>
            </a:r>
          </a:p>
          <a:p>
            <a:pPr marL="285750" indent="-285750">
              <a:buChar char="•"/>
            </a:pPr>
            <a:r>
              <a:rPr lang="en">
                <a:solidFill>
                  <a:schemeClr val="dk1"/>
                </a:solidFill>
                <a:latin typeface="Montserrat"/>
                <a:ea typeface="Calibri"/>
                <a:cs typeface="Calibri"/>
              </a:rPr>
              <a:t>Combines the strengths of both organizations and increases the likelihood of successful international expansion</a:t>
            </a:r>
            <a:r>
              <a:rPr lang="en">
                <a:solidFill>
                  <a:schemeClr val="dk1"/>
                </a:solidFill>
                <a:latin typeface="Calibri"/>
                <a:ea typeface="Calibri"/>
                <a:cs typeface="Calibri"/>
              </a:rPr>
              <a:t>. </a:t>
            </a:r>
            <a:endParaRPr lang="en">
              <a:solidFill>
                <a:schemeClr val="dk1"/>
              </a:solidFill>
            </a:endParaRPr>
          </a:p>
          <a:p>
            <a:pPr marL="285750" indent="-285750" algn="ctr">
              <a:buChar char="•"/>
            </a:pPr>
            <a:endParaRPr lang="en">
              <a:solidFill>
                <a:schemeClr val="dk1"/>
              </a:solidFill>
              <a:latin typeface="Montserrat"/>
              <a:ea typeface="Montserrat"/>
            </a:endParaRPr>
          </a:p>
        </p:txBody>
      </p:sp>
      <p:sp>
        <p:nvSpPr>
          <p:cNvPr id="679" name="Google Shape;679;p79">
            <a:extLst>
              <a:ext uri="{FF2B5EF4-FFF2-40B4-BE49-F238E27FC236}">
                <a16:creationId xmlns:a16="http://schemas.microsoft.com/office/drawing/2014/main" id="{455D72FC-93FE-242B-7DAA-DC0EA6670EFB}"/>
              </a:ext>
            </a:extLst>
          </p:cNvPr>
          <p:cNvSpPr txBox="1"/>
          <p:nvPr/>
        </p:nvSpPr>
        <p:spPr>
          <a:xfrm>
            <a:off x="713225" y="3008019"/>
            <a:ext cx="4409794" cy="352689"/>
          </a:xfrm>
          <a:prstGeom prst="rect">
            <a:avLst/>
          </a:prstGeom>
          <a:noFill/>
          <a:ln>
            <a:noFill/>
          </a:ln>
        </p:spPr>
        <p:txBody>
          <a:bodyPr spcFirstLastPara="1" wrap="square" lIns="91425" tIns="91425" rIns="91425" bIns="91425" anchor="ctr" anchorCtr="0">
            <a:noAutofit/>
          </a:bodyPr>
          <a:lstStyle/>
          <a:p>
            <a:r>
              <a:rPr lang="en" sz="2400">
                <a:solidFill>
                  <a:schemeClr val="dk1"/>
                </a:solidFill>
                <a:latin typeface="Vidaloka"/>
                <a:sym typeface="Vidaloka"/>
              </a:rPr>
              <a:t>Entry Strategy: Joint Venture</a:t>
            </a:r>
            <a:endParaRPr lang="en-US"/>
          </a:p>
        </p:txBody>
      </p:sp>
    </p:spTree>
    <p:extLst>
      <p:ext uri="{BB962C8B-B14F-4D97-AF65-F5344CB8AC3E}">
        <p14:creationId xmlns:p14="http://schemas.microsoft.com/office/powerpoint/2010/main" val="2895704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74"/>
                                        </p:tgtEl>
                                        <p:attrNameLst>
                                          <p:attrName>style.visibility</p:attrName>
                                        </p:attrNameLst>
                                      </p:cBhvr>
                                      <p:to>
                                        <p:strVal val="visible"/>
                                      </p:to>
                                    </p:set>
                                    <p:animEffect transition="in" filter="fade">
                                      <p:cBhvr>
                                        <p:cTn id="7" dur="500"/>
                                        <p:tgtEl>
                                          <p:spTgt spid="6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77"/>
                                        </p:tgtEl>
                                        <p:attrNameLst>
                                          <p:attrName>style.visibility</p:attrName>
                                        </p:attrNameLst>
                                      </p:cBhvr>
                                      <p:to>
                                        <p:strVal val="visible"/>
                                      </p:to>
                                    </p:set>
                                    <p:animEffect transition="in" filter="fade">
                                      <p:cBhvr>
                                        <p:cTn id="12" dur="500"/>
                                        <p:tgtEl>
                                          <p:spTgt spid="6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4" grpId="0"/>
      <p:bldP spid="67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45">
          <a:extLst>
            <a:ext uri="{FF2B5EF4-FFF2-40B4-BE49-F238E27FC236}">
              <a16:creationId xmlns:a16="http://schemas.microsoft.com/office/drawing/2014/main" id="{48321B14-CE4F-5634-3AB0-5C5EC9F0E37C}"/>
            </a:ext>
          </a:extLst>
        </p:cNvPr>
        <p:cNvGrpSpPr/>
        <p:nvPr/>
      </p:nvGrpSpPr>
      <p:grpSpPr>
        <a:xfrm>
          <a:off x="0" y="0"/>
          <a:ext cx="0" cy="0"/>
          <a:chOff x="0" y="0"/>
          <a:chExt cx="0" cy="0"/>
        </a:xfrm>
      </p:grpSpPr>
      <p:sp>
        <p:nvSpPr>
          <p:cNvPr id="2" name="Google Shape;547;p65">
            <a:extLst>
              <a:ext uri="{FF2B5EF4-FFF2-40B4-BE49-F238E27FC236}">
                <a16:creationId xmlns:a16="http://schemas.microsoft.com/office/drawing/2014/main" id="{2E9002FE-D1D5-A8D1-BE51-C14E4489DEA7}"/>
              </a:ext>
            </a:extLst>
          </p:cNvPr>
          <p:cNvSpPr txBox="1">
            <a:spLocks/>
          </p:cNvSpPr>
          <p:nvPr/>
        </p:nvSpPr>
        <p:spPr>
          <a:xfrm>
            <a:off x="984230" y="663569"/>
            <a:ext cx="6954862" cy="48062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Vidaloka"/>
              <a:buNone/>
              <a:defRPr sz="3000" b="0" i="0" u="none" strike="noStrike" cap="none">
                <a:solidFill>
                  <a:schemeClr val="dk1"/>
                </a:solidFill>
                <a:latin typeface="Vidaloka"/>
                <a:ea typeface="Vidaloka"/>
                <a:cs typeface="Vidaloka"/>
                <a:sym typeface="Vidaloka"/>
              </a:defRPr>
            </a:lvl1pPr>
            <a:lvl2pPr marR="0" lvl="1"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9pPr>
          </a:lstStyle>
          <a:p>
            <a:pPr algn="ctr"/>
            <a:r>
              <a:rPr lang="en-US" sz="2800"/>
              <a:t>Job Selected: Pods Operations Attendant</a:t>
            </a:r>
          </a:p>
        </p:txBody>
      </p:sp>
      <p:sp>
        <p:nvSpPr>
          <p:cNvPr id="3" name="Google Shape;546;p65">
            <a:extLst>
              <a:ext uri="{FF2B5EF4-FFF2-40B4-BE49-F238E27FC236}">
                <a16:creationId xmlns:a16="http://schemas.microsoft.com/office/drawing/2014/main" id="{B5A9EB83-B2FA-5A50-2FCF-877C1D8C17DA}"/>
              </a:ext>
            </a:extLst>
          </p:cNvPr>
          <p:cNvSpPr txBox="1">
            <a:spLocks/>
          </p:cNvSpPr>
          <p:nvPr/>
        </p:nvSpPr>
        <p:spPr>
          <a:xfrm>
            <a:off x="273405" y="1476052"/>
            <a:ext cx="1820595" cy="450140"/>
          </a:xfrm>
          <a:prstGeom prst="rect">
            <a:avLst/>
          </a:prstGeom>
          <a:solidFill>
            <a:srgbClr val="D3EE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lgn="ctr">
              <a:buNone/>
            </a:pPr>
            <a:r>
              <a:rPr lang="en-US" sz="1100">
                <a:solidFill>
                  <a:schemeClr val="dk1"/>
                </a:solidFill>
                <a:latin typeface="Vidaloka"/>
              </a:rPr>
              <a:t>Summary of Responsibilities</a:t>
            </a:r>
          </a:p>
        </p:txBody>
      </p:sp>
      <p:sp>
        <p:nvSpPr>
          <p:cNvPr id="4" name="Google Shape;546;p65">
            <a:extLst>
              <a:ext uri="{FF2B5EF4-FFF2-40B4-BE49-F238E27FC236}">
                <a16:creationId xmlns:a16="http://schemas.microsoft.com/office/drawing/2014/main" id="{1F2B2151-5BFF-6333-1721-8C22FD8F8E7A}"/>
              </a:ext>
            </a:extLst>
          </p:cNvPr>
          <p:cNvSpPr txBox="1">
            <a:spLocks/>
          </p:cNvSpPr>
          <p:nvPr/>
        </p:nvSpPr>
        <p:spPr>
          <a:xfrm>
            <a:off x="275032" y="2005608"/>
            <a:ext cx="1820596" cy="2673221"/>
          </a:xfrm>
          <a:prstGeom prst="rect">
            <a:avLst/>
          </a:prstGeom>
          <a:noFill/>
          <a:ln>
            <a:solidFill>
              <a:schemeClr val="tx1"/>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buNone/>
            </a:pPr>
            <a:r>
              <a:rPr lang="en-US" sz="1000">
                <a:solidFill>
                  <a:schemeClr val="dk1"/>
                </a:solidFill>
              </a:rPr>
              <a:t>- Ensures pods are used efficiently with little scheduling conflict </a:t>
            </a:r>
          </a:p>
          <a:p>
            <a:pPr marL="114300" indent="0">
              <a:buNone/>
            </a:pPr>
            <a:endParaRPr lang="en-US" sz="1000">
              <a:solidFill>
                <a:schemeClr val="dk1"/>
              </a:solidFill>
            </a:endParaRPr>
          </a:p>
          <a:p>
            <a:pPr marL="114300" indent="0">
              <a:buNone/>
            </a:pPr>
            <a:r>
              <a:rPr lang="en-US" sz="1000">
                <a:solidFill>
                  <a:schemeClr val="dk1"/>
                </a:solidFill>
              </a:rPr>
              <a:t>- Keeps spaces clean</a:t>
            </a:r>
          </a:p>
          <a:p>
            <a:pPr marL="114300" indent="0">
              <a:buNone/>
            </a:pPr>
            <a:endParaRPr lang="en-US" sz="1000">
              <a:solidFill>
                <a:schemeClr val="dk1"/>
              </a:solidFill>
            </a:endParaRPr>
          </a:p>
          <a:p>
            <a:pPr marL="114300" indent="0">
              <a:buNone/>
            </a:pPr>
            <a:r>
              <a:rPr lang="en-US" sz="1000">
                <a:solidFill>
                  <a:schemeClr val="dk1"/>
                </a:solidFill>
              </a:rPr>
              <a:t>- Helps students with check-in, troubleshooting, and keeping the environment safe, quiet, and comfortable</a:t>
            </a:r>
          </a:p>
          <a:p>
            <a:pPr marL="114300" indent="0">
              <a:buNone/>
            </a:pPr>
            <a:endParaRPr lang="en-US" sz="1000">
              <a:solidFill>
                <a:schemeClr val="dk1"/>
              </a:solidFill>
            </a:endParaRPr>
          </a:p>
          <a:p>
            <a:pPr marL="114300" indent="0">
              <a:buNone/>
            </a:pPr>
            <a:r>
              <a:rPr lang="en-US" sz="1000">
                <a:solidFill>
                  <a:schemeClr val="dk1"/>
                </a:solidFill>
              </a:rPr>
              <a:t>- Reports issues to reduce pod downtime</a:t>
            </a:r>
          </a:p>
          <a:p>
            <a:pPr marL="114300" indent="0">
              <a:buNone/>
            </a:pPr>
            <a:endParaRPr lang="en-US" sz="1000">
              <a:solidFill>
                <a:schemeClr val="dk1"/>
              </a:solidFill>
            </a:endParaRPr>
          </a:p>
          <a:p>
            <a:pPr marL="114300" indent="0">
              <a:buNone/>
            </a:pPr>
            <a:r>
              <a:rPr lang="en-US" sz="1000">
                <a:solidFill>
                  <a:schemeClr val="dk1"/>
                </a:solidFill>
              </a:rPr>
              <a:t>- Gathers feedback </a:t>
            </a:r>
          </a:p>
        </p:txBody>
      </p:sp>
      <p:sp>
        <p:nvSpPr>
          <p:cNvPr id="14" name="Google Shape;546;p65">
            <a:extLst>
              <a:ext uri="{FF2B5EF4-FFF2-40B4-BE49-F238E27FC236}">
                <a16:creationId xmlns:a16="http://schemas.microsoft.com/office/drawing/2014/main" id="{24D36B1C-0568-CFC7-EACA-68E431517DFB}"/>
              </a:ext>
            </a:extLst>
          </p:cNvPr>
          <p:cNvSpPr txBox="1">
            <a:spLocks/>
          </p:cNvSpPr>
          <p:nvPr/>
        </p:nvSpPr>
        <p:spPr>
          <a:xfrm>
            <a:off x="2154912" y="1489159"/>
            <a:ext cx="1700036" cy="450140"/>
          </a:xfrm>
          <a:prstGeom prst="rect">
            <a:avLst/>
          </a:prstGeom>
          <a:solidFill>
            <a:srgbClr val="D3EE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lgn="ctr">
              <a:buNone/>
            </a:pPr>
            <a:r>
              <a:rPr lang="en-US" sz="1100">
                <a:solidFill>
                  <a:schemeClr val="dk1"/>
                </a:solidFill>
                <a:latin typeface="Vidaloka"/>
              </a:rPr>
              <a:t>Qualifications</a:t>
            </a:r>
          </a:p>
        </p:txBody>
      </p:sp>
      <p:sp>
        <p:nvSpPr>
          <p:cNvPr id="16" name="Google Shape;546;p65">
            <a:extLst>
              <a:ext uri="{FF2B5EF4-FFF2-40B4-BE49-F238E27FC236}">
                <a16:creationId xmlns:a16="http://schemas.microsoft.com/office/drawing/2014/main" id="{E4FA1F05-6088-C158-98A9-CB748D0DCE8B}"/>
              </a:ext>
            </a:extLst>
          </p:cNvPr>
          <p:cNvSpPr txBox="1">
            <a:spLocks/>
          </p:cNvSpPr>
          <p:nvPr/>
        </p:nvSpPr>
        <p:spPr>
          <a:xfrm>
            <a:off x="2154911" y="2005608"/>
            <a:ext cx="1700036" cy="2673221"/>
          </a:xfrm>
          <a:prstGeom prst="rect">
            <a:avLst/>
          </a:prstGeom>
          <a:noFill/>
          <a:ln>
            <a:solidFill>
              <a:schemeClr val="tx1"/>
            </a:solid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buNone/>
            </a:pPr>
            <a:r>
              <a:rPr lang="en-US" sz="1000">
                <a:solidFill>
                  <a:schemeClr val="dk1"/>
                </a:solidFill>
              </a:rPr>
              <a:t>- Strong customer service skills </a:t>
            </a:r>
          </a:p>
          <a:p>
            <a:pPr marL="114300" indent="0">
              <a:buNone/>
            </a:pPr>
            <a:endParaRPr lang="en-US" sz="1000"/>
          </a:p>
          <a:p>
            <a:pPr marL="114300" indent="0">
              <a:buNone/>
            </a:pPr>
            <a:r>
              <a:rPr lang="en-US" sz="1000">
                <a:solidFill>
                  <a:schemeClr val="dk1"/>
                </a:solidFill>
              </a:rPr>
              <a:t>- Responsible</a:t>
            </a:r>
          </a:p>
          <a:p>
            <a:pPr marL="114300" indent="0">
              <a:buNone/>
            </a:pPr>
            <a:endParaRPr lang="en-US" sz="1000">
              <a:solidFill>
                <a:schemeClr val="dk1"/>
              </a:solidFill>
            </a:endParaRPr>
          </a:p>
          <a:p>
            <a:pPr marL="114300" indent="0">
              <a:buNone/>
            </a:pPr>
            <a:r>
              <a:rPr lang="en-US" sz="1000">
                <a:solidFill>
                  <a:schemeClr val="dk1"/>
                </a:solidFill>
              </a:rPr>
              <a:t>- Detail-oriented </a:t>
            </a:r>
          </a:p>
          <a:p>
            <a:pPr marL="114300" indent="0">
              <a:buNone/>
            </a:pPr>
            <a:endParaRPr lang="en-US" sz="1000">
              <a:solidFill>
                <a:schemeClr val="dk1"/>
              </a:solidFill>
            </a:endParaRPr>
          </a:p>
          <a:p>
            <a:pPr marL="114300" indent="0">
              <a:buNone/>
            </a:pPr>
            <a:r>
              <a:rPr lang="en-US" sz="1000">
                <a:solidFill>
                  <a:schemeClr val="dk1"/>
                </a:solidFill>
              </a:rPr>
              <a:t>- Able to follow sanitation protocols </a:t>
            </a:r>
          </a:p>
          <a:p>
            <a:pPr marL="114300" indent="0">
              <a:buNone/>
            </a:pPr>
            <a:endParaRPr lang="en-US" sz="1000">
              <a:solidFill>
                <a:schemeClr val="dk1"/>
              </a:solidFill>
            </a:endParaRPr>
          </a:p>
          <a:p>
            <a:pPr marL="114300" indent="0">
              <a:buNone/>
            </a:pPr>
            <a:r>
              <a:rPr lang="en-US" sz="1000">
                <a:solidFill>
                  <a:schemeClr val="dk1"/>
                </a:solidFill>
              </a:rPr>
              <a:t>- Experience in campus recreation, hospitality, or healthcare preferred </a:t>
            </a:r>
          </a:p>
          <a:p>
            <a:pPr marL="114300" indent="0">
              <a:buNone/>
            </a:pPr>
            <a:endParaRPr lang="en-US" sz="1000"/>
          </a:p>
          <a:p>
            <a:pPr marL="114300" indent="0">
              <a:buNone/>
            </a:pPr>
            <a:r>
              <a:rPr lang="en-US" sz="1000">
                <a:solidFill>
                  <a:schemeClr val="dk1"/>
                </a:solidFill>
              </a:rPr>
              <a:t>- CPR/First Aid certification preferred </a:t>
            </a:r>
            <a:endParaRPr lang="en-US" sz="1000"/>
          </a:p>
        </p:txBody>
      </p:sp>
      <p:sp>
        <p:nvSpPr>
          <p:cNvPr id="20" name="Google Shape;546;p65">
            <a:extLst>
              <a:ext uri="{FF2B5EF4-FFF2-40B4-BE49-F238E27FC236}">
                <a16:creationId xmlns:a16="http://schemas.microsoft.com/office/drawing/2014/main" id="{FF3AC2DD-FEDA-749A-11BC-85354F69A89D}"/>
              </a:ext>
            </a:extLst>
          </p:cNvPr>
          <p:cNvSpPr txBox="1">
            <a:spLocks/>
          </p:cNvSpPr>
          <p:nvPr/>
        </p:nvSpPr>
        <p:spPr>
          <a:xfrm>
            <a:off x="3918337" y="1489475"/>
            <a:ext cx="1511550" cy="450140"/>
          </a:xfrm>
          <a:prstGeom prst="rect">
            <a:avLst/>
          </a:prstGeom>
          <a:solidFill>
            <a:srgbClr val="D3EE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lgn="ctr">
              <a:buNone/>
            </a:pPr>
            <a:r>
              <a:rPr lang="en-US" sz="1100">
                <a:solidFill>
                  <a:schemeClr val="dk1"/>
                </a:solidFill>
                <a:latin typeface="Vidaloka"/>
              </a:rPr>
              <a:t>Compensation Plan</a:t>
            </a:r>
          </a:p>
        </p:txBody>
      </p:sp>
      <p:sp>
        <p:nvSpPr>
          <p:cNvPr id="22" name="Google Shape;546;p65">
            <a:extLst>
              <a:ext uri="{FF2B5EF4-FFF2-40B4-BE49-F238E27FC236}">
                <a16:creationId xmlns:a16="http://schemas.microsoft.com/office/drawing/2014/main" id="{572926A1-4DE7-FD35-C8FB-15FACA43B7BA}"/>
              </a:ext>
            </a:extLst>
          </p:cNvPr>
          <p:cNvSpPr txBox="1">
            <a:spLocks/>
          </p:cNvSpPr>
          <p:nvPr/>
        </p:nvSpPr>
        <p:spPr>
          <a:xfrm>
            <a:off x="3914231" y="2005608"/>
            <a:ext cx="1515656" cy="2673221"/>
          </a:xfrm>
          <a:prstGeom prst="rect">
            <a:avLst/>
          </a:prstGeom>
          <a:noFill/>
          <a:ln>
            <a:solidFill>
              <a:schemeClr val="tx1"/>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buNone/>
            </a:pPr>
            <a:r>
              <a:rPr lang="en-US" sz="1000">
                <a:solidFill>
                  <a:schemeClr val="dk1"/>
                </a:solidFill>
              </a:rPr>
              <a:t>- $17–$20 per hour </a:t>
            </a:r>
          </a:p>
          <a:p>
            <a:pPr marL="114300" indent="0">
              <a:buNone/>
            </a:pPr>
            <a:endParaRPr lang="en-US" sz="1000">
              <a:solidFill>
                <a:schemeClr val="dk1"/>
              </a:solidFill>
            </a:endParaRPr>
          </a:p>
          <a:p>
            <a:pPr marL="114300" indent="0">
              <a:buNone/>
            </a:pPr>
            <a:r>
              <a:rPr lang="en-US" sz="1000">
                <a:solidFill>
                  <a:schemeClr val="dk1"/>
                </a:solidFill>
              </a:rPr>
              <a:t>- Performance-based incentives during high-demand periods</a:t>
            </a:r>
          </a:p>
          <a:p>
            <a:pPr marL="114300" indent="0">
              <a:buNone/>
            </a:pPr>
            <a:endParaRPr lang="en-US" sz="1000"/>
          </a:p>
          <a:p>
            <a:pPr marL="114300" indent="0">
              <a:buNone/>
            </a:pPr>
            <a:r>
              <a:rPr lang="en-US" sz="1000">
                <a:solidFill>
                  <a:schemeClr val="dk1"/>
                </a:solidFill>
              </a:rPr>
              <a:t>- Free Membership </a:t>
            </a:r>
          </a:p>
          <a:p>
            <a:pPr marL="114300" indent="0">
              <a:buNone/>
            </a:pPr>
            <a:endParaRPr lang="en-US" sz="1000">
              <a:solidFill>
                <a:schemeClr val="dk1"/>
              </a:solidFill>
            </a:endParaRPr>
          </a:p>
          <a:p>
            <a:pPr marL="114300" indent="0">
              <a:buNone/>
            </a:pPr>
            <a:r>
              <a:rPr lang="en-US" sz="1000">
                <a:solidFill>
                  <a:schemeClr val="dk1"/>
                </a:solidFill>
              </a:rPr>
              <a:t>- Flexible scheduling </a:t>
            </a:r>
          </a:p>
          <a:p>
            <a:pPr marL="114300" indent="0">
              <a:buNone/>
            </a:pPr>
            <a:endParaRPr lang="en-US" sz="1000">
              <a:solidFill>
                <a:schemeClr val="dk1"/>
              </a:solidFill>
            </a:endParaRPr>
          </a:p>
          <a:p>
            <a:pPr marL="114300" indent="0">
              <a:buNone/>
            </a:pPr>
            <a:r>
              <a:rPr lang="en-US" sz="1000">
                <a:solidFill>
                  <a:schemeClr val="dk1"/>
                </a:solidFill>
              </a:rPr>
              <a:t>- Opportunity for leadership promotion (Lead Attendant)</a:t>
            </a:r>
            <a:endParaRPr lang="en-US" sz="1000"/>
          </a:p>
        </p:txBody>
      </p:sp>
      <p:sp>
        <p:nvSpPr>
          <p:cNvPr id="24" name="Google Shape;546;p65">
            <a:extLst>
              <a:ext uri="{FF2B5EF4-FFF2-40B4-BE49-F238E27FC236}">
                <a16:creationId xmlns:a16="http://schemas.microsoft.com/office/drawing/2014/main" id="{A7C7D8E6-8DF5-4254-8FDB-53B818ED896B}"/>
              </a:ext>
            </a:extLst>
          </p:cNvPr>
          <p:cNvSpPr txBox="1">
            <a:spLocks/>
          </p:cNvSpPr>
          <p:nvPr/>
        </p:nvSpPr>
        <p:spPr>
          <a:xfrm>
            <a:off x="5511712" y="1502267"/>
            <a:ext cx="1511550" cy="423925"/>
          </a:xfrm>
          <a:prstGeom prst="rect">
            <a:avLst/>
          </a:prstGeom>
          <a:solidFill>
            <a:srgbClr val="D3EE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lgn="ctr">
              <a:buNone/>
            </a:pPr>
            <a:r>
              <a:rPr lang="en-US" sz="1100">
                <a:solidFill>
                  <a:schemeClr val="dk1"/>
                </a:solidFill>
                <a:latin typeface="Vidaloka"/>
              </a:rPr>
              <a:t>Advertising Plan</a:t>
            </a:r>
          </a:p>
        </p:txBody>
      </p:sp>
      <p:sp>
        <p:nvSpPr>
          <p:cNvPr id="8" name="Google Shape;546;p65">
            <a:extLst>
              <a:ext uri="{FF2B5EF4-FFF2-40B4-BE49-F238E27FC236}">
                <a16:creationId xmlns:a16="http://schemas.microsoft.com/office/drawing/2014/main" id="{CEBAC0FF-53AD-A3B7-A4AA-55D635AC72FA}"/>
              </a:ext>
            </a:extLst>
          </p:cNvPr>
          <p:cNvSpPr txBox="1">
            <a:spLocks/>
          </p:cNvSpPr>
          <p:nvPr/>
        </p:nvSpPr>
        <p:spPr>
          <a:xfrm>
            <a:off x="5511712" y="2005607"/>
            <a:ext cx="1511550" cy="2673221"/>
          </a:xfrm>
          <a:prstGeom prst="rect">
            <a:avLst/>
          </a:prstGeom>
          <a:noFill/>
          <a:ln>
            <a:solidFill>
              <a:schemeClr val="tx1"/>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0" indent="0">
              <a:buNone/>
            </a:pPr>
            <a:r>
              <a:rPr lang="en-US" sz="1000">
                <a:solidFill>
                  <a:schemeClr val="dk1"/>
                </a:solidFill>
              </a:rPr>
              <a:t>- Rutgers Handshake (or equivalent career platforms for different universities)</a:t>
            </a:r>
          </a:p>
          <a:p>
            <a:pPr marL="0" indent="0">
              <a:buNone/>
            </a:pPr>
            <a:endParaRPr lang="en-US" sz="1000">
              <a:solidFill>
                <a:schemeClr val="dk1"/>
              </a:solidFill>
            </a:endParaRPr>
          </a:p>
          <a:p>
            <a:pPr marL="0" indent="0">
              <a:buNone/>
            </a:pPr>
            <a:r>
              <a:rPr lang="en-US" sz="1000">
                <a:solidFill>
                  <a:schemeClr val="dk1"/>
                </a:solidFill>
              </a:rPr>
              <a:t>- </a:t>
            </a:r>
            <a:r>
              <a:rPr lang="en-US" sz="1000" err="1">
                <a:solidFill>
                  <a:schemeClr val="dk1"/>
                </a:solidFill>
              </a:rPr>
              <a:t>Indeed.com</a:t>
            </a:r>
            <a:endParaRPr lang="en-US" sz="1000">
              <a:solidFill>
                <a:schemeClr val="dk1"/>
              </a:solidFill>
            </a:endParaRPr>
          </a:p>
          <a:p>
            <a:pPr marL="0" indent="0">
              <a:buNone/>
            </a:pPr>
            <a:endParaRPr lang="en-US" sz="1000">
              <a:solidFill>
                <a:schemeClr val="dk1"/>
              </a:solidFill>
            </a:endParaRPr>
          </a:p>
          <a:p>
            <a:pPr marL="0" indent="0">
              <a:buNone/>
            </a:pPr>
            <a:r>
              <a:rPr lang="en-US" sz="1000">
                <a:solidFill>
                  <a:schemeClr val="dk1"/>
                </a:solidFill>
              </a:rPr>
              <a:t>- Flyers in Student Centers &amp; Libraries</a:t>
            </a:r>
          </a:p>
          <a:p>
            <a:pPr marL="0" indent="0">
              <a:buNone/>
            </a:pPr>
            <a:endParaRPr lang="en-US" sz="1000">
              <a:solidFill>
                <a:schemeClr val="dk1"/>
              </a:solidFill>
            </a:endParaRPr>
          </a:p>
          <a:p>
            <a:pPr marL="0" indent="0">
              <a:buNone/>
            </a:pPr>
            <a:r>
              <a:rPr lang="en-US" sz="1000">
                <a:solidFill>
                  <a:schemeClr val="dk1"/>
                </a:solidFill>
              </a:rPr>
              <a:t>- Instagram &amp; campus student group pages</a:t>
            </a:r>
          </a:p>
        </p:txBody>
      </p:sp>
      <p:sp>
        <p:nvSpPr>
          <p:cNvPr id="10" name="Google Shape;546;p65">
            <a:extLst>
              <a:ext uri="{FF2B5EF4-FFF2-40B4-BE49-F238E27FC236}">
                <a16:creationId xmlns:a16="http://schemas.microsoft.com/office/drawing/2014/main" id="{B09D74F6-EE27-5422-4D2A-AB0A927CEC15}"/>
              </a:ext>
            </a:extLst>
          </p:cNvPr>
          <p:cNvSpPr txBox="1">
            <a:spLocks/>
          </p:cNvSpPr>
          <p:nvPr/>
        </p:nvSpPr>
        <p:spPr>
          <a:xfrm>
            <a:off x="7103626" y="1489159"/>
            <a:ext cx="1700036" cy="450140"/>
          </a:xfrm>
          <a:prstGeom prst="rect">
            <a:avLst/>
          </a:prstGeom>
          <a:solidFill>
            <a:srgbClr val="D3EE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lgn="ctr">
              <a:buNone/>
            </a:pPr>
            <a:r>
              <a:rPr lang="en-US" sz="1100">
                <a:solidFill>
                  <a:schemeClr val="dk1"/>
                </a:solidFill>
                <a:latin typeface="Vidaloka"/>
              </a:rPr>
              <a:t>Criteria for Selection</a:t>
            </a:r>
          </a:p>
        </p:txBody>
      </p:sp>
      <p:sp>
        <p:nvSpPr>
          <p:cNvPr id="12" name="Google Shape;546;p65">
            <a:extLst>
              <a:ext uri="{FF2B5EF4-FFF2-40B4-BE49-F238E27FC236}">
                <a16:creationId xmlns:a16="http://schemas.microsoft.com/office/drawing/2014/main" id="{91D4629C-0300-7A44-5BA1-3A1CE71E1E96}"/>
              </a:ext>
            </a:extLst>
          </p:cNvPr>
          <p:cNvSpPr txBox="1">
            <a:spLocks/>
          </p:cNvSpPr>
          <p:nvPr/>
        </p:nvSpPr>
        <p:spPr>
          <a:xfrm>
            <a:off x="7103627" y="2005607"/>
            <a:ext cx="1700036" cy="2673220"/>
          </a:xfrm>
          <a:prstGeom prst="rect">
            <a:avLst/>
          </a:prstGeom>
          <a:noFill/>
          <a:ln>
            <a:solidFill>
              <a:schemeClr val="tx1"/>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0" indent="0">
              <a:buNone/>
            </a:pPr>
            <a:r>
              <a:rPr lang="en-US" sz="1000">
                <a:solidFill>
                  <a:schemeClr val="dk1"/>
                </a:solidFill>
              </a:rPr>
              <a:t>- Prior experience</a:t>
            </a:r>
          </a:p>
          <a:p>
            <a:pPr marL="0" indent="0">
              <a:buNone/>
            </a:pPr>
            <a:endParaRPr lang="en-US" sz="1000">
              <a:solidFill>
                <a:schemeClr val="dk1"/>
              </a:solidFill>
            </a:endParaRPr>
          </a:p>
          <a:p>
            <a:pPr marL="0" indent="0">
              <a:buNone/>
            </a:pPr>
            <a:r>
              <a:rPr lang="en-US" sz="1000">
                <a:solidFill>
                  <a:schemeClr val="dk1"/>
                </a:solidFill>
              </a:rPr>
              <a:t>- Communication Skills</a:t>
            </a:r>
          </a:p>
          <a:p>
            <a:pPr marL="0" indent="0">
              <a:buNone/>
            </a:pPr>
            <a:endParaRPr lang="en-US" sz="1000">
              <a:solidFill>
                <a:schemeClr val="dk1"/>
              </a:solidFill>
            </a:endParaRPr>
          </a:p>
          <a:p>
            <a:pPr marL="0" indent="0">
              <a:buNone/>
            </a:pPr>
            <a:r>
              <a:rPr lang="en-US" sz="1000">
                <a:solidFill>
                  <a:schemeClr val="dk1"/>
                </a:solidFill>
              </a:rPr>
              <a:t>- Availability during Peak Hours (10am  -8pm)</a:t>
            </a:r>
          </a:p>
          <a:p>
            <a:pPr marL="0" indent="0">
              <a:buNone/>
            </a:pPr>
            <a:endParaRPr lang="en-US" sz="1000">
              <a:solidFill>
                <a:schemeClr val="dk1"/>
              </a:solidFill>
            </a:endParaRPr>
          </a:p>
          <a:p>
            <a:pPr marL="0" indent="0">
              <a:buNone/>
            </a:pPr>
            <a:r>
              <a:rPr lang="en-US" sz="1000">
                <a:solidFill>
                  <a:schemeClr val="dk1"/>
                </a:solidFill>
              </a:rPr>
              <a:t>- Positive References</a:t>
            </a:r>
          </a:p>
        </p:txBody>
      </p:sp>
    </p:spTree>
    <p:extLst>
      <p:ext uri="{BB962C8B-B14F-4D97-AF65-F5344CB8AC3E}">
        <p14:creationId xmlns:p14="http://schemas.microsoft.com/office/powerpoint/2010/main" val="1599441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900" decel="100000" fill="hold"/>
                                        <p:tgtEl>
                                          <p:spTgt spid="3"/>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3"/>
                                        </p:tgtEl>
                                        <p:attrNameLst>
                                          <p:attrName>ppt_y</p:attrName>
                                        </p:attrNameLst>
                                      </p:cBhvr>
                                      <p:tavLst>
                                        <p:tav tm="0">
                                          <p:val>
                                            <p:strVal val="#ppt_y-.03"/>
                                          </p:val>
                                        </p:tav>
                                        <p:tav tm="100000">
                                          <p:val>
                                            <p:strVal val="#ppt_y"/>
                                          </p:val>
                                        </p:tav>
                                      </p:tavLst>
                                    </p:anim>
                                  </p:childTnLst>
                                </p:cTn>
                              </p:par>
                              <p:par>
                                <p:cTn id="11" presetID="37"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900" decel="100000" fill="hold"/>
                                        <p:tgtEl>
                                          <p:spTgt spid="4"/>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4"/>
                                        </p:tgtEl>
                                        <p:attrNameLst>
                                          <p:attrName>ppt_y</p:attrName>
                                        </p:attrNameLst>
                                      </p:cBhvr>
                                      <p:tavLst>
                                        <p:tav tm="0">
                                          <p:val>
                                            <p:strVal val="#ppt_y-.03"/>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7"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1000"/>
                                        <p:tgtEl>
                                          <p:spTgt spid="14"/>
                                        </p:tgtEl>
                                      </p:cBhvr>
                                    </p:animEffect>
                                    <p:anim calcmode="lin" valueType="num">
                                      <p:cBhvr>
                                        <p:cTn id="22" dur="1000" fill="hold"/>
                                        <p:tgtEl>
                                          <p:spTgt spid="14"/>
                                        </p:tgtEl>
                                        <p:attrNameLst>
                                          <p:attrName>ppt_x</p:attrName>
                                        </p:attrNameLst>
                                      </p:cBhvr>
                                      <p:tavLst>
                                        <p:tav tm="0">
                                          <p:val>
                                            <p:strVal val="#ppt_x"/>
                                          </p:val>
                                        </p:tav>
                                        <p:tav tm="100000">
                                          <p:val>
                                            <p:strVal val="#ppt_x"/>
                                          </p:val>
                                        </p:tav>
                                      </p:tavLst>
                                    </p:anim>
                                    <p:anim calcmode="lin" valueType="num">
                                      <p:cBhvr>
                                        <p:cTn id="23" dur="900" decel="100000" fill="hold"/>
                                        <p:tgtEl>
                                          <p:spTgt spid="14"/>
                                        </p:tgtEl>
                                        <p:attrNameLst>
                                          <p:attrName>ppt_y</p:attrName>
                                        </p:attrNameLst>
                                      </p:cBhvr>
                                      <p:tavLst>
                                        <p:tav tm="0">
                                          <p:val>
                                            <p:strVal val="#ppt_y+1"/>
                                          </p:val>
                                        </p:tav>
                                        <p:tav tm="100000">
                                          <p:val>
                                            <p:strVal val="#ppt_y-.03"/>
                                          </p:val>
                                        </p:tav>
                                      </p:tavLst>
                                    </p:anim>
                                    <p:anim calcmode="lin" valueType="num">
                                      <p:cBhvr>
                                        <p:cTn id="24" dur="100" accel="100000" fill="hold">
                                          <p:stCondLst>
                                            <p:cond delay="900"/>
                                          </p:stCondLst>
                                        </p:cTn>
                                        <p:tgtEl>
                                          <p:spTgt spid="14"/>
                                        </p:tgtEl>
                                        <p:attrNameLst>
                                          <p:attrName>ppt_y</p:attrName>
                                        </p:attrNameLst>
                                      </p:cBhvr>
                                      <p:tavLst>
                                        <p:tav tm="0">
                                          <p:val>
                                            <p:strVal val="#ppt_y-.03"/>
                                          </p:val>
                                        </p:tav>
                                        <p:tav tm="100000">
                                          <p:val>
                                            <p:strVal val="#ppt_y"/>
                                          </p:val>
                                        </p:tav>
                                      </p:tavLst>
                                    </p:anim>
                                  </p:childTnLst>
                                </p:cTn>
                              </p:par>
                              <p:par>
                                <p:cTn id="25" presetID="37"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1000"/>
                                        <p:tgtEl>
                                          <p:spTgt spid="16"/>
                                        </p:tgtEl>
                                      </p:cBhvr>
                                    </p:animEffect>
                                    <p:anim calcmode="lin" valueType="num">
                                      <p:cBhvr>
                                        <p:cTn id="28" dur="1000" fill="hold"/>
                                        <p:tgtEl>
                                          <p:spTgt spid="16"/>
                                        </p:tgtEl>
                                        <p:attrNameLst>
                                          <p:attrName>ppt_x</p:attrName>
                                        </p:attrNameLst>
                                      </p:cBhvr>
                                      <p:tavLst>
                                        <p:tav tm="0">
                                          <p:val>
                                            <p:strVal val="#ppt_x"/>
                                          </p:val>
                                        </p:tav>
                                        <p:tav tm="100000">
                                          <p:val>
                                            <p:strVal val="#ppt_x"/>
                                          </p:val>
                                        </p:tav>
                                      </p:tavLst>
                                    </p:anim>
                                    <p:anim calcmode="lin" valueType="num">
                                      <p:cBhvr>
                                        <p:cTn id="29" dur="900" decel="100000" fill="hold"/>
                                        <p:tgtEl>
                                          <p:spTgt spid="16"/>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16"/>
                                        </p:tgtEl>
                                        <p:attrNameLst>
                                          <p:attrName>ppt_y</p:attrName>
                                        </p:attrNameLst>
                                      </p:cBhvr>
                                      <p:tavLst>
                                        <p:tav tm="0">
                                          <p:val>
                                            <p:strVal val="#ppt_y-.03"/>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7"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1000"/>
                                        <p:tgtEl>
                                          <p:spTgt spid="20"/>
                                        </p:tgtEl>
                                      </p:cBhvr>
                                    </p:animEffect>
                                    <p:anim calcmode="lin" valueType="num">
                                      <p:cBhvr>
                                        <p:cTn id="36" dur="1000" fill="hold"/>
                                        <p:tgtEl>
                                          <p:spTgt spid="20"/>
                                        </p:tgtEl>
                                        <p:attrNameLst>
                                          <p:attrName>ppt_x</p:attrName>
                                        </p:attrNameLst>
                                      </p:cBhvr>
                                      <p:tavLst>
                                        <p:tav tm="0">
                                          <p:val>
                                            <p:strVal val="#ppt_x"/>
                                          </p:val>
                                        </p:tav>
                                        <p:tav tm="100000">
                                          <p:val>
                                            <p:strVal val="#ppt_x"/>
                                          </p:val>
                                        </p:tav>
                                      </p:tavLst>
                                    </p:anim>
                                    <p:anim calcmode="lin" valueType="num">
                                      <p:cBhvr>
                                        <p:cTn id="37" dur="900" decel="100000" fill="hold"/>
                                        <p:tgtEl>
                                          <p:spTgt spid="20"/>
                                        </p:tgtEl>
                                        <p:attrNameLst>
                                          <p:attrName>ppt_y</p:attrName>
                                        </p:attrNameLst>
                                      </p:cBhvr>
                                      <p:tavLst>
                                        <p:tav tm="0">
                                          <p:val>
                                            <p:strVal val="#ppt_y+1"/>
                                          </p:val>
                                        </p:tav>
                                        <p:tav tm="100000">
                                          <p:val>
                                            <p:strVal val="#ppt_y-.03"/>
                                          </p:val>
                                        </p:tav>
                                      </p:tavLst>
                                    </p:anim>
                                    <p:anim calcmode="lin" valueType="num">
                                      <p:cBhvr>
                                        <p:cTn id="38" dur="100" accel="100000" fill="hold">
                                          <p:stCondLst>
                                            <p:cond delay="900"/>
                                          </p:stCondLst>
                                        </p:cTn>
                                        <p:tgtEl>
                                          <p:spTgt spid="20"/>
                                        </p:tgtEl>
                                        <p:attrNameLst>
                                          <p:attrName>ppt_y</p:attrName>
                                        </p:attrNameLst>
                                      </p:cBhvr>
                                      <p:tavLst>
                                        <p:tav tm="0">
                                          <p:val>
                                            <p:strVal val="#ppt_y-.03"/>
                                          </p:val>
                                        </p:tav>
                                        <p:tav tm="100000">
                                          <p:val>
                                            <p:strVal val="#ppt_y"/>
                                          </p:val>
                                        </p:tav>
                                      </p:tavLst>
                                    </p:anim>
                                  </p:childTnLst>
                                </p:cTn>
                              </p:par>
                              <p:par>
                                <p:cTn id="39" presetID="37"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1000"/>
                                        <p:tgtEl>
                                          <p:spTgt spid="22"/>
                                        </p:tgtEl>
                                      </p:cBhvr>
                                    </p:animEffect>
                                    <p:anim calcmode="lin" valueType="num">
                                      <p:cBhvr>
                                        <p:cTn id="42" dur="1000" fill="hold"/>
                                        <p:tgtEl>
                                          <p:spTgt spid="22"/>
                                        </p:tgtEl>
                                        <p:attrNameLst>
                                          <p:attrName>ppt_x</p:attrName>
                                        </p:attrNameLst>
                                      </p:cBhvr>
                                      <p:tavLst>
                                        <p:tav tm="0">
                                          <p:val>
                                            <p:strVal val="#ppt_x"/>
                                          </p:val>
                                        </p:tav>
                                        <p:tav tm="100000">
                                          <p:val>
                                            <p:strVal val="#ppt_x"/>
                                          </p:val>
                                        </p:tav>
                                      </p:tavLst>
                                    </p:anim>
                                    <p:anim calcmode="lin" valueType="num">
                                      <p:cBhvr>
                                        <p:cTn id="43" dur="900" decel="100000" fill="hold"/>
                                        <p:tgtEl>
                                          <p:spTgt spid="22"/>
                                        </p:tgtEl>
                                        <p:attrNameLst>
                                          <p:attrName>ppt_y</p:attrName>
                                        </p:attrNameLst>
                                      </p:cBhvr>
                                      <p:tavLst>
                                        <p:tav tm="0">
                                          <p:val>
                                            <p:strVal val="#ppt_y+1"/>
                                          </p:val>
                                        </p:tav>
                                        <p:tav tm="100000">
                                          <p:val>
                                            <p:strVal val="#ppt_y-.03"/>
                                          </p:val>
                                        </p:tav>
                                      </p:tavLst>
                                    </p:anim>
                                    <p:anim calcmode="lin" valueType="num">
                                      <p:cBhvr>
                                        <p:cTn id="44" dur="100" accel="100000" fill="hold">
                                          <p:stCondLst>
                                            <p:cond delay="900"/>
                                          </p:stCondLst>
                                        </p:cTn>
                                        <p:tgtEl>
                                          <p:spTgt spid="22"/>
                                        </p:tgtEl>
                                        <p:attrNameLst>
                                          <p:attrName>ppt_y</p:attrName>
                                        </p:attrNameLst>
                                      </p:cBhvr>
                                      <p:tavLst>
                                        <p:tav tm="0">
                                          <p:val>
                                            <p:strVal val="#ppt_y-.03"/>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37" presetClass="entr" presetSubtype="0" fill="hold" grpId="0" nodeType="click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1000"/>
                                        <p:tgtEl>
                                          <p:spTgt spid="24"/>
                                        </p:tgtEl>
                                      </p:cBhvr>
                                    </p:animEffect>
                                    <p:anim calcmode="lin" valueType="num">
                                      <p:cBhvr>
                                        <p:cTn id="50" dur="1000" fill="hold"/>
                                        <p:tgtEl>
                                          <p:spTgt spid="24"/>
                                        </p:tgtEl>
                                        <p:attrNameLst>
                                          <p:attrName>ppt_x</p:attrName>
                                        </p:attrNameLst>
                                      </p:cBhvr>
                                      <p:tavLst>
                                        <p:tav tm="0">
                                          <p:val>
                                            <p:strVal val="#ppt_x"/>
                                          </p:val>
                                        </p:tav>
                                        <p:tav tm="100000">
                                          <p:val>
                                            <p:strVal val="#ppt_x"/>
                                          </p:val>
                                        </p:tav>
                                      </p:tavLst>
                                    </p:anim>
                                    <p:anim calcmode="lin" valueType="num">
                                      <p:cBhvr>
                                        <p:cTn id="51" dur="900" decel="100000" fill="hold"/>
                                        <p:tgtEl>
                                          <p:spTgt spid="24"/>
                                        </p:tgtEl>
                                        <p:attrNameLst>
                                          <p:attrName>ppt_y</p:attrName>
                                        </p:attrNameLst>
                                      </p:cBhvr>
                                      <p:tavLst>
                                        <p:tav tm="0">
                                          <p:val>
                                            <p:strVal val="#ppt_y+1"/>
                                          </p:val>
                                        </p:tav>
                                        <p:tav tm="100000">
                                          <p:val>
                                            <p:strVal val="#ppt_y-.03"/>
                                          </p:val>
                                        </p:tav>
                                      </p:tavLst>
                                    </p:anim>
                                    <p:anim calcmode="lin" valueType="num">
                                      <p:cBhvr>
                                        <p:cTn id="52" dur="100" accel="100000" fill="hold">
                                          <p:stCondLst>
                                            <p:cond delay="900"/>
                                          </p:stCondLst>
                                        </p:cTn>
                                        <p:tgtEl>
                                          <p:spTgt spid="24"/>
                                        </p:tgtEl>
                                        <p:attrNameLst>
                                          <p:attrName>ppt_y</p:attrName>
                                        </p:attrNameLst>
                                      </p:cBhvr>
                                      <p:tavLst>
                                        <p:tav tm="0">
                                          <p:val>
                                            <p:strVal val="#ppt_y-.03"/>
                                          </p:val>
                                        </p:tav>
                                        <p:tav tm="100000">
                                          <p:val>
                                            <p:strVal val="#ppt_y"/>
                                          </p:val>
                                        </p:tav>
                                      </p:tavLst>
                                    </p:anim>
                                  </p:childTnLst>
                                </p:cTn>
                              </p:par>
                              <p:par>
                                <p:cTn id="53" presetID="37" presetClass="entr" presetSubtype="0" fill="hold" grpId="0" nodeType="with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fade">
                                      <p:cBhvr>
                                        <p:cTn id="55" dur="1000"/>
                                        <p:tgtEl>
                                          <p:spTgt spid="8"/>
                                        </p:tgtEl>
                                      </p:cBhvr>
                                    </p:animEffect>
                                    <p:anim calcmode="lin" valueType="num">
                                      <p:cBhvr>
                                        <p:cTn id="56" dur="1000" fill="hold"/>
                                        <p:tgtEl>
                                          <p:spTgt spid="8"/>
                                        </p:tgtEl>
                                        <p:attrNameLst>
                                          <p:attrName>ppt_x</p:attrName>
                                        </p:attrNameLst>
                                      </p:cBhvr>
                                      <p:tavLst>
                                        <p:tav tm="0">
                                          <p:val>
                                            <p:strVal val="#ppt_x"/>
                                          </p:val>
                                        </p:tav>
                                        <p:tav tm="100000">
                                          <p:val>
                                            <p:strVal val="#ppt_x"/>
                                          </p:val>
                                        </p:tav>
                                      </p:tavLst>
                                    </p:anim>
                                    <p:anim calcmode="lin" valueType="num">
                                      <p:cBhvr>
                                        <p:cTn id="57" dur="900" decel="100000" fill="hold"/>
                                        <p:tgtEl>
                                          <p:spTgt spid="8"/>
                                        </p:tgtEl>
                                        <p:attrNameLst>
                                          <p:attrName>ppt_y</p:attrName>
                                        </p:attrNameLst>
                                      </p:cBhvr>
                                      <p:tavLst>
                                        <p:tav tm="0">
                                          <p:val>
                                            <p:strVal val="#ppt_y+1"/>
                                          </p:val>
                                        </p:tav>
                                        <p:tav tm="100000">
                                          <p:val>
                                            <p:strVal val="#ppt_y-.03"/>
                                          </p:val>
                                        </p:tav>
                                      </p:tavLst>
                                    </p:anim>
                                    <p:anim calcmode="lin" valueType="num">
                                      <p:cBhvr>
                                        <p:cTn id="58" dur="100" accel="100000" fill="hold">
                                          <p:stCondLst>
                                            <p:cond delay="900"/>
                                          </p:stCondLst>
                                        </p:cTn>
                                        <p:tgtEl>
                                          <p:spTgt spid="8"/>
                                        </p:tgtEl>
                                        <p:attrNameLst>
                                          <p:attrName>ppt_y</p:attrName>
                                        </p:attrNameLst>
                                      </p:cBhvr>
                                      <p:tavLst>
                                        <p:tav tm="0">
                                          <p:val>
                                            <p:strVal val="#ppt_y-.03"/>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37" presetClass="entr" presetSubtype="0" fill="hold" grpId="0" nodeType="clickEffect">
                                  <p:stCondLst>
                                    <p:cond delay="0"/>
                                  </p:stCondLst>
                                  <p:childTnLst>
                                    <p:set>
                                      <p:cBhvr>
                                        <p:cTn id="62" dur="1" fill="hold">
                                          <p:stCondLst>
                                            <p:cond delay="0"/>
                                          </p:stCondLst>
                                        </p:cTn>
                                        <p:tgtEl>
                                          <p:spTgt spid="10"/>
                                        </p:tgtEl>
                                        <p:attrNameLst>
                                          <p:attrName>style.visibility</p:attrName>
                                        </p:attrNameLst>
                                      </p:cBhvr>
                                      <p:to>
                                        <p:strVal val="visible"/>
                                      </p:to>
                                    </p:set>
                                    <p:animEffect transition="in" filter="fade">
                                      <p:cBhvr>
                                        <p:cTn id="63" dur="1000"/>
                                        <p:tgtEl>
                                          <p:spTgt spid="10"/>
                                        </p:tgtEl>
                                      </p:cBhvr>
                                    </p:animEffect>
                                    <p:anim calcmode="lin" valueType="num">
                                      <p:cBhvr>
                                        <p:cTn id="64" dur="1000" fill="hold"/>
                                        <p:tgtEl>
                                          <p:spTgt spid="10"/>
                                        </p:tgtEl>
                                        <p:attrNameLst>
                                          <p:attrName>ppt_x</p:attrName>
                                        </p:attrNameLst>
                                      </p:cBhvr>
                                      <p:tavLst>
                                        <p:tav tm="0">
                                          <p:val>
                                            <p:strVal val="#ppt_x"/>
                                          </p:val>
                                        </p:tav>
                                        <p:tav tm="100000">
                                          <p:val>
                                            <p:strVal val="#ppt_x"/>
                                          </p:val>
                                        </p:tav>
                                      </p:tavLst>
                                    </p:anim>
                                    <p:anim calcmode="lin" valueType="num">
                                      <p:cBhvr>
                                        <p:cTn id="65" dur="900" decel="100000" fill="hold"/>
                                        <p:tgtEl>
                                          <p:spTgt spid="10"/>
                                        </p:tgtEl>
                                        <p:attrNameLst>
                                          <p:attrName>ppt_y</p:attrName>
                                        </p:attrNameLst>
                                      </p:cBhvr>
                                      <p:tavLst>
                                        <p:tav tm="0">
                                          <p:val>
                                            <p:strVal val="#ppt_y+1"/>
                                          </p:val>
                                        </p:tav>
                                        <p:tav tm="100000">
                                          <p:val>
                                            <p:strVal val="#ppt_y-.03"/>
                                          </p:val>
                                        </p:tav>
                                      </p:tavLst>
                                    </p:anim>
                                    <p:anim calcmode="lin" valueType="num">
                                      <p:cBhvr>
                                        <p:cTn id="66" dur="100" accel="100000" fill="hold">
                                          <p:stCondLst>
                                            <p:cond delay="900"/>
                                          </p:stCondLst>
                                        </p:cTn>
                                        <p:tgtEl>
                                          <p:spTgt spid="10"/>
                                        </p:tgtEl>
                                        <p:attrNameLst>
                                          <p:attrName>ppt_y</p:attrName>
                                        </p:attrNameLst>
                                      </p:cBhvr>
                                      <p:tavLst>
                                        <p:tav tm="0">
                                          <p:val>
                                            <p:strVal val="#ppt_y-.03"/>
                                          </p:val>
                                        </p:tav>
                                        <p:tav tm="100000">
                                          <p:val>
                                            <p:strVal val="#ppt_y"/>
                                          </p:val>
                                        </p:tav>
                                      </p:tavLst>
                                    </p:anim>
                                  </p:childTnLst>
                                </p:cTn>
                              </p:par>
                              <p:par>
                                <p:cTn id="67" presetID="37" presetClass="entr" presetSubtype="0" fill="hold" grpId="0" nodeType="withEffect">
                                  <p:stCondLst>
                                    <p:cond delay="0"/>
                                  </p:stCondLst>
                                  <p:childTnLst>
                                    <p:set>
                                      <p:cBhvr>
                                        <p:cTn id="68" dur="1" fill="hold">
                                          <p:stCondLst>
                                            <p:cond delay="0"/>
                                          </p:stCondLst>
                                        </p:cTn>
                                        <p:tgtEl>
                                          <p:spTgt spid="12"/>
                                        </p:tgtEl>
                                        <p:attrNameLst>
                                          <p:attrName>style.visibility</p:attrName>
                                        </p:attrNameLst>
                                      </p:cBhvr>
                                      <p:to>
                                        <p:strVal val="visible"/>
                                      </p:to>
                                    </p:set>
                                    <p:animEffect transition="in" filter="fade">
                                      <p:cBhvr>
                                        <p:cTn id="69" dur="1000"/>
                                        <p:tgtEl>
                                          <p:spTgt spid="12"/>
                                        </p:tgtEl>
                                      </p:cBhvr>
                                    </p:animEffect>
                                    <p:anim calcmode="lin" valueType="num">
                                      <p:cBhvr>
                                        <p:cTn id="70" dur="1000" fill="hold"/>
                                        <p:tgtEl>
                                          <p:spTgt spid="12"/>
                                        </p:tgtEl>
                                        <p:attrNameLst>
                                          <p:attrName>ppt_x</p:attrName>
                                        </p:attrNameLst>
                                      </p:cBhvr>
                                      <p:tavLst>
                                        <p:tav tm="0">
                                          <p:val>
                                            <p:strVal val="#ppt_x"/>
                                          </p:val>
                                        </p:tav>
                                        <p:tav tm="100000">
                                          <p:val>
                                            <p:strVal val="#ppt_x"/>
                                          </p:val>
                                        </p:tav>
                                      </p:tavLst>
                                    </p:anim>
                                    <p:anim calcmode="lin" valueType="num">
                                      <p:cBhvr>
                                        <p:cTn id="71" dur="900" decel="100000" fill="hold"/>
                                        <p:tgtEl>
                                          <p:spTgt spid="12"/>
                                        </p:tgtEl>
                                        <p:attrNameLst>
                                          <p:attrName>ppt_y</p:attrName>
                                        </p:attrNameLst>
                                      </p:cBhvr>
                                      <p:tavLst>
                                        <p:tav tm="0">
                                          <p:val>
                                            <p:strVal val="#ppt_y+1"/>
                                          </p:val>
                                        </p:tav>
                                        <p:tav tm="100000">
                                          <p:val>
                                            <p:strVal val="#ppt_y-.03"/>
                                          </p:val>
                                        </p:tav>
                                      </p:tavLst>
                                    </p:anim>
                                    <p:anim calcmode="lin" valueType="num">
                                      <p:cBhvr>
                                        <p:cTn id="72" dur="100" accel="100000" fill="hold">
                                          <p:stCondLst>
                                            <p:cond delay="900"/>
                                          </p:stCondLst>
                                        </p:cTn>
                                        <p:tgtEl>
                                          <p:spTgt spid="12"/>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4" grpId="0" animBg="1"/>
      <p:bldP spid="16" grpId="0" animBg="1"/>
      <p:bldP spid="20" grpId="0" animBg="1"/>
      <p:bldP spid="22" grpId="0" animBg="1"/>
      <p:bldP spid="24" grpId="0" animBg="1"/>
      <p:bldP spid="8" grpId="0" animBg="1"/>
      <p:bldP spid="10" grpId="0" animBg="1"/>
      <p:bldP spid="1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72">
          <a:extLst>
            <a:ext uri="{FF2B5EF4-FFF2-40B4-BE49-F238E27FC236}">
              <a16:creationId xmlns:a16="http://schemas.microsoft.com/office/drawing/2014/main" id="{56AE131C-AC63-48DA-A6EF-2E6EB2E4F178}"/>
            </a:ext>
          </a:extLst>
        </p:cNvPr>
        <p:cNvGrpSpPr/>
        <p:nvPr/>
      </p:nvGrpSpPr>
      <p:grpSpPr>
        <a:xfrm>
          <a:off x="0" y="0"/>
          <a:ext cx="0" cy="0"/>
          <a:chOff x="0" y="0"/>
          <a:chExt cx="0" cy="0"/>
        </a:xfrm>
      </p:grpSpPr>
      <p:sp>
        <p:nvSpPr>
          <p:cNvPr id="4" name="Google Shape;546;p65">
            <a:extLst>
              <a:ext uri="{FF2B5EF4-FFF2-40B4-BE49-F238E27FC236}">
                <a16:creationId xmlns:a16="http://schemas.microsoft.com/office/drawing/2014/main" id="{48382EB7-FC06-EE05-4566-7530AB25C345}"/>
              </a:ext>
            </a:extLst>
          </p:cNvPr>
          <p:cNvSpPr txBox="1">
            <a:spLocks/>
          </p:cNvSpPr>
          <p:nvPr/>
        </p:nvSpPr>
        <p:spPr>
          <a:xfrm>
            <a:off x="483085" y="3894772"/>
            <a:ext cx="2193294" cy="244488"/>
          </a:xfrm>
          <a:prstGeom prst="rect">
            <a:avLst/>
          </a:prstGeom>
          <a:solidFill>
            <a:srgbClr val="D3EE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lgn="ctr">
              <a:buFont typeface="Montserrat"/>
              <a:buNone/>
            </a:pPr>
            <a:endParaRPr lang="en-US" sz="1050">
              <a:solidFill>
                <a:schemeClr val="dk1"/>
              </a:solidFill>
            </a:endParaRPr>
          </a:p>
        </p:txBody>
      </p:sp>
      <p:sp>
        <p:nvSpPr>
          <p:cNvPr id="7" name="Google Shape;546;p65">
            <a:extLst>
              <a:ext uri="{FF2B5EF4-FFF2-40B4-BE49-F238E27FC236}">
                <a16:creationId xmlns:a16="http://schemas.microsoft.com/office/drawing/2014/main" id="{65E65153-06BE-BAD1-3EFD-AB205F3BB4BF}"/>
              </a:ext>
            </a:extLst>
          </p:cNvPr>
          <p:cNvSpPr txBox="1">
            <a:spLocks/>
          </p:cNvSpPr>
          <p:nvPr/>
        </p:nvSpPr>
        <p:spPr>
          <a:xfrm>
            <a:off x="482811" y="2891289"/>
            <a:ext cx="2579776" cy="248599"/>
          </a:xfrm>
          <a:prstGeom prst="rect">
            <a:avLst/>
          </a:prstGeom>
          <a:solidFill>
            <a:srgbClr val="D3EE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lgn="ctr">
              <a:buFont typeface="Montserrat"/>
              <a:buNone/>
            </a:pPr>
            <a:endParaRPr lang="en-US" sz="1050">
              <a:solidFill>
                <a:schemeClr val="dk1"/>
              </a:solidFill>
            </a:endParaRPr>
          </a:p>
        </p:txBody>
      </p:sp>
      <p:sp>
        <p:nvSpPr>
          <p:cNvPr id="5" name="Google Shape;546;p65">
            <a:extLst>
              <a:ext uri="{FF2B5EF4-FFF2-40B4-BE49-F238E27FC236}">
                <a16:creationId xmlns:a16="http://schemas.microsoft.com/office/drawing/2014/main" id="{C363C4F6-BAF7-D64D-EE34-E9A58AFB3533}"/>
              </a:ext>
            </a:extLst>
          </p:cNvPr>
          <p:cNvSpPr txBox="1">
            <a:spLocks/>
          </p:cNvSpPr>
          <p:nvPr/>
        </p:nvSpPr>
        <p:spPr>
          <a:xfrm>
            <a:off x="482811" y="2042969"/>
            <a:ext cx="4280880" cy="270923"/>
          </a:xfrm>
          <a:prstGeom prst="rect">
            <a:avLst/>
          </a:prstGeom>
          <a:solidFill>
            <a:srgbClr val="D3EE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lgn="ctr">
              <a:buFont typeface="Montserrat"/>
              <a:buNone/>
            </a:pPr>
            <a:endParaRPr lang="en-US" sz="1050">
              <a:solidFill>
                <a:schemeClr val="dk1"/>
              </a:solidFill>
            </a:endParaRPr>
          </a:p>
        </p:txBody>
      </p:sp>
      <p:sp>
        <p:nvSpPr>
          <p:cNvPr id="3" name="Google Shape;546;p65">
            <a:extLst>
              <a:ext uri="{FF2B5EF4-FFF2-40B4-BE49-F238E27FC236}">
                <a16:creationId xmlns:a16="http://schemas.microsoft.com/office/drawing/2014/main" id="{BF4290A3-EB22-BEA2-478F-361688162897}"/>
              </a:ext>
            </a:extLst>
          </p:cNvPr>
          <p:cNvSpPr txBox="1">
            <a:spLocks/>
          </p:cNvSpPr>
          <p:nvPr/>
        </p:nvSpPr>
        <p:spPr>
          <a:xfrm>
            <a:off x="482216" y="1024389"/>
            <a:ext cx="2923568" cy="270923"/>
          </a:xfrm>
          <a:prstGeom prst="rect">
            <a:avLst/>
          </a:prstGeom>
          <a:solidFill>
            <a:srgbClr val="D3EE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lgn="ctr">
              <a:buFont typeface="Montserrat"/>
              <a:buNone/>
            </a:pPr>
            <a:endParaRPr lang="en-US" sz="1050">
              <a:solidFill>
                <a:schemeClr val="dk1"/>
              </a:solidFill>
            </a:endParaRPr>
          </a:p>
        </p:txBody>
      </p:sp>
      <p:sp>
        <p:nvSpPr>
          <p:cNvPr id="673" name="Google Shape;673;p79">
            <a:extLst>
              <a:ext uri="{FF2B5EF4-FFF2-40B4-BE49-F238E27FC236}">
                <a16:creationId xmlns:a16="http://schemas.microsoft.com/office/drawing/2014/main" id="{ADA14B2B-A971-6EF5-8527-6EF2954E0488}"/>
              </a:ext>
            </a:extLst>
          </p:cNvPr>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algn="ctr"/>
            <a:r>
              <a:rPr lang="en"/>
              <a:t>Employee Motivation Initiatives</a:t>
            </a:r>
            <a:endParaRPr lang="en-US"/>
          </a:p>
        </p:txBody>
      </p:sp>
      <p:sp>
        <p:nvSpPr>
          <p:cNvPr id="674" name="Google Shape;674;p79">
            <a:extLst>
              <a:ext uri="{FF2B5EF4-FFF2-40B4-BE49-F238E27FC236}">
                <a16:creationId xmlns:a16="http://schemas.microsoft.com/office/drawing/2014/main" id="{6842BCFF-DD2E-33B3-2F6C-039B33C86A70}"/>
              </a:ext>
            </a:extLst>
          </p:cNvPr>
          <p:cNvSpPr/>
          <p:nvPr/>
        </p:nvSpPr>
        <p:spPr>
          <a:xfrm>
            <a:off x="546963" y="2079526"/>
            <a:ext cx="7402210" cy="359400"/>
          </a:xfrm>
          <a:prstGeom prst="rect">
            <a:avLst/>
          </a:prstGeom>
          <a:noFill/>
          <a:ln>
            <a:noFill/>
          </a:ln>
        </p:spPr>
        <p:txBody>
          <a:bodyPr spcFirstLastPara="1" wrap="square" lIns="91425" tIns="91425" rIns="91425" bIns="91425" anchor="ctr" anchorCtr="0">
            <a:noAutofit/>
          </a:bodyPr>
          <a:lstStyle/>
          <a:p>
            <a:pPr>
              <a:buChar char="•"/>
            </a:pPr>
            <a:endParaRPr lang="en">
              <a:solidFill>
                <a:schemeClr val="dk1"/>
              </a:solidFill>
              <a:latin typeface="Montserrat"/>
            </a:endParaRPr>
          </a:p>
        </p:txBody>
      </p:sp>
      <p:sp>
        <p:nvSpPr>
          <p:cNvPr id="677" name="Google Shape;677;p79">
            <a:extLst>
              <a:ext uri="{FF2B5EF4-FFF2-40B4-BE49-F238E27FC236}">
                <a16:creationId xmlns:a16="http://schemas.microsoft.com/office/drawing/2014/main" id="{29900A56-91EF-7C1C-D487-3C9F72347DAE}"/>
              </a:ext>
            </a:extLst>
          </p:cNvPr>
          <p:cNvSpPr/>
          <p:nvPr/>
        </p:nvSpPr>
        <p:spPr>
          <a:xfrm>
            <a:off x="422832" y="1328480"/>
            <a:ext cx="8298286" cy="3158459"/>
          </a:xfrm>
          <a:prstGeom prst="rect">
            <a:avLst/>
          </a:prstGeom>
          <a:noFill/>
          <a:ln>
            <a:noFill/>
          </a:ln>
        </p:spPr>
        <p:txBody>
          <a:bodyPr spcFirstLastPara="1" wrap="square" lIns="91425" tIns="91425" rIns="91425" bIns="91425" anchor="ctr" anchorCtr="0">
            <a:noAutofit/>
          </a:bodyPr>
          <a:lstStyle/>
          <a:p>
            <a:r>
              <a:rPr lang="en" b="1">
                <a:solidFill>
                  <a:schemeClr val="dk1"/>
                </a:solidFill>
                <a:latin typeface="Vidaloka"/>
                <a:ea typeface="Calibri"/>
                <a:cs typeface="Calibri"/>
              </a:rPr>
              <a:t>Employee Training and Development</a:t>
            </a:r>
          </a:p>
          <a:p>
            <a:pPr marL="285750" indent="-285750">
              <a:buFont typeface="Arial" panose="020B0604020202020204" pitchFamily="34" charset="0"/>
              <a:buChar char="•"/>
            </a:pPr>
            <a:r>
              <a:rPr lang="en-US" sz="1300">
                <a:solidFill>
                  <a:schemeClr val="dk1"/>
                </a:solidFill>
                <a:latin typeface="Montserrat"/>
                <a:ea typeface="Calibri"/>
                <a:cs typeface="Calibri"/>
              </a:rPr>
              <a:t>T</a:t>
            </a:r>
            <a:r>
              <a:rPr lang="en" sz="1300">
                <a:solidFill>
                  <a:schemeClr val="dk1"/>
                </a:solidFill>
                <a:latin typeface="Montserrat"/>
                <a:ea typeface="Calibri"/>
                <a:cs typeface="Calibri"/>
              </a:rPr>
              <a:t>rain all employees on cleanliness, customer service, safety, and handling conflicts</a:t>
            </a:r>
          </a:p>
          <a:p>
            <a:pPr marL="285750" indent="-285750">
              <a:buFont typeface="Arial" panose="020B0604020202020204" pitchFamily="34" charset="0"/>
              <a:buChar char="•"/>
            </a:pPr>
            <a:r>
              <a:rPr lang="en-US" sz="1300">
                <a:solidFill>
                  <a:schemeClr val="dk1"/>
                </a:solidFill>
                <a:latin typeface="Montserrat"/>
                <a:ea typeface="Calibri"/>
                <a:cs typeface="Calibri"/>
              </a:rPr>
              <a:t>P</a:t>
            </a:r>
            <a:r>
              <a:rPr lang="en" sz="1300">
                <a:solidFill>
                  <a:schemeClr val="dk1"/>
                </a:solidFill>
                <a:latin typeface="Montserrat"/>
                <a:ea typeface="Calibri"/>
                <a:cs typeface="Calibri"/>
              </a:rPr>
              <a:t>rovides ongoing training to help employees improve their skills over time</a:t>
            </a:r>
          </a:p>
          <a:p>
            <a:pPr marL="285750" indent="-285750">
              <a:buFont typeface="Arial" panose="020B0604020202020204" pitchFamily="34" charset="0"/>
              <a:buChar char="•"/>
            </a:pPr>
            <a:r>
              <a:rPr lang="en" sz="1300">
                <a:solidFill>
                  <a:schemeClr val="dk1"/>
                </a:solidFill>
                <a:latin typeface="Montserrat"/>
                <a:ea typeface="Calibri"/>
                <a:cs typeface="Calibri"/>
              </a:rPr>
              <a:t>Offer leadership training for higher performers to prepare them for higher roles</a:t>
            </a:r>
          </a:p>
          <a:p>
            <a:endParaRPr lang="en" sz="1300">
              <a:solidFill>
                <a:schemeClr val="dk1"/>
              </a:solidFill>
              <a:latin typeface="Montserrat"/>
              <a:ea typeface="Calibri"/>
              <a:cs typeface="Calibri"/>
            </a:endParaRPr>
          </a:p>
          <a:p>
            <a:r>
              <a:rPr lang="en" b="1">
                <a:solidFill>
                  <a:schemeClr val="dk1"/>
                </a:solidFill>
                <a:latin typeface="Vidaloka"/>
                <a:ea typeface="Calibri"/>
                <a:cs typeface="Calibri"/>
              </a:rPr>
              <a:t>Competitive Compensation and Fair Benefits Program</a:t>
            </a:r>
          </a:p>
          <a:p>
            <a:pPr marL="285750" indent="-285750">
              <a:buFont typeface="Arial" panose="020B0604020202020204" pitchFamily="34" charset="0"/>
              <a:buChar char="•"/>
            </a:pPr>
            <a:r>
              <a:rPr lang="en" sz="1300">
                <a:solidFill>
                  <a:schemeClr val="dk1"/>
                </a:solidFill>
                <a:latin typeface="Montserrat"/>
                <a:ea typeface="Calibri"/>
                <a:cs typeface="Calibri"/>
              </a:rPr>
              <a:t>Offer pay that is competitive with other campus jobs</a:t>
            </a:r>
          </a:p>
          <a:p>
            <a:pPr marL="285750" indent="-285750">
              <a:buFont typeface="Arial" panose="020B0604020202020204" pitchFamily="34" charset="0"/>
              <a:buChar char="•"/>
            </a:pPr>
            <a:r>
              <a:rPr lang="en" sz="1300">
                <a:solidFill>
                  <a:schemeClr val="dk1"/>
                </a:solidFill>
                <a:latin typeface="Montserrat"/>
                <a:ea typeface="Calibri"/>
                <a:cs typeface="Calibri"/>
              </a:rPr>
              <a:t>Include benefits like free pods use, wellness benefits, and extra bonuses during exam week.</a:t>
            </a:r>
          </a:p>
          <a:p>
            <a:endParaRPr lang="en" sz="1300">
              <a:solidFill>
                <a:schemeClr val="dk1"/>
              </a:solidFill>
              <a:latin typeface="Montserrat"/>
              <a:ea typeface="Calibri"/>
              <a:cs typeface="Calibri"/>
            </a:endParaRPr>
          </a:p>
          <a:p>
            <a:r>
              <a:rPr lang="en" b="1">
                <a:solidFill>
                  <a:schemeClr val="dk1"/>
                </a:solidFill>
                <a:latin typeface="Vidaloka"/>
                <a:ea typeface="Calibri"/>
                <a:cs typeface="Calibri"/>
              </a:rPr>
              <a:t>Appraisal and Feedback System</a:t>
            </a:r>
          </a:p>
          <a:p>
            <a:pPr marL="285750" indent="-285750">
              <a:buFont typeface="Arial" panose="020B0604020202020204" pitchFamily="34" charset="0"/>
              <a:buChar char="•"/>
            </a:pPr>
            <a:r>
              <a:rPr lang="en" sz="1300">
                <a:solidFill>
                  <a:schemeClr val="dk1"/>
                </a:solidFill>
                <a:latin typeface="Montserrat"/>
                <a:ea typeface="Calibri"/>
                <a:cs typeface="Calibri"/>
              </a:rPr>
              <a:t>Conduct performance reviews each semester</a:t>
            </a:r>
          </a:p>
          <a:p>
            <a:pPr marL="285750" indent="-285750">
              <a:buFont typeface="Arial" panose="020B0604020202020204" pitchFamily="34" charset="0"/>
              <a:buChar char="•"/>
            </a:pPr>
            <a:r>
              <a:rPr lang="en" sz="1300">
                <a:solidFill>
                  <a:schemeClr val="dk1"/>
                </a:solidFill>
                <a:latin typeface="Montserrat"/>
                <a:ea typeface="Calibri"/>
                <a:cs typeface="Calibri"/>
              </a:rPr>
              <a:t>Evaluate employees based on attendance, cleanliness, customer service, and teamwork</a:t>
            </a:r>
          </a:p>
          <a:p>
            <a:pPr marL="285750" indent="-285750">
              <a:buFont typeface="Arial" panose="020B0604020202020204" pitchFamily="34" charset="0"/>
              <a:buChar char="•"/>
            </a:pPr>
            <a:r>
              <a:rPr lang="en" sz="1300">
                <a:solidFill>
                  <a:schemeClr val="dk1"/>
                </a:solidFill>
                <a:latin typeface="Montserrat"/>
                <a:ea typeface="Calibri"/>
                <a:cs typeface="Calibri"/>
              </a:rPr>
              <a:t>Give clear feedback to help employees improve and grow</a:t>
            </a:r>
          </a:p>
          <a:p>
            <a:endParaRPr lang="en" sz="1300">
              <a:solidFill>
                <a:schemeClr val="dk1"/>
              </a:solidFill>
              <a:latin typeface="Montserrat"/>
              <a:ea typeface="Calibri"/>
              <a:cs typeface="Calibri"/>
            </a:endParaRPr>
          </a:p>
          <a:p>
            <a:r>
              <a:rPr lang="en" b="1">
                <a:solidFill>
                  <a:schemeClr val="dk1"/>
                </a:solidFill>
                <a:latin typeface="Vidaloka"/>
                <a:ea typeface="Calibri"/>
                <a:cs typeface="Calibri"/>
              </a:rPr>
              <a:t>Performance Recognition</a:t>
            </a:r>
          </a:p>
          <a:p>
            <a:pPr marL="285750" indent="-285750">
              <a:buFont typeface="Arial" panose="020B0604020202020204" pitchFamily="34" charset="0"/>
              <a:buChar char="•"/>
            </a:pPr>
            <a:r>
              <a:rPr lang="en" sz="1300">
                <a:solidFill>
                  <a:schemeClr val="dk1"/>
                </a:solidFill>
                <a:latin typeface="Montserrat"/>
                <a:ea typeface="Calibri"/>
                <a:cs typeface="Calibri"/>
              </a:rPr>
              <a:t>Recognize top employees</a:t>
            </a:r>
          </a:p>
          <a:p>
            <a:pPr marL="285750" indent="-285750">
              <a:buFont typeface="Arial" panose="020B0604020202020204" pitchFamily="34" charset="0"/>
              <a:buChar char="•"/>
            </a:pPr>
            <a:r>
              <a:rPr lang="en" sz="1300">
                <a:solidFill>
                  <a:schemeClr val="dk1"/>
                </a:solidFill>
                <a:latin typeface="Montserrat"/>
                <a:ea typeface="Calibri"/>
                <a:cs typeface="Calibri"/>
              </a:rPr>
              <a:t>Reward employees who show strong service and reliability</a:t>
            </a:r>
          </a:p>
          <a:p>
            <a:pPr marL="285750" indent="-285750">
              <a:buFont typeface="Arial" panose="020B0604020202020204" pitchFamily="34" charset="0"/>
              <a:buChar char="•"/>
            </a:pPr>
            <a:r>
              <a:rPr lang="en" sz="1300">
                <a:solidFill>
                  <a:schemeClr val="dk1"/>
                </a:solidFill>
                <a:latin typeface="Montserrat"/>
                <a:ea typeface="Calibri"/>
                <a:cs typeface="Calibri"/>
              </a:rPr>
              <a:t>Encourage positive behavior that supports business goals</a:t>
            </a:r>
          </a:p>
        </p:txBody>
      </p:sp>
    </p:spTree>
    <p:extLst>
      <p:ext uri="{BB962C8B-B14F-4D97-AF65-F5344CB8AC3E}">
        <p14:creationId xmlns:p14="http://schemas.microsoft.com/office/powerpoint/2010/main" val="28679307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72">
          <a:extLst>
            <a:ext uri="{FF2B5EF4-FFF2-40B4-BE49-F238E27FC236}">
              <a16:creationId xmlns:a16="http://schemas.microsoft.com/office/drawing/2014/main" id="{9247F737-8D20-460B-434E-875AC0561017}"/>
            </a:ext>
          </a:extLst>
        </p:cNvPr>
        <p:cNvGrpSpPr/>
        <p:nvPr/>
      </p:nvGrpSpPr>
      <p:grpSpPr>
        <a:xfrm>
          <a:off x="0" y="0"/>
          <a:ext cx="0" cy="0"/>
          <a:chOff x="0" y="0"/>
          <a:chExt cx="0" cy="0"/>
        </a:xfrm>
      </p:grpSpPr>
      <p:sp>
        <p:nvSpPr>
          <p:cNvPr id="7" name="Google Shape;546;p65">
            <a:extLst>
              <a:ext uri="{FF2B5EF4-FFF2-40B4-BE49-F238E27FC236}">
                <a16:creationId xmlns:a16="http://schemas.microsoft.com/office/drawing/2014/main" id="{78F23A2E-EE94-58C6-AA8F-E3C722C7A9CD}"/>
              </a:ext>
            </a:extLst>
          </p:cNvPr>
          <p:cNvSpPr txBox="1">
            <a:spLocks/>
          </p:cNvSpPr>
          <p:nvPr/>
        </p:nvSpPr>
        <p:spPr>
          <a:xfrm>
            <a:off x="391506" y="1401395"/>
            <a:ext cx="4256146" cy="3470192"/>
          </a:xfrm>
          <a:prstGeom prst="rect">
            <a:avLst/>
          </a:prstGeom>
          <a:solidFill>
            <a:srgbClr val="D3EE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lgn="ctr">
              <a:buFont typeface="Montserrat"/>
              <a:buNone/>
            </a:pPr>
            <a:endParaRPr lang="en-US" sz="1050">
              <a:solidFill>
                <a:schemeClr val="dk1"/>
              </a:solidFill>
            </a:endParaRPr>
          </a:p>
        </p:txBody>
      </p:sp>
      <p:sp>
        <p:nvSpPr>
          <p:cNvPr id="673" name="Google Shape;673;p79">
            <a:extLst>
              <a:ext uri="{FF2B5EF4-FFF2-40B4-BE49-F238E27FC236}">
                <a16:creationId xmlns:a16="http://schemas.microsoft.com/office/drawing/2014/main" id="{051A29DC-1868-B976-A9C9-D3E056D972E1}"/>
              </a:ext>
            </a:extLst>
          </p:cNvPr>
          <p:cNvSpPr txBox="1">
            <a:spLocks noGrp="1"/>
          </p:cNvSpPr>
          <p:nvPr>
            <p:ph type="title"/>
          </p:nvPr>
        </p:nvSpPr>
        <p:spPr>
          <a:xfrm>
            <a:off x="193440" y="186717"/>
            <a:ext cx="4676491" cy="572700"/>
          </a:xfrm>
          <a:prstGeom prst="rect">
            <a:avLst/>
          </a:prstGeom>
        </p:spPr>
        <p:txBody>
          <a:bodyPr spcFirstLastPara="1" wrap="square" lIns="91425" tIns="91425" rIns="91425" bIns="91425" anchor="t" anchorCtr="0">
            <a:noAutofit/>
          </a:bodyPr>
          <a:lstStyle/>
          <a:p>
            <a:pPr algn="ctr"/>
            <a:r>
              <a:rPr lang="en"/>
              <a:t>Announcing the Departure of 2 Key Employees</a:t>
            </a:r>
            <a:endParaRPr lang="en-US"/>
          </a:p>
        </p:txBody>
      </p:sp>
      <p:sp>
        <p:nvSpPr>
          <p:cNvPr id="674" name="Google Shape;674;p79">
            <a:extLst>
              <a:ext uri="{FF2B5EF4-FFF2-40B4-BE49-F238E27FC236}">
                <a16:creationId xmlns:a16="http://schemas.microsoft.com/office/drawing/2014/main" id="{62FCED7D-EC2E-8CF5-C0B4-34C4FCE9EF8C}"/>
              </a:ext>
            </a:extLst>
          </p:cNvPr>
          <p:cNvSpPr/>
          <p:nvPr/>
        </p:nvSpPr>
        <p:spPr>
          <a:xfrm>
            <a:off x="546963" y="2079526"/>
            <a:ext cx="7402210" cy="359400"/>
          </a:xfrm>
          <a:prstGeom prst="rect">
            <a:avLst/>
          </a:prstGeom>
          <a:noFill/>
          <a:ln>
            <a:noFill/>
          </a:ln>
        </p:spPr>
        <p:txBody>
          <a:bodyPr spcFirstLastPara="1" wrap="square" lIns="91425" tIns="91425" rIns="91425" bIns="91425" anchor="ctr" anchorCtr="0">
            <a:noAutofit/>
          </a:bodyPr>
          <a:lstStyle/>
          <a:p>
            <a:pPr>
              <a:buChar char="•"/>
            </a:pPr>
            <a:endParaRPr lang="en">
              <a:solidFill>
                <a:schemeClr val="dk1"/>
              </a:solidFill>
              <a:latin typeface="Montserrat"/>
            </a:endParaRPr>
          </a:p>
        </p:txBody>
      </p:sp>
      <p:sp>
        <p:nvSpPr>
          <p:cNvPr id="677" name="Google Shape;677;p79">
            <a:extLst>
              <a:ext uri="{FF2B5EF4-FFF2-40B4-BE49-F238E27FC236}">
                <a16:creationId xmlns:a16="http://schemas.microsoft.com/office/drawing/2014/main" id="{00FBBE91-97D6-7C94-3509-5CD09EDC7F4C}"/>
              </a:ext>
            </a:extLst>
          </p:cNvPr>
          <p:cNvSpPr/>
          <p:nvPr/>
        </p:nvSpPr>
        <p:spPr>
          <a:xfrm>
            <a:off x="379183" y="1597379"/>
            <a:ext cx="7733282" cy="2288868"/>
          </a:xfrm>
          <a:prstGeom prst="rect">
            <a:avLst/>
          </a:prstGeom>
          <a:noFill/>
          <a:ln>
            <a:noFill/>
          </a:ln>
        </p:spPr>
        <p:txBody>
          <a:bodyPr spcFirstLastPara="1" wrap="square" lIns="91425" tIns="91425" rIns="91425" bIns="91425" anchor="ctr" anchorCtr="0">
            <a:noAutofit/>
          </a:bodyPr>
          <a:lstStyle/>
          <a:p>
            <a:pPr marL="342900" indent="-342900">
              <a:buAutoNum type="arabicParenR"/>
            </a:pPr>
            <a:endParaRPr lang="en">
              <a:solidFill>
                <a:schemeClr val="dk1"/>
              </a:solidFill>
              <a:latin typeface="Montserrat"/>
              <a:ea typeface="Calibri"/>
              <a:cs typeface="Calibri"/>
            </a:endParaRPr>
          </a:p>
        </p:txBody>
      </p:sp>
      <p:pic>
        <p:nvPicPr>
          <p:cNvPr id="2" name="Picture 1" descr="A white letter with black text&#10;&#10;AI-generated content may be incorrect.">
            <a:extLst>
              <a:ext uri="{FF2B5EF4-FFF2-40B4-BE49-F238E27FC236}">
                <a16:creationId xmlns:a16="http://schemas.microsoft.com/office/drawing/2014/main" id="{2DA553BB-3530-9A27-0B90-AF51F396EFB6}"/>
              </a:ext>
            </a:extLst>
          </p:cNvPr>
          <p:cNvPicPr>
            <a:picLocks noChangeAspect="1"/>
          </p:cNvPicPr>
          <p:nvPr/>
        </p:nvPicPr>
        <p:blipFill>
          <a:blip r:embed="rId3"/>
          <a:stretch>
            <a:fillRect/>
          </a:stretch>
        </p:blipFill>
        <p:spPr>
          <a:xfrm>
            <a:off x="491664" y="1489046"/>
            <a:ext cx="4081525" cy="3297923"/>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258EB3D9-0194-DAAB-102E-91EFA5AE8886}"/>
                  </a:ext>
                </a:extLst>
              </p14:cNvPr>
              <p14:cNvContentPartPr/>
              <p14:nvPr/>
            </p14:nvContentPartPr>
            <p14:xfrm>
              <a:off x="4499391" y="2959896"/>
              <a:ext cx="520334" cy="193369"/>
            </p14:xfrm>
          </p:contentPart>
        </mc:Choice>
        <mc:Fallback xmlns="">
          <p:pic>
            <p:nvPicPr>
              <p:cNvPr id="3" name="Ink 2">
                <a:extLst>
                  <a:ext uri="{FF2B5EF4-FFF2-40B4-BE49-F238E27FC236}">
                    <a16:creationId xmlns:a16="http://schemas.microsoft.com/office/drawing/2014/main" id="{258EB3D9-0194-DAAB-102E-91EFA5AE8886}"/>
                  </a:ext>
                </a:extLst>
              </p:cNvPr>
              <p:cNvPicPr/>
              <p:nvPr/>
            </p:nvPicPr>
            <p:blipFill>
              <a:blip r:embed="rId5"/>
              <a:stretch>
                <a:fillRect/>
              </a:stretch>
            </p:blipFill>
            <p:spPr>
              <a:xfrm>
                <a:off x="4481399" y="2941925"/>
                <a:ext cx="555959" cy="228952"/>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ADF6CE72-3B6B-2387-5392-78717B1C017D}"/>
                  </a:ext>
                </a:extLst>
              </p14:cNvPr>
              <p14:cNvContentPartPr/>
              <p14:nvPr/>
            </p14:nvContentPartPr>
            <p14:xfrm>
              <a:off x="10448584" y="-218092"/>
              <a:ext cx="10297" cy="10297"/>
            </p14:xfrm>
          </p:contentPart>
        </mc:Choice>
        <mc:Fallback xmlns="">
          <p:pic>
            <p:nvPicPr>
              <p:cNvPr id="5" name="Ink 4">
                <a:extLst>
                  <a:ext uri="{FF2B5EF4-FFF2-40B4-BE49-F238E27FC236}">
                    <a16:creationId xmlns:a16="http://schemas.microsoft.com/office/drawing/2014/main" id="{ADF6CE72-3B6B-2387-5392-78717B1C017D}"/>
                  </a:ext>
                </a:extLst>
              </p:cNvPr>
              <p:cNvPicPr/>
              <p:nvPr/>
            </p:nvPicPr>
            <p:blipFill>
              <a:blip r:embed="rId7"/>
              <a:stretch>
                <a:fillRect/>
              </a:stretch>
            </p:blipFill>
            <p:spPr>
              <a:xfrm>
                <a:off x="10276967" y="-346805"/>
                <a:ext cx="350098" cy="265148"/>
              </a:xfrm>
              <a:prstGeom prst="rect">
                <a:avLst/>
              </a:prstGeom>
            </p:spPr>
          </p:pic>
        </mc:Fallback>
      </mc:AlternateContent>
      <p:sp>
        <p:nvSpPr>
          <p:cNvPr id="4" name="Google Shape;677;p79">
            <a:extLst>
              <a:ext uri="{FF2B5EF4-FFF2-40B4-BE49-F238E27FC236}">
                <a16:creationId xmlns:a16="http://schemas.microsoft.com/office/drawing/2014/main" id="{4461D6CB-E71B-5164-DC7A-DCFDB2434A60}"/>
              </a:ext>
            </a:extLst>
          </p:cNvPr>
          <p:cNvSpPr/>
          <p:nvPr/>
        </p:nvSpPr>
        <p:spPr>
          <a:xfrm>
            <a:off x="5202195" y="1749778"/>
            <a:ext cx="3562622" cy="2562729"/>
          </a:xfrm>
          <a:prstGeom prst="rect">
            <a:avLst/>
          </a:prstGeom>
          <a:noFill/>
          <a:ln>
            <a:noFill/>
          </a:ln>
        </p:spPr>
        <p:txBody>
          <a:bodyPr spcFirstLastPara="1" wrap="square" lIns="91425" tIns="91425" rIns="91425" bIns="91425" anchor="ctr" anchorCtr="0">
            <a:noAutofit/>
          </a:bodyPr>
          <a:lstStyle/>
          <a:p>
            <a:r>
              <a:rPr lang="en">
                <a:solidFill>
                  <a:schemeClr val="dk1"/>
                </a:solidFill>
                <a:latin typeface="Montserrat"/>
                <a:ea typeface="Calibri"/>
                <a:cs typeface="Calibri"/>
              </a:rPr>
              <a:t>Email template sharing that an employee is leaving, while also reassuring everyone that management is making improvements to prevent future departures. </a:t>
            </a:r>
            <a:r>
              <a:rPr lang="en-US">
                <a:solidFill>
                  <a:schemeClr val="dk1"/>
                </a:solidFill>
                <a:latin typeface="Montserrat"/>
                <a:ea typeface="Calibri"/>
                <a:cs typeface="Calibri"/>
              </a:rPr>
              <a:t>It</a:t>
            </a:r>
            <a:r>
              <a:rPr lang="en">
                <a:solidFill>
                  <a:schemeClr val="dk1"/>
                </a:solidFill>
                <a:latin typeface="Montserrat"/>
                <a:ea typeface="Calibri"/>
                <a:cs typeface="Calibri"/>
              </a:rPr>
              <a:t> also encourages employees to provide feedback &amp; stay positive about the company. </a:t>
            </a:r>
          </a:p>
        </p:txBody>
      </p:sp>
    </p:spTree>
    <p:extLst>
      <p:ext uri="{BB962C8B-B14F-4D97-AF65-F5344CB8AC3E}">
        <p14:creationId xmlns:p14="http://schemas.microsoft.com/office/powerpoint/2010/main" val="4146200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45">
          <a:extLst>
            <a:ext uri="{FF2B5EF4-FFF2-40B4-BE49-F238E27FC236}">
              <a16:creationId xmlns:a16="http://schemas.microsoft.com/office/drawing/2014/main" id="{9A03A3EA-9853-BB60-354F-F8B2CF1850B1}"/>
            </a:ext>
          </a:extLst>
        </p:cNvPr>
        <p:cNvGrpSpPr/>
        <p:nvPr/>
      </p:nvGrpSpPr>
      <p:grpSpPr>
        <a:xfrm>
          <a:off x="0" y="0"/>
          <a:ext cx="0" cy="0"/>
          <a:chOff x="0" y="0"/>
          <a:chExt cx="0" cy="0"/>
        </a:xfrm>
      </p:grpSpPr>
      <p:sp>
        <p:nvSpPr>
          <p:cNvPr id="9" name="Google Shape;546;p65">
            <a:extLst>
              <a:ext uri="{FF2B5EF4-FFF2-40B4-BE49-F238E27FC236}">
                <a16:creationId xmlns:a16="http://schemas.microsoft.com/office/drawing/2014/main" id="{AB553DC4-B764-9839-A305-F42CC3F46AF1}"/>
              </a:ext>
            </a:extLst>
          </p:cNvPr>
          <p:cNvSpPr txBox="1">
            <a:spLocks/>
          </p:cNvSpPr>
          <p:nvPr/>
        </p:nvSpPr>
        <p:spPr>
          <a:xfrm>
            <a:off x="982874" y="3516368"/>
            <a:ext cx="1552862" cy="270922"/>
          </a:xfrm>
          <a:prstGeom prst="rect">
            <a:avLst/>
          </a:prstGeom>
          <a:solidFill>
            <a:srgbClr val="D3EE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lgn="ctr">
              <a:buFont typeface="Montserrat"/>
              <a:buNone/>
            </a:pPr>
            <a:endParaRPr lang="en-US" sz="1050">
              <a:solidFill>
                <a:schemeClr val="dk1"/>
              </a:solidFill>
            </a:endParaRPr>
          </a:p>
        </p:txBody>
      </p:sp>
      <p:sp>
        <p:nvSpPr>
          <p:cNvPr id="7" name="Google Shape;546;p65">
            <a:extLst>
              <a:ext uri="{FF2B5EF4-FFF2-40B4-BE49-F238E27FC236}">
                <a16:creationId xmlns:a16="http://schemas.microsoft.com/office/drawing/2014/main" id="{88C3284E-7315-4287-1B0D-AD50E1BC854B}"/>
              </a:ext>
            </a:extLst>
          </p:cNvPr>
          <p:cNvSpPr txBox="1">
            <a:spLocks/>
          </p:cNvSpPr>
          <p:nvPr/>
        </p:nvSpPr>
        <p:spPr>
          <a:xfrm>
            <a:off x="982874" y="2239423"/>
            <a:ext cx="1802894" cy="270922"/>
          </a:xfrm>
          <a:prstGeom prst="rect">
            <a:avLst/>
          </a:prstGeom>
          <a:solidFill>
            <a:srgbClr val="D3EE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lgn="ctr">
              <a:buFont typeface="Montserrat"/>
              <a:buNone/>
            </a:pPr>
            <a:endParaRPr lang="en-US" sz="1050">
              <a:solidFill>
                <a:schemeClr val="dk1"/>
              </a:solidFill>
            </a:endParaRPr>
          </a:p>
        </p:txBody>
      </p:sp>
      <p:sp>
        <p:nvSpPr>
          <p:cNvPr id="5" name="Google Shape;546;p65">
            <a:extLst>
              <a:ext uri="{FF2B5EF4-FFF2-40B4-BE49-F238E27FC236}">
                <a16:creationId xmlns:a16="http://schemas.microsoft.com/office/drawing/2014/main" id="{3E151940-C804-3E95-8B74-3B028CB6EFD8}"/>
              </a:ext>
            </a:extLst>
          </p:cNvPr>
          <p:cNvSpPr txBox="1">
            <a:spLocks/>
          </p:cNvSpPr>
          <p:nvPr/>
        </p:nvSpPr>
        <p:spPr>
          <a:xfrm>
            <a:off x="982874" y="1565231"/>
            <a:ext cx="1173352" cy="270922"/>
          </a:xfrm>
          <a:prstGeom prst="rect">
            <a:avLst/>
          </a:prstGeom>
          <a:solidFill>
            <a:srgbClr val="D3EE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lgn="ctr">
              <a:buFont typeface="Montserrat"/>
              <a:buNone/>
            </a:pPr>
            <a:endParaRPr lang="en-US" sz="1050">
              <a:solidFill>
                <a:schemeClr val="dk1"/>
              </a:solidFill>
            </a:endParaRPr>
          </a:p>
        </p:txBody>
      </p:sp>
      <p:sp>
        <p:nvSpPr>
          <p:cNvPr id="2" name="Google Shape;547;p65">
            <a:extLst>
              <a:ext uri="{FF2B5EF4-FFF2-40B4-BE49-F238E27FC236}">
                <a16:creationId xmlns:a16="http://schemas.microsoft.com/office/drawing/2014/main" id="{7B3D0E1C-D02C-9C10-83E1-7699B8C578FE}"/>
              </a:ext>
            </a:extLst>
          </p:cNvPr>
          <p:cNvSpPr txBox="1">
            <a:spLocks/>
          </p:cNvSpPr>
          <p:nvPr/>
        </p:nvSpPr>
        <p:spPr>
          <a:xfrm>
            <a:off x="984230" y="663569"/>
            <a:ext cx="6954862" cy="48062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Vidaloka"/>
              <a:buNone/>
              <a:defRPr sz="3000" b="0" i="0" u="none" strike="noStrike" cap="none">
                <a:solidFill>
                  <a:schemeClr val="dk1"/>
                </a:solidFill>
                <a:latin typeface="Vidaloka"/>
                <a:ea typeface="Vidaloka"/>
                <a:cs typeface="Vidaloka"/>
                <a:sym typeface="Vidaloka"/>
              </a:defRPr>
            </a:lvl1pPr>
            <a:lvl2pPr marR="0" lvl="1"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9pPr>
          </a:lstStyle>
          <a:p>
            <a:pPr algn="ctr"/>
            <a:r>
              <a:rPr lang="en-US" sz="2800"/>
              <a:t>Key Actions for Employee Engagement</a:t>
            </a:r>
          </a:p>
        </p:txBody>
      </p:sp>
      <p:sp>
        <p:nvSpPr>
          <p:cNvPr id="12" name="Google Shape;677;p79">
            <a:extLst>
              <a:ext uri="{FF2B5EF4-FFF2-40B4-BE49-F238E27FC236}">
                <a16:creationId xmlns:a16="http://schemas.microsoft.com/office/drawing/2014/main" id="{4E0D2225-A334-5205-33CB-5DEBBEFB0E32}"/>
              </a:ext>
            </a:extLst>
          </p:cNvPr>
          <p:cNvSpPr/>
          <p:nvPr/>
        </p:nvSpPr>
        <p:spPr>
          <a:xfrm>
            <a:off x="595020" y="1980438"/>
            <a:ext cx="7733282" cy="2288868"/>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lnSpc>
                <a:spcPct val="150000"/>
              </a:lnSpc>
              <a:buAutoNum type="arabicParenR"/>
            </a:pPr>
            <a:r>
              <a:rPr lang="en" b="1">
                <a:solidFill>
                  <a:schemeClr val="dk1"/>
                </a:solidFill>
                <a:latin typeface="Vidaloka"/>
                <a:ea typeface="Calibri"/>
                <a:cs typeface="Calibri"/>
              </a:rPr>
              <a:t>Transparency </a:t>
            </a:r>
            <a:r>
              <a:rPr lang="en">
                <a:solidFill>
                  <a:schemeClr val="dk1"/>
                </a:solidFill>
                <a:latin typeface="Vidaloka"/>
                <a:ea typeface="Calibri"/>
                <a:cs typeface="Calibri"/>
              </a:rPr>
              <a:t> </a:t>
            </a:r>
            <a:r>
              <a:rPr lang="en">
                <a:solidFill>
                  <a:schemeClr val="dk1"/>
                </a:solidFill>
                <a:latin typeface="Montserrat"/>
                <a:ea typeface="Calibri"/>
                <a:cs typeface="Calibri"/>
              </a:rPr>
              <a:t>-- Company updates, goals, and challenges should be visible and transparent so employees build trust through open communication.</a:t>
            </a:r>
          </a:p>
          <a:p>
            <a:pPr marL="342900" indent="-342900">
              <a:lnSpc>
                <a:spcPct val="150000"/>
              </a:lnSpc>
              <a:buAutoNum type="arabicParenR"/>
            </a:pPr>
            <a:r>
              <a:rPr lang="en" b="1">
                <a:solidFill>
                  <a:schemeClr val="dk1"/>
                </a:solidFill>
                <a:latin typeface="Vidaloka"/>
                <a:ea typeface="Calibri"/>
                <a:cs typeface="Calibri"/>
              </a:rPr>
              <a:t>Growth Opportunities</a:t>
            </a:r>
            <a:r>
              <a:rPr lang="en" b="1">
                <a:solidFill>
                  <a:schemeClr val="dk1"/>
                </a:solidFill>
                <a:latin typeface="Montserrat"/>
                <a:ea typeface="Calibri"/>
                <a:cs typeface="Calibri"/>
              </a:rPr>
              <a:t> </a:t>
            </a:r>
            <a:r>
              <a:rPr lang="en">
                <a:solidFill>
                  <a:schemeClr val="dk1"/>
                </a:solidFill>
                <a:latin typeface="Montserrat"/>
                <a:ea typeface="Calibri"/>
                <a:cs typeface="Calibri"/>
              </a:rPr>
              <a:t> -- Create leadership/growth pathways through mentoring, training, and career development. Investing in the people, not just the work, shows the company cares about the development and growth of its people as individuals.</a:t>
            </a:r>
          </a:p>
          <a:p>
            <a:pPr marL="342900" indent="-342900">
              <a:lnSpc>
                <a:spcPct val="150000"/>
              </a:lnSpc>
              <a:buAutoNum type="arabicParenR"/>
            </a:pPr>
            <a:r>
              <a:rPr lang="en" b="1">
                <a:solidFill>
                  <a:schemeClr val="dk1"/>
                </a:solidFill>
                <a:latin typeface="Vidaloka"/>
                <a:ea typeface="Calibri"/>
                <a:cs typeface="Calibri"/>
              </a:rPr>
              <a:t>Employee Wellness</a:t>
            </a:r>
            <a:r>
              <a:rPr lang="en">
                <a:solidFill>
                  <a:schemeClr val="dk1"/>
                </a:solidFill>
                <a:latin typeface="Montserrat"/>
                <a:ea typeface="Calibri"/>
                <a:cs typeface="Calibri"/>
              </a:rPr>
              <a:t> -- Employees are valued as individuals, not just their performance. Flexible scheduling, reasonable workloads, and access to rest spaces are important to ensure the health and wellness of employees. </a:t>
            </a:r>
          </a:p>
          <a:p>
            <a:pPr marL="342900" indent="-342900">
              <a:lnSpc>
                <a:spcPct val="150000"/>
              </a:lnSpc>
              <a:buAutoNum type="arabicParenR"/>
            </a:pPr>
            <a:endParaRPr lang="en">
              <a:solidFill>
                <a:schemeClr val="dk1"/>
              </a:solidFill>
              <a:latin typeface="Montserrat"/>
              <a:ea typeface="Calibri"/>
              <a:cs typeface="Calibri"/>
            </a:endParaRPr>
          </a:p>
        </p:txBody>
      </p:sp>
    </p:spTree>
    <p:extLst>
      <p:ext uri="{BB962C8B-B14F-4D97-AF65-F5344CB8AC3E}">
        <p14:creationId xmlns:p14="http://schemas.microsoft.com/office/powerpoint/2010/main" val="5280829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45">
          <a:extLst>
            <a:ext uri="{FF2B5EF4-FFF2-40B4-BE49-F238E27FC236}">
              <a16:creationId xmlns:a16="http://schemas.microsoft.com/office/drawing/2014/main" id="{F5D2036C-141A-CF44-7A04-3212D8DCF20F}"/>
            </a:ext>
          </a:extLst>
        </p:cNvPr>
        <p:cNvGrpSpPr/>
        <p:nvPr/>
      </p:nvGrpSpPr>
      <p:grpSpPr>
        <a:xfrm>
          <a:off x="0" y="0"/>
          <a:ext cx="0" cy="0"/>
          <a:chOff x="0" y="0"/>
          <a:chExt cx="0" cy="0"/>
        </a:xfrm>
      </p:grpSpPr>
      <p:sp>
        <p:nvSpPr>
          <p:cNvPr id="2" name="Google Shape;547;p65">
            <a:extLst>
              <a:ext uri="{FF2B5EF4-FFF2-40B4-BE49-F238E27FC236}">
                <a16:creationId xmlns:a16="http://schemas.microsoft.com/office/drawing/2014/main" id="{CCC0CA90-4593-D449-E7E5-F9C8D575D454}"/>
              </a:ext>
            </a:extLst>
          </p:cNvPr>
          <p:cNvSpPr txBox="1">
            <a:spLocks/>
          </p:cNvSpPr>
          <p:nvPr/>
        </p:nvSpPr>
        <p:spPr>
          <a:xfrm>
            <a:off x="984230" y="663569"/>
            <a:ext cx="6954862" cy="48062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Vidaloka"/>
              <a:buNone/>
              <a:defRPr sz="3000" b="0" i="0" u="none" strike="noStrike" cap="none">
                <a:solidFill>
                  <a:schemeClr val="dk1"/>
                </a:solidFill>
                <a:latin typeface="Vidaloka"/>
                <a:ea typeface="Vidaloka"/>
                <a:cs typeface="Vidaloka"/>
                <a:sym typeface="Vidaloka"/>
              </a:defRPr>
            </a:lvl1pPr>
            <a:lvl2pPr marR="0" lvl="1"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9pPr>
          </a:lstStyle>
          <a:p>
            <a:pPr algn="ctr"/>
            <a:r>
              <a:rPr lang="en-US" sz="2800"/>
              <a:t>SIPOC for Key Process</a:t>
            </a:r>
            <a:endParaRPr lang="en-US"/>
          </a:p>
        </p:txBody>
      </p:sp>
      <p:graphicFrame>
        <p:nvGraphicFramePr>
          <p:cNvPr id="4" name="Table 3">
            <a:extLst>
              <a:ext uri="{FF2B5EF4-FFF2-40B4-BE49-F238E27FC236}">
                <a16:creationId xmlns:a16="http://schemas.microsoft.com/office/drawing/2014/main" id="{AC9073C6-9D92-6943-EE05-98154E2069DF}"/>
              </a:ext>
            </a:extLst>
          </p:cNvPr>
          <p:cNvGraphicFramePr>
            <a:graphicFrameLocks noGrp="1"/>
          </p:cNvGraphicFramePr>
          <p:nvPr>
            <p:extLst>
              <p:ext uri="{D42A27DB-BD31-4B8C-83A1-F6EECF244321}">
                <p14:modId xmlns:p14="http://schemas.microsoft.com/office/powerpoint/2010/main" val="1223650544"/>
              </p:ext>
            </p:extLst>
          </p:nvPr>
        </p:nvGraphicFramePr>
        <p:xfrm>
          <a:off x="206522" y="1611000"/>
          <a:ext cx="8730956" cy="2868931"/>
        </p:xfrm>
        <a:graphic>
          <a:graphicData uri="http://schemas.openxmlformats.org/drawingml/2006/table">
            <a:tbl>
              <a:tblPr firstRow="1" bandRow="1">
                <a:tableStyleId>{D3734E0F-8491-4B21-B17C-9BF398E11E08}</a:tableStyleId>
              </a:tblPr>
              <a:tblGrid>
                <a:gridCol w="1755648">
                  <a:extLst>
                    <a:ext uri="{9D8B030D-6E8A-4147-A177-3AD203B41FA5}">
                      <a16:colId xmlns:a16="http://schemas.microsoft.com/office/drawing/2014/main" val="1444521997"/>
                    </a:ext>
                  </a:extLst>
                </a:gridCol>
                <a:gridCol w="1511808">
                  <a:extLst>
                    <a:ext uri="{9D8B030D-6E8A-4147-A177-3AD203B41FA5}">
                      <a16:colId xmlns:a16="http://schemas.microsoft.com/office/drawing/2014/main" val="1020126953"/>
                    </a:ext>
                  </a:extLst>
                </a:gridCol>
                <a:gridCol w="1701872">
                  <a:extLst>
                    <a:ext uri="{9D8B030D-6E8A-4147-A177-3AD203B41FA5}">
                      <a16:colId xmlns:a16="http://schemas.microsoft.com/office/drawing/2014/main" val="4091041362"/>
                    </a:ext>
                  </a:extLst>
                </a:gridCol>
                <a:gridCol w="1499734">
                  <a:extLst>
                    <a:ext uri="{9D8B030D-6E8A-4147-A177-3AD203B41FA5}">
                      <a16:colId xmlns:a16="http://schemas.microsoft.com/office/drawing/2014/main" val="1046134395"/>
                    </a:ext>
                  </a:extLst>
                </a:gridCol>
                <a:gridCol w="2261894">
                  <a:extLst>
                    <a:ext uri="{9D8B030D-6E8A-4147-A177-3AD203B41FA5}">
                      <a16:colId xmlns:a16="http://schemas.microsoft.com/office/drawing/2014/main" val="1875691838"/>
                    </a:ext>
                  </a:extLst>
                </a:gridCol>
              </a:tblGrid>
              <a:tr h="421250">
                <a:tc>
                  <a:txBody>
                    <a:bodyPr/>
                    <a:lstStyle/>
                    <a:p>
                      <a:pPr algn="ctr" fontAlgn="t">
                        <a:buNone/>
                      </a:pPr>
                      <a:r>
                        <a:rPr lang="en-US" sz="1800" b="1">
                          <a:effectLst/>
                          <a:latin typeface="Vidaloka"/>
                        </a:rPr>
                        <a:t>Suppliers</a:t>
                      </a:r>
                    </a:p>
                  </a:txBody>
                  <a:tcPr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solidFill>
                      <a:srgbClr val="D3EEFF"/>
                    </a:solidFill>
                  </a:tcPr>
                </a:tc>
                <a:tc>
                  <a:txBody>
                    <a:bodyPr/>
                    <a:lstStyle/>
                    <a:p>
                      <a:pPr algn="ctr" fontAlgn="t">
                        <a:buNone/>
                      </a:pPr>
                      <a:r>
                        <a:rPr lang="en-US" sz="1800" b="1">
                          <a:effectLst/>
                          <a:latin typeface="Vidaloka"/>
                        </a:rPr>
                        <a:t>Inputs</a:t>
                      </a:r>
                    </a:p>
                  </a:txBody>
                  <a:tcPr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solidFill>
                      <a:srgbClr val="D3EEFF"/>
                    </a:solidFill>
                  </a:tcPr>
                </a:tc>
                <a:tc>
                  <a:txBody>
                    <a:bodyPr/>
                    <a:lstStyle/>
                    <a:p>
                      <a:pPr algn="ctr" fontAlgn="t">
                        <a:buNone/>
                      </a:pPr>
                      <a:r>
                        <a:rPr lang="en-US" sz="1800" b="1">
                          <a:effectLst/>
                          <a:latin typeface="Vidaloka"/>
                        </a:rPr>
                        <a:t>Processes</a:t>
                      </a:r>
                    </a:p>
                  </a:txBody>
                  <a:tcPr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solidFill>
                      <a:srgbClr val="D3EEFF"/>
                    </a:solidFill>
                  </a:tcPr>
                </a:tc>
                <a:tc>
                  <a:txBody>
                    <a:bodyPr/>
                    <a:lstStyle/>
                    <a:p>
                      <a:pPr algn="ctr" fontAlgn="t">
                        <a:buNone/>
                      </a:pPr>
                      <a:r>
                        <a:rPr lang="en-US" sz="1800" b="1">
                          <a:effectLst/>
                          <a:latin typeface="Vidaloka"/>
                        </a:rPr>
                        <a:t>Outputs</a:t>
                      </a:r>
                    </a:p>
                  </a:txBody>
                  <a:tcPr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solidFill>
                      <a:srgbClr val="D3EEFF"/>
                    </a:solidFill>
                  </a:tcPr>
                </a:tc>
                <a:tc>
                  <a:txBody>
                    <a:bodyPr/>
                    <a:lstStyle/>
                    <a:p>
                      <a:pPr algn="ctr" fontAlgn="t">
                        <a:buNone/>
                      </a:pPr>
                      <a:r>
                        <a:rPr lang="en-US" sz="1800" b="1">
                          <a:effectLst/>
                          <a:latin typeface="Vidaloka"/>
                        </a:rPr>
                        <a:t>Customers</a:t>
                      </a:r>
                    </a:p>
                  </a:txBody>
                  <a:tcPr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solidFill>
                      <a:srgbClr val="D3EEFF"/>
                    </a:solidFill>
                  </a:tcPr>
                </a:tc>
                <a:extLst>
                  <a:ext uri="{0D108BD9-81ED-4DB2-BD59-A6C34878D82A}">
                    <a16:rowId xmlns:a16="http://schemas.microsoft.com/office/drawing/2014/main" val="1730501473"/>
                  </a:ext>
                </a:extLst>
              </a:tr>
              <a:tr h="2447681">
                <a:tc>
                  <a:txBody>
                    <a:bodyPr/>
                    <a:lstStyle/>
                    <a:p>
                      <a:pPr marL="285750" indent="-285750">
                        <a:buFont typeface="Arial" panose="020B0604020202020204" pitchFamily="34" charset="0"/>
                        <a:buChar char="•"/>
                      </a:pPr>
                      <a:r>
                        <a:rPr lang="en-US" sz="1200" b="0" i="0" u="none" strike="noStrike" cap="none">
                          <a:solidFill>
                            <a:srgbClr val="000000"/>
                          </a:solidFill>
                          <a:effectLst/>
                          <a:latin typeface="Montserrat"/>
                          <a:ea typeface="Arial"/>
                          <a:cs typeface="Arial"/>
                          <a:sym typeface="Arial"/>
                        </a:rPr>
                        <a:t>Pod manufacturers</a:t>
                      </a:r>
                    </a:p>
                    <a:p>
                      <a:pPr marL="285750" indent="-285750">
                        <a:buFont typeface="Arial" panose="020B0604020202020204" pitchFamily="34" charset="0"/>
                        <a:buChar char="•"/>
                      </a:pPr>
                      <a:r>
                        <a:rPr lang="en-US" sz="1200" b="0" i="0" u="none" strike="noStrike" cap="none">
                          <a:solidFill>
                            <a:srgbClr val="000000"/>
                          </a:solidFill>
                          <a:effectLst/>
                          <a:latin typeface="Montserrat"/>
                          <a:ea typeface="Arial"/>
                          <a:cs typeface="Arial"/>
                          <a:sym typeface="Arial"/>
                        </a:rPr>
                        <a:t>Cleaning staff</a:t>
                      </a:r>
                    </a:p>
                    <a:p>
                      <a:pPr marL="285750" indent="-285750">
                        <a:buFont typeface="Arial" panose="020B0604020202020204" pitchFamily="34" charset="0"/>
                        <a:buChar char="•"/>
                      </a:pPr>
                      <a:r>
                        <a:rPr lang="en-US" sz="1200" b="0" i="0" u="none" strike="noStrike" cap="none">
                          <a:solidFill>
                            <a:srgbClr val="000000"/>
                          </a:solidFill>
                          <a:effectLst/>
                          <a:latin typeface="Montserrat"/>
                          <a:ea typeface="Arial"/>
                          <a:cs typeface="Arial"/>
                          <a:sym typeface="Arial"/>
                        </a:rPr>
                        <a:t>Scheduling software provide</a:t>
                      </a:r>
                    </a:p>
                    <a:p>
                      <a:pPr marL="285750" indent="-285750">
                        <a:buFont typeface="Arial" panose="020B0604020202020204" pitchFamily="34" charset="0"/>
                        <a:buChar char="•"/>
                      </a:pPr>
                      <a:r>
                        <a:rPr lang="en-US" sz="1200" b="0" i="0" u="none" strike="noStrike" cap="none">
                          <a:solidFill>
                            <a:srgbClr val="000000"/>
                          </a:solidFill>
                          <a:effectLst/>
                          <a:latin typeface="Montserrat"/>
                          <a:ea typeface="Arial"/>
                          <a:cs typeface="Arial"/>
                          <a:sym typeface="Arial"/>
                        </a:rPr>
                        <a:t>Front desk staff</a:t>
                      </a:r>
                    </a:p>
                    <a:p>
                      <a:pPr marL="285750" indent="-285750">
                        <a:buFont typeface="Arial" panose="020B0604020202020204" pitchFamily="34" charset="0"/>
                        <a:buChar char="•"/>
                      </a:pPr>
                      <a:r>
                        <a:rPr lang="en-US" sz="1200" b="0" i="0" u="none" strike="noStrike" cap="none">
                          <a:solidFill>
                            <a:srgbClr val="000000"/>
                          </a:solidFill>
                          <a:effectLst/>
                          <a:latin typeface="Montserrat"/>
                          <a:ea typeface="Arial"/>
                          <a:cs typeface="Arial"/>
                          <a:sym typeface="Arial"/>
                        </a:rPr>
                        <a:t>Utility providers</a:t>
                      </a:r>
                    </a:p>
                  </a:txBody>
                  <a:tcP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200" b="0" i="0" u="none" strike="noStrike" cap="none">
                          <a:solidFill>
                            <a:srgbClr val="000000"/>
                          </a:solidFill>
                          <a:effectLst/>
                          <a:latin typeface="Montserrat"/>
                          <a:ea typeface="Arial"/>
                          <a:cs typeface="Arial"/>
                          <a:sym typeface="Arial"/>
                        </a:rPr>
                        <a:t>Sleep pods</a:t>
                      </a:r>
                    </a:p>
                    <a:p>
                      <a:pPr marL="285750" indent="-285750">
                        <a:buFont typeface="Arial" panose="020B0604020202020204" pitchFamily="34" charset="0"/>
                        <a:buChar char="•"/>
                      </a:pPr>
                      <a:r>
                        <a:rPr lang="en-US" sz="1200" b="0" i="0" u="none" strike="noStrike" cap="none">
                          <a:solidFill>
                            <a:srgbClr val="000000"/>
                          </a:solidFill>
                          <a:effectLst/>
                          <a:latin typeface="Montserrat"/>
                          <a:ea typeface="Arial"/>
                          <a:cs typeface="Arial"/>
                          <a:sym typeface="Arial"/>
                        </a:rPr>
                        <a:t>Booking system</a:t>
                      </a:r>
                    </a:p>
                    <a:p>
                      <a:pPr marL="285750" indent="-285750">
                        <a:buFont typeface="Arial" panose="020B0604020202020204" pitchFamily="34" charset="0"/>
                        <a:buChar char="•"/>
                      </a:pPr>
                      <a:r>
                        <a:rPr lang="en-US" sz="1200" b="0" i="0" u="none" strike="noStrike" cap="none">
                          <a:solidFill>
                            <a:srgbClr val="000000"/>
                          </a:solidFill>
                          <a:effectLst/>
                          <a:latin typeface="Montserrat"/>
                          <a:ea typeface="Arial"/>
                          <a:cs typeface="Arial"/>
                          <a:sym typeface="Arial"/>
                        </a:rPr>
                        <a:t>Staff</a:t>
                      </a:r>
                    </a:p>
                    <a:p>
                      <a:pPr marL="285750" indent="-285750">
                        <a:buFont typeface="Arial" panose="020B0604020202020204" pitchFamily="34" charset="0"/>
                        <a:buChar char="•"/>
                      </a:pPr>
                      <a:r>
                        <a:rPr lang="en-US" sz="1200" b="0" i="0" u="none" strike="noStrike" cap="none">
                          <a:solidFill>
                            <a:srgbClr val="000000"/>
                          </a:solidFill>
                          <a:effectLst/>
                          <a:latin typeface="Montserrat"/>
                          <a:ea typeface="Arial"/>
                          <a:cs typeface="Arial"/>
                          <a:sym typeface="Arial"/>
                        </a:rPr>
                        <a:t>Cleaning supplies</a:t>
                      </a:r>
                    </a:p>
                    <a:p>
                      <a:pPr marL="285750" indent="-285750">
                        <a:buFont typeface="Arial" panose="020B0604020202020204" pitchFamily="34" charset="0"/>
                        <a:buChar char="•"/>
                      </a:pPr>
                      <a:r>
                        <a:rPr lang="en-US" sz="1200" b="0" i="0" u="none" strike="noStrike" cap="none">
                          <a:solidFill>
                            <a:srgbClr val="000000"/>
                          </a:solidFill>
                          <a:effectLst/>
                          <a:latin typeface="Montserrat"/>
                          <a:ea typeface="Arial"/>
                          <a:cs typeface="Arial"/>
                          <a:sym typeface="Arial"/>
                        </a:rPr>
                        <a:t>Customer reservations</a:t>
                      </a:r>
                    </a:p>
                  </a:txBody>
                  <a:tcP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200" b="0" i="0" u="none" strike="noStrike" cap="none">
                          <a:solidFill>
                            <a:srgbClr val="000000"/>
                          </a:solidFill>
                          <a:effectLst/>
                          <a:latin typeface="Montserrat"/>
                          <a:ea typeface="Arial"/>
                          <a:cs typeface="Arial"/>
                          <a:sym typeface="Arial"/>
                        </a:rPr>
                        <a:t>Customer books pod</a:t>
                      </a:r>
                    </a:p>
                    <a:p>
                      <a:pPr marL="285750" indent="-285750">
                        <a:buFont typeface="Arial" panose="020B0604020202020204" pitchFamily="34" charset="0"/>
                        <a:buChar char="•"/>
                      </a:pPr>
                      <a:r>
                        <a:rPr lang="en-US" sz="1200" b="0" i="0" u="none" strike="noStrike" cap="none">
                          <a:solidFill>
                            <a:srgbClr val="000000"/>
                          </a:solidFill>
                          <a:effectLst/>
                          <a:latin typeface="Montserrat"/>
                          <a:ea typeface="Arial"/>
                          <a:cs typeface="Arial"/>
                          <a:sym typeface="Arial"/>
                        </a:rPr>
                        <a:t>Check in</a:t>
                      </a:r>
                    </a:p>
                    <a:p>
                      <a:pPr marL="285750" indent="-285750">
                        <a:buFont typeface="Arial" panose="020B0604020202020204" pitchFamily="34" charset="0"/>
                        <a:buChar char="•"/>
                      </a:pPr>
                      <a:r>
                        <a:rPr lang="en-US" sz="1200" b="0" i="0" u="none" strike="noStrike" cap="none">
                          <a:solidFill>
                            <a:srgbClr val="000000"/>
                          </a:solidFill>
                          <a:effectLst/>
                          <a:latin typeface="Montserrat"/>
                          <a:ea typeface="Arial"/>
                          <a:cs typeface="Arial"/>
                          <a:sym typeface="Arial"/>
                        </a:rPr>
                        <a:t>Pod assigned</a:t>
                      </a:r>
                    </a:p>
                    <a:p>
                      <a:pPr marL="285750" indent="-285750">
                        <a:buFont typeface="Arial" panose="020B0604020202020204" pitchFamily="34" charset="0"/>
                        <a:buChar char="•"/>
                      </a:pPr>
                      <a:r>
                        <a:rPr lang="en-US" sz="1200" b="0" i="0" u="none" strike="noStrike" cap="none">
                          <a:solidFill>
                            <a:srgbClr val="000000"/>
                          </a:solidFill>
                          <a:effectLst/>
                          <a:latin typeface="Montserrat"/>
                          <a:ea typeface="Arial"/>
                          <a:cs typeface="Arial"/>
                          <a:sym typeface="Arial"/>
                        </a:rPr>
                        <a:t>Customer uses pod</a:t>
                      </a:r>
                    </a:p>
                    <a:p>
                      <a:pPr marL="285750" indent="-285750">
                        <a:buFont typeface="Arial" panose="020B0604020202020204" pitchFamily="34" charset="0"/>
                        <a:buChar char="•"/>
                      </a:pPr>
                      <a:r>
                        <a:rPr lang="en-US" sz="1200" b="0" i="0" u="none" strike="noStrike" cap="none">
                          <a:solidFill>
                            <a:srgbClr val="000000"/>
                          </a:solidFill>
                          <a:effectLst/>
                          <a:latin typeface="Montserrat"/>
                          <a:ea typeface="Arial"/>
                          <a:cs typeface="Arial"/>
                          <a:sym typeface="Arial"/>
                        </a:rPr>
                        <a:t>Pod cleaned and reset</a:t>
                      </a:r>
                    </a:p>
                    <a:p>
                      <a:pPr marL="285750" indent="-285750">
                        <a:buFont typeface="Arial" panose="020B0604020202020204" pitchFamily="34" charset="0"/>
                        <a:buChar char="•"/>
                      </a:pPr>
                      <a:r>
                        <a:rPr lang="en-US" sz="1200" b="0" i="0" u="none" strike="noStrike" cap="none">
                          <a:solidFill>
                            <a:srgbClr val="000000"/>
                          </a:solidFill>
                          <a:effectLst/>
                          <a:latin typeface="Montserrat"/>
                          <a:ea typeface="Arial"/>
                          <a:cs typeface="Arial"/>
                          <a:sym typeface="Arial"/>
                        </a:rPr>
                        <a:t>Customer check out and feedback</a:t>
                      </a:r>
                    </a:p>
                    <a:p>
                      <a:pPr fontAlgn="t">
                        <a:buNone/>
                      </a:pPr>
                      <a:endParaRPr lang="en-US" sz="1200">
                        <a:effectLst/>
                        <a:latin typeface="Montserrat"/>
                      </a:endParaRPr>
                    </a:p>
                  </a:txBody>
                  <a:tcP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200" b="0" i="0" u="none" strike="noStrike" cap="none">
                          <a:solidFill>
                            <a:srgbClr val="000000"/>
                          </a:solidFill>
                          <a:effectLst/>
                          <a:latin typeface="Montserrat"/>
                          <a:ea typeface="Arial"/>
                          <a:cs typeface="Arial"/>
                          <a:sym typeface="Arial"/>
                        </a:rPr>
                        <a:t>Rested customer</a:t>
                      </a:r>
                    </a:p>
                    <a:p>
                      <a:pPr marL="285750" indent="-285750">
                        <a:buFont typeface="Arial" panose="020B0604020202020204" pitchFamily="34" charset="0"/>
                        <a:buChar char="•"/>
                      </a:pPr>
                      <a:r>
                        <a:rPr lang="en-US" sz="1200" b="0" i="0" u="none" strike="noStrike" cap="none">
                          <a:solidFill>
                            <a:srgbClr val="000000"/>
                          </a:solidFill>
                          <a:effectLst/>
                          <a:latin typeface="Montserrat"/>
                          <a:ea typeface="Arial"/>
                          <a:cs typeface="Arial"/>
                          <a:sym typeface="Arial"/>
                        </a:rPr>
                        <a:t>Clean/ready pod</a:t>
                      </a:r>
                    </a:p>
                    <a:p>
                      <a:pPr marL="285750" indent="-285750">
                        <a:buFont typeface="Arial" panose="020B0604020202020204" pitchFamily="34" charset="0"/>
                        <a:buChar char="•"/>
                      </a:pPr>
                      <a:r>
                        <a:rPr lang="en-US" sz="1200" b="0" i="0" u="none" strike="noStrike" cap="none">
                          <a:solidFill>
                            <a:srgbClr val="000000"/>
                          </a:solidFill>
                          <a:effectLst/>
                          <a:latin typeface="Montserrat"/>
                          <a:ea typeface="Arial"/>
                          <a:cs typeface="Arial"/>
                          <a:sym typeface="Arial"/>
                        </a:rPr>
                        <a:t>Completed booking</a:t>
                      </a:r>
                    </a:p>
                    <a:p>
                      <a:pPr marL="285750" indent="-285750">
                        <a:buFont typeface="Arial" panose="020B0604020202020204" pitchFamily="34" charset="0"/>
                        <a:buChar char="•"/>
                      </a:pPr>
                      <a:r>
                        <a:rPr lang="en-US" sz="1200" b="0" i="0" u="none" strike="noStrike" cap="none">
                          <a:solidFill>
                            <a:srgbClr val="000000"/>
                          </a:solidFill>
                          <a:effectLst/>
                          <a:latin typeface="Montserrat"/>
                          <a:ea typeface="Arial"/>
                          <a:cs typeface="Arial"/>
                          <a:sym typeface="Arial"/>
                        </a:rPr>
                        <a:t>Customer feedback</a:t>
                      </a:r>
                    </a:p>
                    <a:p>
                      <a:pPr marL="285750" indent="-285750" fontAlgn="t">
                        <a:buFont typeface="Arial" panose="020B0604020202020204" pitchFamily="34" charset="0"/>
                        <a:buChar char="•"/>
                      </a:pPr>
                      <a:endParaRPr lang="en-US" sz="1200">
                        <a:effectLst/>
                        <a:latin typeface="Montserrat"/>
                      </a:endParaRPr>
                    </a:p>
                    <a:p>
                      <a:pPr marL="285750" indent="-285750">
                        <a:buFont typeface="Arial" panose="020B0604020202020204" pitchFamily="34" charset="0"/>
                        <a:buChar char="•"/>
                      </a:pPr>
                      <a:endParaRPr lang="en-US" sz="1200" b="0" i="0" u="none" strike="noStrike" cap="none">
                        <a:solidFill>
                          <a:srgbClr val="000000"/>
                        </a:solidFill>
                        <a:effectLst/>
                        <a:latin typeface="Montserrat"/>
                        <a:ea typeface="Arial"/>
                        <a:cs typeface="Arial"/>
                        <a:sym typeface="Arial"/>
                      </a:endParaRPr>
                    </a:p>
                    <a:p>
                      <a:pPr marL="285750" indent="-285750" fontAlgn="t">
                        <a:buFont typeface="Arial" panose="020B0604020202020204" pitchFamily="34" charset="0"/>
                        <a:buChar char="•"/>
                      </a:pPr>
                      <a:endParaRPr lang="en-US" sz="1200">
                        <a:effectLst/>
                        <a:latin typeface="Montserrat"/>
                      </a:endParaRPr>
                    </a:p>
                  </a:txBody>
                  <a:tcP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200" b="1" i="0" u="none" strike="noStrike" cap="none">
                          <a:solidFill>
                            <a:srgbClr val="000000"/>
                          </a:solidFill>
                          <a:effectLst/>
                          <a:latin typeface="Montserrat"/>
                          <a:ea typeface="Arial"/>
                          <a:cs typeface="Arial"/>
                          <a:sym typeface="Arial"/>
                        </a:rPr>
                        <a:t>Who: </a:t>
                      </a:r>
                      <a:r>
                        <a:rPr lang="en-US" sz="1200" b="0" i="0" u="none" strike="noStrike" cap="none">
                          <a:solidFill>
                            <a:srgbClr val="000000"/>
                          </a:solidFill>
                          <a:effectLst/>
                          <a:latin typeface="Montserrat"/>
                          <a:ea typeface="Arial"/>
                          <a:cs typeface="Arial"/>
                          <a:sym typeface="Arial"/>
                        </a:rPr>
                        <a:t>Commuter/College students</a:t>
                      </a:r>
                    </a:p>
                    <a:p>
                      <a:pPr marL="285750" indent="-285750">
                        <a:buFont typeface="Arial" panose="020B0604020202020204" pitchFamily="34" charset="0"/>
                        <a:buChar char="•"/>
                      </a:pPr>
                      <a:r>
                        <a:rPr lang="en-US" sz="1200" b="1" i="0" u="none" strike="noStrike" cap="none">
                          <a:solidFill>
                            <a:srgbClr val="000000"/>
                          </a:solidFill>
                          <a:effectLst/>
                          <a:latin typeface="Montserrat"/>
                          <a:ea typeface="Arial"/>
                          <a:cs typeface="Arial"/>
                          <a:sym typeface="Arial"/>
                        </a:rPr>
                        <a:t>Desired Behavior: </a:t>
                      </a:r>
                      <a:r>
                        <a:rPr lang="en-US" sz="1200" b="0" i="0" u="none" strike="noStrike" cap="none">
                          <a:solidFill>
                            <a:srgbClr val="000000"/>
                          </a:solidFill>
                          <a:effectLst/>
                          <a:latin typeface="Montserrat"/>
                          <a:ea typeface="Arial"/>
                          <a:cs typeface="Arial"/>
                          <a:sym typeface="Arial"/>
                        </a:rPr>
                        <a:t>repeated visits, positive reviews, referrals</a:t>
                      </a:r>
                    </a:p>
                    <a:p>
                      <a:pPr marL="285750" indent="-285750">
                        <a:buFont typeface="Arial" panose="020B0604020202020204" pitchFamily="34" charset="0"/>
                        <a:buChar char="•"/>
                      </a:pPr>
                      <a:r>
                        <a:rPr lang="en-US" sz="1200" b="1" i="0" u="none" strike="noStrike" cap="none">
                          <a:solidFill>
                            <a:srgbClr val="000000"/>
                          </a:solidFill>
                          <a:effectLst/>
                          <a:latin typeface="Montserrat"/>
                          <a:ea typeface="Arial"/>
                          <a:cs typeface="Arial"/>
                          <a:sym typeface="Arial"/>
                        </a:rPr>
                        <a:t>Customer </a:t>
                      </a:r>
                      <a:r>
                        <a:rPr lang="en-US" sz="1200" b="1" i="0" u="none" strike="noStrike" cap="none" err="1">
                          <a:solidFill>
                            <a:srgbClr val="000000"/>
                          </a:solidFill>
                          <a:effectLst/>
                          <a:latin typeface="Montserrat"/>
                          <a:ea typeface="Arial"/>
                          <a:cs typeface="Arial"/>
                          <a:sym typeface="Arial"/>
                        </a:rPr>
                        <a:t>Reqs</a:t>
                      </a:r>
                      <a:r>
                        <a:rPr lang="en-US" sz="1200" b="1" i="0" u="none" strike="noStrike" cap="none">
                          <a:solidFill>
                            <a:srgbClr val="000000"/>
                          </a:solidFill>
                          <a:effectLst/>
                          <a:latin typeface="Montserrat"/>
                          <a:ea typeface="Arial"/>
                          <a:cs typeface="Arial"/>
                          <a:sym typeface="Arial"/>
                        </a:rPr>
                        <a:t>: </a:t>
                      </a:r>
                      <a:r>
                        <a:rPr lang="en-US" sz="1200" b="0" i="0" u="none" strike="noStrike" cap="none">
                          <a:solidFill>
                            <a:srgbClr val="000000"/>
                          </a:solidFill>
                          <a:effectLst/>
                          <a:latin typeface="Montserrat"/>
                          <a:ea typeface="Arial"/>
                          <a:cs typeface="Arial"/>
                          <a:sym typeface="Arial"/>
                        </a:rPr>
                        <a:t>clean pods, quiet environment, easy booking, affordable price</a:t>
                      </a:r>
                    </a:p>
                    <a:p>
                      <a:pPr marL="285750" indent="-285750" fontAlgn="t">
                        <a:buFont typeface="Arial" panose="020B0604020202020204" pitchFamily="34" charset="0"/>
                        <a:buChar char="•"/>
                      </a:pPr>
                      <a:endParaRPr lang="en-US" sz="1200">
                        <a:effectLst/>
                        <a:latin typeface="Montserrat"/>
                      </a:endParaRPr>
                    </a:p>
                  </a:txBody>
                  <a:tcP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tcPr>
                </a:tc>
                <a:extLst>
                  <a:ext uri="{0D108BD9-81ED-4DB2-BD59-A6C34878D82A}">
                    <a16:rowId xmlns:a16="http://schemas.microsoft.com/office/drawing/2014/main" val="2587941638"/>
                  </a:ext>
                </a:extLst>
              </a:tr>
            </a:tbl>
          </a:graphicData>
        </a:graphic>
      </p:graphicFrame>
    </p:spTree>
    <p:extLst>
      <p:ext uri="{BB962C8B-B14F-4D97-AF65-F5344CB8AC3E}">
        <p14:creationId xmlns:p14="http://schemas.microsoft.com/office/powerpoint/2010/main" val="11752723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45">
          <a:extLst>
            <a:ext uri="{FF2B5EF4-FFF2-40B4-BE49-F238E27FC236}">
              <a16:creationId xmlns:a16="http://schemas.microsoft.com/office/drawing/2014/main" id="{302C7819-C77D-56C0-4587-C29F7F874D9D}"/>
            </a:ext>
          </a:extLst>
        </p:cNvPr>
        <p:cNvGrpSpPr/>
        <p:nvPr/>
      </p:nvGrpSpPr>
      <p:grpSpPr>
        <a:xfrm>
          <a:off x="0" y="0"/>
          <a:ext cx="0" cy="0"/>
          <a:chOff x="0" y="0"/>
          <a:chExt cx="0" cy="0"/>
        </a:xfrm>
      </p:grpSpPr>
      <p:sp>
        <p:nvSpPr>
          <p:cNvPr id="7" name="Flowchart: Process 6">
            <a:extLst>
              <a:ext uri="{FF2B5EF4-FFF2-40B4-BE49-F238E27FC236}">
                <a16:creationId xmlns:a16="http://schemas.microsoft.com/office/drawing/2014/main" id="{E609547E-017D-F180-CE37-FD59DE6A4B60}"/>
              </a:ext>
            </a:extLst>
          </p:cNvPr>
          <p:cNvSpPr/>
          <p:nvPr/>
        </p:nvSpPr>
        <p:spPr>
          <a:xfrm>
            <a:off x="4471171" y="2638542"/>
            <a:ext cx="4431293" cy="2193351"/>
          </a:xfrm>
          <a:prstGeom prst="flowChartProcess">
            <a:avLst/>
          </a:prstGeom>
          <a:solidFill>
            <a:srgbClr val="D3E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lowchart: Process 5">
            <a:extLst>
              <a:ext uri="{FF2B5EF4-FFF2-40B4-BE49-F238E27FC236}">
                <a16:creationId xmlns:a16="http://schemas.microsoft.com/office/drawing/2014/main" id="{66CE3A35-41F6-EDC6-C26C-5BD1533CEC43}"/>
              </a:ext>
            </a:extLst>
          </p:cNvPr>
          <p:cNvSpPr/>
          <p:nvPr/>
        </p:nvSpPr>
        <p:spPr>
          <a:xfrm>
            <a:off x="173935" y="1199610"/>
            <a:ext cx="4261631" cy="2068335"/>
          </a:xfrm>
          <a:prstGeom prst="flowChartProcess">
            <a:avLst/>
          </a:prstGeom>
          <a:solidFill>
            <a:srgbClr val="D3E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Google Shape;547;p65">
            <a:extLst>
              <a:ext uri="{FF2B5EF4-FFF2-40B4-BE49-F238E27FC236}">
                <a16:creationId xmlns:a16="http://schemas.microsoft.com/office/drawing/2014/main" id="{C918B695-B6D8-2109-ED30-0012AAD0E4FE}"/>
              </a:ext>
            </a:extLst>
          </p:cNvPr>
          <p:cNvSpPr txBox="1">
            <a:spLocks/>
          </p:cNvSpPr>
          <p:nvPr/>
        </p:nvSpPr>
        <p:spPr>
          <a:xfrm>
            <a:off x="984230" y="663569"/>
            <a:ext cx="6954862" cy="48062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Vidaloka"/>
              <a:buNone/>
              <a:defRPr sz="3000" b="0" i="0" u="none" strike="noStrike" cap="none">
                <a:solidFill>
                  <a:schemeClr val="dk1"/>
                </a:solidFill>
                <a:latin typeface="Vidaloka"/>
                <a:ea typeface="Vidaloka"/>
                <a:cs typeface="Vidaloka"/>
                <a:sym typeface="Vidaloka"/>
              </a:defRPr>
            </a:lvl1pPr>
            <a:lvl2pPr marR="0" lvl="1"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3000"/>
              <a:buFont typeface="Arial"/>
              <a:buNone/>
              <a:defRPr sz="3000" b="0" i="1" u="none" strike="noStrike" cap="none">
                <a:solidFill>
                  <a:schemeClr val="dk1"/>
                </a:solidFill>
                <a:latin typeface="Arial"/>
                <a:ea typeface="Arial"/>
                <a:cs typeface="Arial"/>
                <a:sym typeface="Arial"/>
              </a:defRPr>
            </a:lvl9pPr>
          </a:lstStyle>
          <a:p>
            <a:pPr algn="ctr"/>
            <a:r>
              <a:rPr lang="en-US" sz="2800"/>
              <a:t>Measurement Charts </a:t>
            </a:r>
            <a:endParaRPr lang="en-US"/>
          </a:p>
        </p:txBody>
      </p:sp>
      <p:pic>
        <p:nvPicPr>
          <p:cNvPr id="1032" name="Picture 8">
            <a:extLst>
              <a:ext uri="{FF2B5EF4-FFF2-40B4-BE49-F238E27FC236}">
                <a16:creationId xmlns:a16="http://schemas.microsoft.com/office/drawing/2014/main" id="{FB3CCB73-BFA3-A447-9FD5-15E4F1C776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648" y="1280160"/>
            <a:ext cx="4126958" cy="192455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5A2223A4-664B-58D9-CA83-1E4166F099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884" r="1815"/>
          <a:stretch>
            <a:fillRect/>
          </a:stretch>
        </p:blipFill>
        <p:spPr bwMode="auto">
          <a:xfrm>
            <a:off x="4569539" y="2718054"/>
            <a:ext cx="4262021" cy="2042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68437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72">
          <a:extLst>
            <a:ext uri="{FF2B5EF4-FFF2-40B4-BE49-F238E27FC236}">
              <a16:creationId xmlns:a16="http://schemas.microsoft.com/office/drawing/2014/main" id="{E267A585-90F7-7D21-339B-063BB7991B89}"/>
            </a:ext>
          </a:extLst>
        </p:cNvPr>
        <p:cNvGrpSpPr/>
        <p:nvPr/>
      </p:nvGrpSpPr>
      <p:grpSpPr>
        <a:xfrm>
          <a:off x="0" y="0"/>
          <a:ext cx="0" cy="0"/>
          <a:chOff x="0" y="0"/>
          <a:chExt cx="0" cy="0"/>
        </a:xfrm>
      </p:grpSpPr>
      <p:sp>
        <p:nvSpPr>
          <p:cNvPr id="673" name="Google Shape;673;p79">
            <a:extLst>
              <a:ext uri="{FF2B5EF4-FFF2-40B4-BE49-F238E27FC236}">
                <a16:creationId xmlns:a16="http://schemas.microsoft.com/office/drawing/2014/main" id="{3F23907C-35D5-C2C3-82CC-599024AC7073}"/>
              </a:ext>
            </a:extLst>
          </p:cNvPr>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algn="ctr"/>
            <a:r>
              <a:rPr lang="en"/>
              <a:t>Rationale on the Sale of the Business</a:t>
            </a:r>
            <a:endParaRPr lang="en-US"/>
          </a:p>
        </p:txBody>
      </p:sp>
      <p:sp>
        <p:nvSpPr>
          <p:cNvPr id="2" name="Flowchart: Process 1">
            <a:extLst>
              <a:ext uri="{FF2B5EF4-FFF2-40B4-BE49-F238E27FC236}">
                <a16:creationId xmlns:a16="http://schemas.microsoft.com/office/drawing/2014/main" id="{AD94E5D1-44FD-2705-B6EF-3061E802FF86}"/>
              </a:ext>
            </a:extLst>
          </p:cNvPr>
          <p:cNvSpPr/>
          <p:nvPr/>
        </p:nvSpPr>
        <p:spPr>
          <a:xfrm>
            <a:off x="440909" y="1552926"/>
            <a:ext cx="8262131" cy="3145549"/>
          </a:xfrm>
          <a:prstGeom prst="flowChartProcess">
            <a:avLst/>
          </a:prstGeom>
          <a:solidFill>
            <a:srgbClr val="D3E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Google Shape;676;p79">
            <a:extLst>
              <a:ext uri="{FF2B5EF4-FFF2-40B4-BE49-F238E27FC236}">
                <a16:creationId xmlns:a16="http://schemas.microsoft.com/office/drawing/2014/main" id="{59012757-0815-04E2-5CD3-C5B0E8F344A7}"/>
              </a:ext>
            </a:extLst>
          </p:cNvPr>
          <p:cNvSpPr txBox="1"/>
          <p:nvPr/>
        </p:nvSpPr>
        <p:spPr>
          <a:xfrm>
            <a:off x="440909" y="1150925"/>
            <a:ext cx="5826191" cy="268800"/>
          </a:xfrm>
          <a:prstGeom prst="rect">
            <a:avLst/>
          </a:prstGeom>
          <a:noFill/>
          <a:ln>
            <a:noFill/>
          </a:ln>
        </p:spPr>
        <p:txBody>
          <a:bodyPr spcFirstLastPara="1" wrap="square" lIns="91425" tIns="91425" rIns="91425" bIns="91425" anchor="ctr" anchorCtr="0">
            <a:noAutofit/>
          </a:bodyPr>
          <a:lstStyle/>
          <a:p>
            <a:r>
              <a:rPr lang="en" sz="2400">
                <a:solidFill>
                  <a:schemeClr val="dk1"/>
                </a:solidFill>
                <a:latin typeface="Vidaloka"/>
                <a:sym typeface="Vidaloka"/>
              </a:rPr>
              <a:t>Recommendation to Sell: No</a:t>
            </a:r>
            <a:endParaRPr lang="en" sz="2400">
              <a:solidFill>
                <a:schemeClr val="dk1"/>
              </a:solidFill>
              <a:latin typeface="Vidaloka"/>
            </a:endParaRPr>
          </a:p>
        </p:txBody>
      </p:sp>
      <p:sp>
        <p:nvSpPr>
          <p:cNvPr id="4" name="Google Shape;674;p79">
            <a:extLst>
              <a:ext uri="{FF2B5EF4-FFF2-40B4-BE49-F238E27FC236}">
                <a16:creationId xmlns:a16="http://schemas.microsoft.com/office/drawing/2014/main" id="{D52A6C5E-45A4-9AAA-9499-66D03C23B8A7}"/>
              </a:ext>
            </a:extLst>
          </p:cNvPr>
          <p:cNvSpPr/>
          <p:nvPr/>
        </p:nvSpPr>
        <p:spPr>
          <a:xfrm>
            <a:off x="576859" y="2949355"/>
            <a:ext cx="7402210" cy="352689"/>
          </a:xfrm>
          <a:prstGeom prst="rect">
            <a:avLst/>
          </a:prstGeom>
          <a:noFill/>
          <a:ln>
            <a:noFill/>
          </a:ln>
        </p:spPr>
        <p:txBody>
          <a:bodyPr spcFirstLastPara="1" wrap="square" lIns="91425" tIns="91425" rIns="91425" bIns="91425" anchor="ctr" anchorCtr="0">
            <a:noAutofit/>
          </a:bodyPr>
          <a:lstStyle/>
          <a:p>
            <a:r>
              <a:rPr lang="en-US" sz="1200" b="1">
                <a:latin typeface="Montserrat"/>
              </a:rPr>
              <a:t>Long-term growth over short-term profit </a:t>
            </a:r>
          </a:p>
          <a:p>
            <a:pPr marL="285750" lvl="1" indent="-285750">
              <a:buFont typeface="Arial" panose="020B0604020202020204" pitchFamily="34" charset="0"/>
              <a:buChar char="•"/>
            </a:pPr>
            <a:r>
              <a:rPr lang="en-US" sz="1200">
                <a:latin typeface="Montserrat"/>
              </a:rPr>
              <a:t>Selling brings immediate financial gain but limits future expansion across more campuses </a:t>
            </a:r>
          </a:p>
          <a:p>
            <a:pPr marL="285750" lvl="1" indent="-285750">
              <a:buFont typeface="Arial" panose="020B0604020202020204" pitchFamily="34" charset="0"/>
              <a:buChar char="•"/>
            </a:pPr>
            <a:r>
              <a:rPr lang="en-US" sz="1200">
                <a:latin typeface="Montserrat"/>
              </a:rPr>
              <a:t>Retaining ownership allows us to scale and increase overall company value over time </a:t>
            </a:r>
          </a:p>
          <a:p>
            <a:pPr marL="285750" lvl="1" indent="-285750">
              <a:buFont typeface="Arial" panose="020B0604020202020204" pitchFamily="34" charset="0"/>
              <a:buChar char="•"/>
            </a:pPr>
            <a:r>
              <a:rPr lang="en-US" sz="1200">
                <a:latin typeface="Montserrat"/>
              </a:rPr>
              <a:t>A one-time payout is less valuable than sustained, long-term growth potential </a:t>
            </a:r>
          </a:p>
          <a:p>
            <a:pPr lvl="1"/>
            <a:endParaRPr lang="en-US" sz="1200">
              <a:latin typeface="Montserrat"/>
            </a:endParaRPr>
          </a:p>
          <a:p>
            <a:r>
              <a:rPr lang="en-US" sz="1200" b="1">
                <a:latin typeface="Montserrat"/>
              </a:rPr>
              <a:t>Responsibility to employees, customers, and partners </a:t>
            </a:r>
          </a:p>
          <a:p>
            <a:pPr marL="285750" lvl="1" indent="-285750">
              <a:buFont typeface="Arial" panose="020B0604020202020204" pitchFamily="34" charset="0"/>
              <a:buChar char="•"/>
            </a:pPr>
            <a:r>
              <a:rPr lang="en-US" sz="1200">
                <a:latin typeface="Montserrat"/>
              </a:rPr>
              <a:t>Selling could create uncertainty for employees and risk job security </a:t>
            </a:r>
          </a:p>
          <a:p>
            <a:pPr marL="285750" lvl="1" indent="-285750">
              <a:buFont typeface="Arial" panose="020B0604020202020204" pitchFamily="34" charset="0"/>
              <a:buChar char="•"/>
            </a:pPr>
            <a:r>
              <a:rPr lang="en-US" sz="1200">
                <a:latin typeface="Montserrat"/>
              </a:rPr>
              <a:t>New ownership may prioritize profits over student well-being and product quality </a:t>
            </a:r>
          </a:p>
          <a:p>
            <a:pPr marL="285750" lvl="1" indent="-285750">
              <a:buFont typeface="Arial" panose="020B0604020202020204" pitchFamily="34" charset="0"/>
              <a:buChar char="•"/>
            </a:pPr>
            <a:r>
              <a:rPr lang="en-US" sz="1200">
                <a:latin typeface="Montserrat"/>
              </a:rPr>
              <a:t>Strong relationships with universities could be weakened or disrupted </a:t>
            </a:r>
          </a:p>
          <a:p>
            <a:pPr lvl="1"/>
            <a:endParaRPr lang="en-US" sz="1200">
              <a:latin typeface="Montserrat"/>
            </a:endParaRPr>
          </a:p>
          <a:p>
            <a:r>
              <a:rPr lang="en-US" sz="1200" b="1">
                <a:latin typeface="Montserrat"/>
              </a:rPr>
              <a:t>Maintaining control and protecting the brand </a:t>
            </a:r>
          </a:p>
          <a:p>
            <a:pPr marL="285750" lvl="1" indent="-285750">
              <a:buFont typeface="Arial" panose="020B0604020202020204" pitchFamily="34" charset="0"/>
              <a:buChar char="•"/>
            </a:pPr>
            <a:r>
              <a:rPr lang="en-US" sz="1200">
                <a:latin typeface="Montserrat"/>
              </a:rPr>
              <a:t>Inexperienced buyers introduce operational and strategic risks </a:t>
            </a:r>
          </a:p>
          <a:p>
            <a:pPr marL="285750" lvl="1" indent="-285750">
              <a:buFont typeface="Arial" panose="020B0604020202020204" pitchFamily="34" charset="0"/>
              <a:buChar char="•"/>
            </a:pPr>
            <a:r>
              <a:rPr lang="en-US" sz="1200">
                <a:latin typeface="Montserrat"/>
              </a:rPr>
              <a:t>Risk losing our mission-driven focus on improving student wellness </a:t>
            </a:r>
          </a:p>
          <a:p>
            <a:pPr marL="285750" lvl="1" indent="-285750">
              <a:buFont typeface="Arial" panose="020B0604020202020204" pitchFamily="34" charset="0"/>
              <a:buChar char="•"/>
            </a:pPr>
            <a:r>
              <a:rPr lang="en-US" sz="1200">
                <a:latin typeface="Montserrat"/>
              </a:rPr>
              <a:t>Keeping control ensures consistency in quality, vision, and long-term success </a:t>
            </a:r>
          </a:p>
        </p:txBody>
      </p:sp>
    </p:spTree>
    <p:extLst>
      <p:ext uri="{BB962C8B-B14F-4D97-AF65-F5344CB8AC3E}">
        <p14:creationId xmlns:p14="http://schemas.microsoft.com/office/powerpoint/2010/main" val="478973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72">
          <a:extLst>
            <a:ext uri="{FF2B5EF4-FFF2-40B4-BE49-F238E27FC236}">
              <a16:creationId xmlns:a16="http://schemas.microsoft.com/office/drawing/2014/main" id="{DE3E4507-FEDF-B584-6C37-D0BA7A7495C5}"/>
            </a:ext>
          </a:extLst>
        </p:cNvPr>
        <p:cNvGrpSpPr/>
        <p:nvPr/>
      </p:nvGrpSpPr>
      <p:grpSpPr>
        <a:xfrm>
          <a:off x="0" y="0"/>
          <a:ext cx="0" cy="0"/>
          <a:chOff x="0" y="0"/>
          <a:chExt cx="0" cy="0"/>
        </a:xfrm>
      </p:grpSpPr>
      <p:sp>
        <p:nvSpPr>
          <p:cNvPr id="13" name="Google Shape;546;p65">
            <a:extLst>
              <a:ext uri="{FF2B5EF4-FFF2-40B4-BE49-F238E27FC236}">
                <a16:creationId xmlns:a16="http://schemas.microsoft.com/office/drawing/2014/main" id="{871944F3-71BE-B354-79B2-CB9E2CBBCDAB}"/>
              </a:ext>
            </a:extLst>
          </p:cNvPr>
          <p:cNvSpPr txBox="1">
            <a:spLocks/>
          </p:cNvSpPr>
          <p:nvPr/>
        </p:nvSpPr>
        <p:spPr>
          <a:xfrm>
            <a:off x="438758" y="931818"/>
            <a:ext cx="1182281" cy="270922"/>
          </a:xfrm>
          <a:prstGeom prst="rect">
            <a:avLst/>
          </a:prstGeom>
          <a:solidFill>
            <a:srgbClr val="D3EE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lgn="ctr">
              <a:buFont typeface="Montserrat"/>
              <a:buNone/>
            </a:pPr>
            <a:endParaRPr lang="en-US" sz="1050">
              <a:solidFill>
                <a:schemeClr val="dk1"/>
              </a:solidFill>
            </a:endParaRPr>
          </a:p>
        </p:txBody>
      </p:sp>
      <p:sp>
        <p:nvSpPr>
          <p:cNvPr id="11" name="Google Shape;546;p65">
            <a:extLst>
              <a:ext uri="{FF2B5EF4-FFF2-40B4-BE49-F238E27FC236}">
                <a16:creationId xmlns:a16="http://schemas.microsoft.com/office/drawing/2014/main" id="{716E39ED-E62B-56EB-CBCC-D9DBECF4064D}"/>
              </a:ext>
            </a:extLst>
          </p:cNvPr>
          <p:cNvSpPr txBox="1">
            <a:spLocks/>
          </p:cNvSpPr>
          <p:nvPr/>
        </p:nvSpPr>
        <p:spPr>
          <a:xfrm>
            <a:off x="6006419" y="2360569"/>
            <a:ext cx="1887724" cy="275386"/>
          </a:xfrm>
          <a:prstGeom prst="rect">
            <a:avLst/>
          </a:prstGeom>
          <a:solidFill>
            <a:srgbClr val="D3EE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lgn="ctr">
              <a:buFont typeface="Montserrat"/>
              <a:buNone/>
            </a:pPr>
            <a:endParaRPr lang="en-US" sz="1050">
              <a:solidFill>
                <a:schemeClr val="dk1"/>
              </a:solidFill>
            </a:endParaRPr>
          </a:p>
        </p:txBody>
      </p:sp>
      <p:sp>
        <p:nvSpPr>
          <p:cNvPr id="7" name="Google Shape;546;p65">
            <a:extLst>
              <a:ext uri="{FF2B5EF4-FFF2-40B4-BE49-F238E27FC236}">
                <a16:creationId xmlns:a16="http://schemas.microsoft.com/office/drawing/2014/main" id="{309D2F89-4BF4-05E8-6B49-9E801AF9CFE0}"/>
              </a:ext>
            </a:extLst>
          </p:cNvPr>
          <p:cNvSpPr txBox="1">
            <a:spLocks/>
          </p:cNvSpPr>
          <p:nvPr/>
        </p:nvSpPr>
        <p:spPr>
          <a:xfrm>
            <a:off x="456022" y="1685782"/>
            <a:ext cx="1584116" cy="270922"/>
          </a:xfrm>
          <a:prstGeom prst="rect">
            <a:avLst/>
          </a:prstGeom>
          <a:solidFill>
            <a:srgbClr val="D3EEFF"/>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accent1"/>
              </a:buClr>
              <a:buSzPts val="1400"/>
              <a:buFont typeface="Montserrat"/>
              <a:buChar char="●"/>
              <a:defRPr sz="1400" b="0" i="0" u="none" strike="noStrike" cap="none">
                <a:solidFill>
                  <a:schemeClr val="dk2"/>
                </a:solidFill>
                <a:latin typeface="Montserrat"/>
                <a:ea typeface="Montserrat"/>
                <a:cs typeface="Montserrat"/>
                <a:sym typeface="Montserrat"/>
              </a:defRPr>
            </a:lvl1pPr>
            <a:lvl2pPr marL="914400" marR="0" lvl="1"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2pPr>
            <a:lvl3pPr marL="1371600" marR="0" lvl="2"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3pPr>
            <a:lvl4pPr marL="1828800" marR="0" lvl="3"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4pPr>
            <a:lvl5pPr marL="2286000" marR="0" lvl="4"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5pPr>
            <a:lvl6pPr marL="2743200" marR="0" lvl="5"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6pPr>
            <a:lvl7pPr marL="3200400" marR="0" lvl="6"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7pPr>
            <a:lvl8pPr marL="3657600" marR="0" lvl="7"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8pPr>
            <a:lvl9pPr marL="4114800" marR="0" lvl="8" indent="-317500" algn="ctr" rtl="0">
              <a:lnSpc>
                <a:spcPct val="115000"/>
              </a:lnSpc>
              <a:spcBef>
                <a:spcPts val="0"/>
              </a:spcBef>
              <a:spcAft>
                <a:spcPts val="0"/>
              </a:spcAft>
              <a:buClr>
                <a:schemeClr val="dk2"/>
              </a:buClr>
              <a:buSzPts val="1400"/>
              <a:buFont typeface="Montserrat"/>
              <a:buChar char="■"/>
              <a:defRPr sz="1400" b="0" i="0" u="none" strike="noStrike" cap="none">
                <a:solidFill>
                  <a:schemeClr val="dk2"/>
                </a:solidFill>
                <a:latin typeface="Montserrat"/>
                <a:ea typeface="Montserrat"/>
                <a:cs typeface="Montserrat"/>
                <a:sym typeface="Montserrat"/>
              </a:defRPr>
            </a:lvl9pPr>
          </a:lstStyle>
          <a:p>
            <a:pPr marL="114300" indent="0" algn="ctr">
              <a:buFont typeface="Montserrat"/>
              <a:buNone/>
            </a:pPr>
            <a:endParaRPr lang="en-US" sz="1050">
              <a:solidFill>
                <a:schemeClr val="dk1"/>
              </a:solidFill>
            </a:endParaRPr>
          </a:p>
        </p:txBody>
      </p:sp>
      <p:sp>
        <p:nvSpPr>
          <p:cNvPr id="673" name="Google Shape;673;p79">
            <a:extLst>
              <a:ext uri="{FF2B5EF4-FFF2-40B4-BE49-F238E27FC236}">
                <a16:creationId xmlns:a16="http://schemas.microsoft.com/office/drawing/2014/main" id="{27D4385E-AE58-2016-DC05-2CE42DC04BE1}"/>
              </a:ext>
            </a:extLst>
          </p:cNvPr>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algn="ctr"/>
            <a:r>
              <a:rPr lang="en" sz="2700"/>
              <a:t>Improvement Initiative </a:t>
            </a:r>
            <a:endParaRPr lang="en-US" sz="2700"/>
          </a:p>
        </p:txBody>
      </p:sp>
      <p:sp>
        <p:nvSpPr>
          <p:cNvPr id="676" name="Google Shape;676;p79">
            <a:extLst>
              <a:ext uri="{FF2B5EF4-FFF2-40B4-BE49-F238E27FC236}">
                <a16:creationId xmlns:a16="http://schemas.microsoft.com/office/drawing/2014/main" id="{3A22D365-CF66-B816-6CA5-A1694C08E738}"/>
              </a:ext>
            </a:extLst>
          </p:cNvPr>
          <p:cNvSpPr txBox="1"/>
          <p:nvPr/>
        </p:nvSpPr>
        <p:spPr>
          <a:xfrm>
            <a:off x="440934" y="912156"/>
            <a:ext cx="5826191" cy="268800"/>
          </a:xfrm>
          <a:prstGeom prst="rect">
            <a:avLst/>
          </a:prstGeom>
          <a:noFill/>
          <a:ln>
            <a:noFill/>
          </a:ln>
        </p:spPr>
        <p:txBody>
          <a:bodyPr spcFirstLastPara="1" wrap="square" lIns="91425" tIns="91425" rIns="91425" bIns="91425" anchor="ctr" anchorCtr="0">
            <a:noAutofit/>
          </a:bodyPr>
          <a:lstStyle/>
          <a:p>
            <a:r>
              <a:rPr lang="en" sz="1800" b="1">
                <a:solidFill>
                  <a:schemeClr val="dk1"/>
                </a:solidFill>
                <a:latin typeface="Vidaloka"/>
                <a:sym typeface="Vidaloka"/>
              </a:rPr>
              <a:t>Objective</a:t>
            </a:r>
            <a:r>
              <a:rPr lang="en" sz="2000" b="1">
                <a:solidFill>
                  <a:schemeClr val="dk1"/>
                </a:solidFill>
                <a:latin typeface="Vidaloka"/>
                <a:sym typeface="Vidaloka"/>
              </a:rPr>
              <a:t>: </a:t>
            </a:r>
          </a:p>
        </p:txBody>
      </p:sp>
      <p:sp>
        <p:nvSpPr>
          <p:cNvPr id="2" name="Google Shape;676;p79">
            <a:extLst>
              <a:ext uri="{FF2B5EF4-FFF2-40B4-BE49-F238E27FC236}">
                <a16:creationId xmlns:a16="http://schemas.microsoft.com/office/drawing/2014/main" id="{705AAAC9-C964-97E6-970B-CBE04CBA6FD7}"/>
              </a:ext>
            </a:extLst>
          </p:cNvPr>
          <p:cNvSpPr txBox="1"/>
          <p:nvPr/>
        </p:nvSpPr>
        <p:spPr>
          <a:xfrm>
            <a:off x="871695" y="1303144"/>
            <a:ext cx="7105913" cy="268800"/>
          </a:xfrm>
          <a:prstGeom prst="rect">
            <a:avLst/>
          </a:prstGeom>
          <a:noFill/>
          <a:ln>
            <a:noFill/>
          </a:ln>
        </p:spPr>
        <p:txBody>
          <a:bodyPr spcFirstLastPara="1" wrap="square" lIns="91425" tIns="91425" rIns="91425" bIns="91425" anchor="ctr" anchorCtr="0">
            <a:noAutofit/>
          </a:bodyPr>
          <a:lstStyle/>
          <a:p>
            <a:pPr algn="ctr"/>
            <a:r>
              <a:rPr lang="en" sz="1600">
                <a:solidFill>
                  <a:schemeClr val="dk1"/>
                </a:solidFill>
                <a:latin typeface="Vidaloka"/>
                <a:sym typeface="Vidaloka"/>
              </a:rPr>
              <a:t>Increase customer retention from 60% </a:t>
            </a:r>
            <a:r>
              <a:rPr lang="en" sz="1600">
                <a:solidFill>
                  <a:schemeClr val="dk1"/>
                </a:solidFill>
                <a:latin typeface="Vidaloka"/>
                <a:sym typeface="Wingdings" panose="05000000000000000000" pitchFamily="2" charset="2"/>
              </a:rPr>
              <a:t> 70% within 6 months by enhancing service effectiveness </a:t>
            </a:r>
            <a:endParaRPr lang="en" sz="1600">
              <a:solidFill>
                <a:schemeClr val="dk1"/>
              </a:solidFill>
              <a:latin typeface="Vidaloka"/>
              <a:sym typeface="Vidaloka"/>
            </a:endParaRPr>
          </a:p>
        </p:txBody>
      </p:sp>
      <p:sp>
        <p:nvSpPr>
          <p:cNvPr id="3" name="Google Shape;676;p79">
            <a:extLst>
              <a:ext uri="{FF2B5EF4-FFF2-40B4-BE49-F238E27FC236}">
                <a16:creationId xmlns:a16="http://schemas.microsoft.com/office/drawing/2014/main" id="{CBE13404-6A8A-2441-CC53-83A84D4EADB2}"/>
              </a:ext>
            </a:extLst>
          </p:cNvPr>
          <p:cNvSpPr txBox="1"/>
          <p:nvPr/>
        </p:nvSpPr>
        <p:spPr>
          <a:xfrm>
            <a:off x="440934" y="1680224"/>
            <a:ext cx="5826191" cy="268800"/>
          </a:xfrm>
          <a:prstGeom prst="rect">
            <a:avLst/>
          </a:prstGeom>
          <a:noFill/>
          <a:ln>
            <a:noFill/>
          </a:ln>
        </p:spPr>
        <p:txBody>
          <a:bodyPr spcFirstLastPara="1" wrap="square" lIns="91425" tIns="91425" rIns="91425" bIns="91425" anchor="ctr" anchorCtr="0">
            <a:noAutofit/>
          </a:bodyPr>
          <a:lstStyle/>
          <a:p>
            <a:r>
              <a:rPr lang="en" sz="1800" b="1">
                <a:solidFill>
                  <a:schemeClr val="dk1"/>
                </a:solidFill>
                <a:latin typeface="Vidaloka"/>
                <a:sym typeface="Vidaloka"/>
              </a:rPr>
              <a:t>Key Initiative: </a:t>
            </a:r>
          </a:p>
        </p:txBody>
      </p:sp>
      <p:sp>
        <p:nvSpPr>
          <p:cNvPr id="4" name="Google Shape;676;p79">
            <a:extLst>
              <a:ext uri="{FF2B5EF4-FFF2-40B4-BE49-F238E27FC236}">
                <a16:creationId xmlns:a16="http://schemas.microsoft.com/office/drawing/2014/main" id="{17AEFFB6-D5A4-A71F-D5AC-0DA68592214C}"/>
              </a:ext>
            </a:extLst>
          </p:cNvPr>
          <p:cNvSpPr txBox="1"/>
          <p:nvPr/>
        </p:nvSpPr>
        <p:spPr>
          <a:xfrm>
            <a:off x="474484" y="3127314"/>
            <a:ext cx="7105913" cy="268800"/>
          </a:xfrm>
          <a:prstGeom prst="rect">
            <a:avLst/>
          </a:prstGeom>
          <a:noFill/>
          <a:ln>
            <a:noFill/>
          </a:ln>
        </p:spPr>
        <p:txBody>
          <a:bodyPr spcFirstLastPara="1" wrap="square" lIns="91425" tIns="91425" rIns="91425" bIns="91425" anchor="ctr" anchorCtr="0">
            <a:noAutofit/>
          </a:bodyPr>
          <a:lstStyle/>
          <a:p>
            <a:r>
              <a:rPr lang="en">
                <a:solidFill>
                  <a:schemeClr val="dk1"/>
                </a:solidFill>
                <a:latin typeface="Montserrat"/>
                <a:sym typeface="Vidaloka"/>
              </a:rPr>
              <a:t>Improve booking experience </a:t>
            </a:r>
            <a:endParaRPr lang="en">
              <a:solidFill>
                <a:schemeClr val="dk1"/>
              </a:solidFill>
              <a:latin typeface="Montserrat"/>
            </a:endParaRPr>
          </a:p>
          <a:p>
            <a:pPr marL="285750" indent="-285750">
              <a:buFont typeface="Arial" panose="020B0604020202020204" pitchFamily="34" charset="0"/>
              <a:buChar char="•"/>
            </a:pPr>
            <a:r>
              <a:rPr lang="en">
                <a:solidFill>
                  <a:schemeClr val="dk1"/>
                </a:solidFill>
                <a:latin typeface="Montserrat"/>
                <a:sym typeface="Vidaloka"/>
              </a:rPr>
              <a:t>Personalized booking reminders </a:t>
            </a:r>
            <a:endParaRPr lang="en">
              <a:solidFill>
                <a:schemeClr val="dk1"/>
              </a:solidFill>
              <a:latin typeface="Montserrat"/>
            </a:endParaRPr>
          </a:p>
          <a:p>
            <a:pPr marL="285750" indent="-285750">
              <a:buFont typeface="Arial" panose="020B0604020202020204" pitchFamily="34" charset="0"/>
              <a:buChar char="•"/>
            </a:pPr>
            <a:r>
              <a:rPr lang="en">
                <a:solidFill>
                  <a:schemeClr val="dk1"/>
                </a:solidFill>
                <a:latin typeface="Montserrat"/>
                <a:sym typeface="Vidaloka"/>
              </a:rPr>
              <a:t>Faster, more user-friendly system </a:t>
            </a:r>
            <a:endParaRPr lang="en">
              <a:solidFill>
                <a:schemeClr val="dk1"/>
              </a:solidFill>
              <a:latin typeface="Montserrat"/>
            </a:endParaRPr>
          </a:p>
          <a:p>
            <a:r>
              <a:rPr lang="en">
                <a:solidFill>
                  <a:schemeClr val="dk1"/>
                </a:solidFill>
                <a:latin typeface="Montserrat"/>
                <a:sym typeface="Vidaloka"/>
              </a:rPr>
              <a:t>Enhance service efficiency </a:t>
            </a:r>
            <a:endParaRPr lang="en">
              <a:solidFill>
                <a:schemeClr val="dk1"/>
              </a:solidFill>
              <a:latin typeface="Montserrat"/>
            </a:endParaRPr>
          </a:p>
          <a:p>
            <a:pPr marL="285750" indent="-285750">
              <a:buFont typeface="Arial" panose="020B0604020202020204" pitchFamily="34" charset="0"/>
              <a:buChar char="•"/>
            </a:pPr>
            <a:r>
              <a:rPr lang="en">
                <a:solidFill>
                  <a:schemeClr val="dk1"/>
                </a:solidFill>
                <a:latin typeface="Montserrat"/>
                <a:sym typeface="Vidaloka"/>
              </a:rPr>
              <a:t>Streamlined check-in and pod assignment </a:t>
            </a:r>
            <a:endParaRPr lang="en">
              <a:solidFill>
                <a:schemeClr val="dk1"/>
              </a:solidFill>
              <a:latin typeface="Montserrat"/>
            </a:endParaRPr>
          </a:p>
          <a:p>
            <a:pPr marL="285750" indent="-285750">
              <a:buFont typeface="Arial" panose="020B0604020202020204" pitchFamily="34" charset="0"/>
              <a:buChar char="•"/>
            </a:pPr>
            <a:r>
              <a:rPr lang="en-US">
                <a:solidFill>
                  <a:schemeClr val="dk1"/>
                </a:solidFill>
                <a:latin typeface="Montserrat"/>
                <a:sym typeface="Vidaloka"/>
              </a:rPr>
              <a:t>R</a:t>
            </a:r>
            <a:r>
              <a:rPr lang="en">
                <a:solidFill>
                  <a:schemeClr val="dk1"/>
                </a:solidFill>
                <a:latin typeface="Montserrat"/>
                <a:sym typeface="Vidaloka"/>
              </a:rPr>
              <a:t>educed wait times and improved session flow </a:t>
            </a:r>
            <a:endParaRPr lang="en">
              <a:solidFill>
                <a:schemeClr val="dk1"/>
              </a:solidFill>
              <a:latin typeface="Montserrat"/>
            </a:endParaRPr>
          </a:p>
          <a:p>
            <a:r>
              <a:rPr lang="en">
                <a:solidFill>
                  <a:schemeClr val="dk1"/>
                </a:solidFill>
                <a:latin typeface="Montserrat"/>
                <a:sym typeface="Vidaloka"/>
              </a:rPr>
              <a:t>Increase customer value </a:t>
            </a:r>
            <a:endParaRPr lang="en">
              <a:solidFill>
                <a:schemeClr val="dk1"/>
              </a:solidFill>
              <a:latin typeface="Montserrat"/>
            </a:endParaRPr>
          </a:p>
          <a:p>
            <a:pPr marL="285750" indent="-285750">
              <a:buFont typeface="Arial" panose="020B0604020202020204" pitchFamily="34" charset="0"/>
              <a:buChar char="•"/>
            </a:pPr>
            <a:r>
              <a:rPr lang="en">
                <a:solidFill>
                  <a:schemeClr val="dk1"/>
                </a:solidFill>
                <a:latin typeface="Montserrat"/>
                <a:sym typeface="Vidaloka"/>
              </a:rPr>
              <a:t>Bonus incentive: +30 minutes after every 5 sessions </a:t>
            </a:r>
            <a:endParaRPr lang="en">
              <a:solidFill>
                <a:schemeClr val="dk1"/>
              </a:solidFill>
              <a:latin typeface="Montserrat"/>
            </a:endParaRPr>
          </a:p>
          <a:p>
            <a:pPr marL="285750" lvl="2" indent="-285750">
              <a:buFont typeface="Arial" panose="020B0604020202020204" pitchFamily="34" charset="0"/>
              <a:buChar char="•"/>
            </a:pPr>
            <a:r>
              <a:rPr lang="en">
                <a:solidFill>
                  <a:schemeClr val="dk1"/>
                </a:solidFill>
                <a:latin typeface="Montserrat"/>
                <a:sym typeface="Vidaloka"/>
              </a:rPr>
              <a:t>Encourages repat usage </a:t>
            </a:r>
            <a:endParaRPr lang="en">
              <a:solidFill>
                <a:schemeClr val="dk1"/>
              </a:solidFill>
              <a:latin typeface="Montserrat"/>
            </a:endParaRPr>
          </a:p>
          <a:p>
            <a:pPr lvl="2"/>
            <a:r>
              <a:rPr lang="en">
                <a:solidFill>
                  <a:schemeClr val="dk1"/>
                </a:solidFill>
                <a:latin typeface="Montserrat"/>
                <a:sym typeface="Vidaloka"/>
              </a:rPr>
              <a:t>Elevate Service Quality </a:t>
            </a:r>
            <a:endParaRPr lang="en">
              <a:solidFill>
                <a:schemeClr val="dk1"/>
              </a:solidFill>
              <a:latin typeface="Montserrat"/>
            </a:endParaRPr>
          </a:p>
          <a:p>
            <a:pPr marL="285750" lvl="2" indent="-285750">
              <a:buFont typeface="Arial" panose="020B0604020202020204" pitchFamily="34" charset="0"/>
              <a:buChar char="•"/>
            </a:pPr>
            <a:r>
              <a:rPr lang="en">
                <a:solidFill>
                  <a:schemeClr val="dk1"/>
                </a:solidFill>
                <a:latin typeface="Montserrat"/>
                <a:sym typeface="Vidaloka"/>
              </a:rPr>
              <a:t>Staff training for better customer interactions </a:t>
            </a:r>
            <a:endParaRPr lang="en">
              <a:solidFill>
                <a:schemeClr val="dk1"/>
              </a:solidFill>
              <a:latin typeface="Montserrat"/>
            </a:endParaRPr>
          </a:p>
          <a:p>
            <a:pPr marL="285750" lvl="2" indent="-285750">
              <a:buFont typeface="Arial" panose="020B0604020202020204" pitchFamily="34" charset="0"/>
              <a:buChar char="•"/>
            </a:pPr>
            <a:r>
              <a:rPr lang="en">
                <a:solidFill>
                  <a:schemeClr val="dk1"/>
                </a:solidFill>
                <a:latin typeface="Montserrat"/>
                <a:sym typeface="Vidaloka"/>
              </a:rPr>
              <a:t>Consistent cleaning and preparation standards </a:t>
            </a:r>
            <a:endParaRPr lang="en">
              <a:solidFill>
                <a:schemeClr val="dk1"/>
              </a:solidFill>
              <a:latin typeface="Montserrat"/>
            </a:endParaRPr>
          </a:p>
        </p:txBody>
      </p:sp>
      <p:sp>
        <p:nvSpPr>
          <p:cNvPr id="6" name="Google Shape;676;p79">
            <a:extLst>
              <a:ext uri="{FF2B5EF4-FFF2-40B4-BE49-F238E27FC236}">
                <a16:creationId xmlns:a16="http://schemas.microsoft.com/office/drawing/2014/main" id="{ED6E4280-CF29-0A7D-8C22-C72C76E75A26}"/>
              </a:ext>
            </a:extLst>
          </p:cNvPr>
          <p:cNvSpPr txBox="1"/>
          <p:nvPr/>
        </p:nvSpPr>
        <p:spPr>
          <a:xfrm>
            <a:off x="5968464" y="2359246"/>
            <a:ext cx="5826191" cy="268800"/>
          </a:xfrm>
          <a:prstGeom prst="rect">
            <a:avLst/>
          </a:prstGeom>
          <a:noFill/>
          <a:ln>
            <a:noFill/>
          </a:ln>
        </p:spPr>
        <p:txBody>
          <a:bodyPr spcFirstLastPara="1" wrap="square" lIns="91425" tIns="91425" rIns="91425" bIns="91425" anchor="ctr" anchorCtr="0">
            <a:noAutofit/>
          </a:bodyPr>
          <a:lstStyle/>
          <a:p>
            <a:r>
              <a:rPr lang="en" sz="1800" b="1">
                <a:solidFill>
                  <a:schemeClr val="dk1"/>
                </a:solidFill>
                <a:latin typeface="Vidaloka"/>
                <a:sym typeface="Vidaloka"/>
              </a:rPr>
              <a:t>Expected Impact: </a:t>
            </a:r>
          </a:p>
        </p:txBody>
      </p:sp>
      <p:sp>
        <p:nvSpPr>
          <p:cNvPr id="8" name="TextBox 7">
            <a:extLst>
              <a:ext uri="{FF2B5EF4-FFF2-40B4-BE49-F238E27FC236}">
                <a16:creationId xmlns:a16="http://schemas.microsoft.com/office/drawing/2014/main" id="{D6C997EF-DA7C-FC9B-B4E1-D47EA45B8B42}"/>
              </a:ext>
            </a:extLst>
          </p:cNvPr>
          <p:cNvSpPr txBox="1"/>
          <p:nvPr/>
        </p:nvSpPr>
        <p:spPr>
          <a:xfrm>
            <a:off x="6016795" y="2628046"/>
            <a:ext cx="3127205" cy="1169551"/>
          </a:xfrm>
          <a:prstGeom prst="rect">
            <a:avLst/>
          </a:prstGeom>
          <a:noFill/>
        </p:spPr>
        <p:txBody>
          <a:bodyPr wrap="square" lIns="91440" tIns="45720" rIns="91440" bIns="45720" anchor="t">
            <a:spAutoFit/>
          </a:bodyPr>
          <a:lstStyle/>
          <a:p>
            <a:pPr marL="285750" indent="-285750">
              <a:buFont typeface="Arial" panose="020B0604020202020204" pitchFamily="34" charset="0"/>
              <a:buChar char="•"/>
            </a:pPr>
            <a:r>
              <a:rPr lang="en">
                <a:solidFill>
                  <a:schemeClr val="dk1"/>
                </a:solidFill>
                <a:latin typeface="Montserrat"/>
                <a:sym typeface="Vidaloka"/>
              </a:rPr>
              <a:t>More convenient and reliable experience </a:t>
            </a:r>
            <a:endParaRPr lang="en">
              <a:solidFill>
                <a:schemeClr val="dk1"/>
              </a:solidFill>
              <a:latin typeface="Montserrat"/>
            </a:endParaRPr>
          </a:p>
          <a:p>
            <a:pPr marL="285750" indent="-285750">
              <a:buFont typeface="Arial" panose="020B0604020202020204" pitchFamily="34" charset="0"/>
              <a:buChar char="•"/>
            </a:pPr>
            <a:r>
              <a:rPr lang="en">
                <a:solidFill>
                  <a:schemeClr val="dk1"/>
                </a:solidFill>
                <a:latin typeface="Montserrat"/>
                <a:sym typeface="Vidaloka"/>
              </a:rPr>
              <a:t>Higher customer satisfaction </a:t>
            </a:r>
            <a:endParaRPr lang="en">
              <a:solidFill>
                <a:schemeClr val="dk1"/>
              </a:solidFill>
              <a:latin typeface="Montserrat"/>
            </a:endParaRPr>
          </a:p>
          <a:p>
            <a:pPr marL="285750" indent="-285750">
              <a:buFont typeface="Arial" panose="020B0604020202020204" pitchFamily="34" charset="0"/>
              <a:buChar char="•"/>
            </a:pPr>
            <a:r>
              <a:rPr lang="en">
                <a:solidFill>
                  <a:schemeClr val="dk1"/>
                </a:solidFill>
                <a:latin typeface="Montserrat"/>
                <a:sym typeface="Vidaloka"/>
              </a:rPr>
              <a:t>Increase repeat visits and referrals </a:t>
            </a:r>
            <a:endParaRPr lang="en-US">
              <a:solidFill>
                <a:schemeClr val="dk1"/>
              </a:solidFill>
              <a:latin typeface="Montserrat"/>
            </a:endParaRPr>
          </a:p>
        </p:txBody>
      </p:sp>
      <p:cxnSp>
        <p:nvCxnSpPr>
          <p:cNvPr id="10" name="Straight Arrow Connector 9">
            <a:extLst>
              <a:ext uri="{FF2B5EF4-FFF2-40B4-BE49-F238E27FC236}">
                <a16:creationId xmlns:a16="http://schemas.microsoft.com/office/drawing/2014/main" id="{B8062312-CE2E-7A83-313E-03811CB84161}"/>
              </a:ext>
            </a:extLst>
          </p:cNvPr>
          <p:cNvCxnSpPr>
            <a:cxnSpLocks/>
          </p:cNvCxnSpPr>
          <p:nvPr/>
        </p:nvCxnSpPr>
        <p:spPr>
          <a:xfrm>
            <a:off x="4752906" y="2949702"/>
            <a:ext cx="12557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4584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76"/>
                                        </p:tgtEl>
                                        <p:attrNameLst>
                                          <p:attrName>style.visibility</p:attrName>
                                        </p:attrNameLst>
                                      </p:cBhvr>
                                      <p:to>
                                        <p:strVal val="visible"/>
                                      </p:to>
                                    </p:set>
                                    <p:animEffect transition="in" filter="fade">
                                      <p:cBhvr>
                                        <p:cTn id="10" dur="500"/>
                                        <p:tgtEl>
                                          <p:spTgt spid="67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500"/>
                                        <p:tgtEl>
                                          <p:spTgt spid="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500"/>
                                        <p:tgtEl>
                                          <p:spTgt spid="4"/>
                                        </p:tgtEl>
                                      </p:cBhvr>
                                    </p:animEffect>
                                  </p:childTnLst>
                                </p:cTn>
                              </p:par>
                              <p:par>
                                <p:cTn id="25" presetID="10"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1" grpId="0" animBg="1"/>
      <p:bldP spid="7" grpId="0" animBg="1"/>
      <p:bldP spid="676" grpId="0"/>
      <p:bldP spid="2" grpId="0"/>
      <p:bldP spid="3" grpId="0"/>
      <p:bldP spid="4" grpId="0"/>
      <p:bldP spid="6"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72">
          <a:extLst>
            <a:ext uri="{FF2B5EF4-FFF2-40B4-BE49-F238E27FC236}">
              <a16:creationId xmlns:a16="http://schemas.microsoft.com/office/drawing/2014/main" id="{F63029C6-667F-2DDA-60CE-DCB6A0B4E84C}"/>
            </a:ext>
          </a:extLst>
        </p:cNvPr>
        <p:cNvGrpSpPr/>
        <p:nvPr/>
      </p:nvGrpSpPr>
      <p:grpSpPr>
        <a:xfrm>
          <a:off x="0" y="0"/>
          <a:ext cx="0" cy="0"/>
          <a:chOff x="0" y="0"/>
          <a:chExt cx="0" cy="0"/>
        </a:xfrm>
      </p:grpSpPr>
      <p:sp>
        <p:nvSpPr>
          <p:cNvPr id="673" name="Google Shape;673;p79">
            <a:extLst>
              <a:ext uri="{FF2B5EF4-FFF2-40B4-BE49-F238E27FC236}">
                <a16:creationId xmlns:a16="http://schemas.microsoft.com/office/drawing/2014/main" id="{9ED91C70-36FA-3222-F8A9-3A6E76FD1D39}"/>
              </a:ext>
            </a:extLst>
          </p:cNvPr>
          <p:cNvSpPr txBox="1">
            <a:spLocks noGrp="1"/>
          </p:cNvSpPr>
          <p:nvPr>
            <p:ph type="title"/>
          </p:nvPr>
        </p:nvSpPr>
        <p:spPr>
          <a:xfrm>
            <a:off x="589657" y="498675"/>
            <a:ext cx="7717500" cy="572700"/>
          </a:xfrm>
          <a:prstGeom prst="rect">
            <a:avLst/>
          </a:prstGeom>
        </p:spPr>
        <p:txBody>
          <a:bodyPr spcFirstLastPara="1" wrap="square" lIns="91425" tIns="91425" rIns="91425" bIns="91425" anchor="t" anchorCtr="0">
            <a:noAutofit/>
          </a:bodyPr>
          <a:lstStyle/>
          <a:p>
            <a:pPr algn="ctr"/>
            <a:r>
              <a:rPr lang="en" sz="2700"/>
              <a:t>A Successful Business</a:t>
            </a:r>
            <a:endParaRPr lang="en-US" sz="2700"/>
          </a:p>
        </p:txBody>
      </p:sp>
      <p:sp>
        <p:nvSpPr>
          <p:cNvPr id="9" name="Flowchart: Process 8">
            <a:extLst>
              <a:ext uri="{FF2B5EF4-FFF2-40B4-BE49-F238E27FC236}">
                <a16:creationId xmlns:a16="http://schemas.microsoft.com/office/drawing/2014/main" id="{D4405071-C8A9-F0C2-B2CA-F17ED840401B}"/>
              </a:ext>
            </a:extLst>
          </p:cNvPr>
          <p:cNvSpPr/>
          <p:nvPr/>
        </p:nvSpPr>
        <p:spPr>
          <a:xfrm>
            <a:off x="598587" y="1099042"/>
            <a:ext cx="3463359" cy="3469531"/>
          </a:xfrm>
          <a:prstGeom prst="flowChartProcess">
            <a:avLst/>
          </a:prstGeom>
          <a:solidFill>
            <a:srgbClr val="D3E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Google Shape;676;p79">
            <a:extLst>
              <a:ext uri="{FF2B5EF4-FFF2-40B4-BE49-F238E27FC236}">
                <a16:creationId xmlns:a16="http://schemas.microsoft.com/office/drawing/2014/main" id="{DAA7A061-5F52-EA38-5913-5BD1535F5FBB}"/>
              </a:ext>
            </a:extLst>
          </p:cNvPr>
          <p:cNvSpPr txBox="1"/>
          <p:nvPr/>
        </p:nvSpPr>
        <p:spPr>
          <a:xfrm>
            <a:off x="716559" y="1206495"/>
            <a:ext cx="3345387" cy="3225545"/>
          </a:xfrm>
          <a:prstGeom prst="rect">
            <a:avLst/>
          </a:prstGeom>
          <a:noFill/>
          <a:ln>
            <a:noFill/>
          </a:ln>
        </p:spPr>
        <p:txBody>
          <a:bodyPr spcFirstLastPara="1" wrap="square" lIns="91425" tIns="91425" rIns="91425" bIns="91425" anchor="ctr" anchorCtr="0">
            <a:noAutofit/>
          </a:bodyPr>
          <a:lstStyle/>
          <a:p>
            <a:r>
              <a:rPr lang="en">
                <a:solidFill>
                  <a:schemeClr val="dk1"/>
                </a:solidFill>
                <a:latin typeface="Vidaloka"/>
                <a:sym typeface="Vidaloka"/>
              </a:rPr>
              <a:t>Customer- centered experience </a:t>
            </a:r>
          </a:p>
          <a:p>
            <a:pPr marL="285750" indent="-285750">
              <a:buFont typeface="Arial" panose="020B0604020202020204" pitchFamily="34" charset="0"/>
              <a:buChar char="•"/>
            </a:pPr>
            <a:r>
              <a:rPr lang="en">
                <a:solidFill>
                  <a:schemeClr val="dk1"/>
                </a:solidFill>
                <a:latin typeface="Montserrat"/>
                <a:sym typeface="Vidaloka"/>
              </a:rPr>
              <a:t>Easy booking system and smooth check-in process </a:t>
            </a:r>
            <a:endParaRPr lang="en">
              <a:solidFill>
                <a:schemeClr val="dk1"/>
              </a:solidFill>
              <a:latin typeface="Montserrat"/>
            </a:endParaRPr>
          </a:p>
          <a:p>
            <a:pPr marL="285750" indent="-285750">
              <a:buFont typeface="Arial" panose="020B0604020202020204" pitchFamily="34" charset="0"/>
              <a:buChar char="•"/>
            </a:pPr>
            <a:r>
              <a:rPr lang="en">
                <a:solidFill>
                  <a:schemeClr val="dk1"/>
                </a:solidFill>
                <a:latin typeface="Montserrat"/>
                <a:sym typeface="Vidaloka"/>
              </a:rPr>
              <a:t>Quiet, hygienic pods with consistent service quality </a:t>
            </a:r>
            <a:endParaRPr lang="en">
              <a:solidFill>
                <a:schemeClr val="dk1"/>
              </a:solidFill>
              <a:latin typeface="Montserrat"/>
            </a:endParaRPr>
          </a:p>
          <a:p>
            <a:pPr marL="285750" indent="-285750">
              <a:buFont typeface="Arial" panose="020B0604020202020204" pitchFamily="34" charset="0"/>
              <a:buChar char="•"/>
            </a:pPr>
            <a:r>
              <a:rPr lang="en">
                <a:solidFill>
                  <a:schemeClr val="dk1"/>
                </a:solidFill>
                <a:latin typeface="Montserrat"/>
                <a:sym typeface="Vidaloka"/>
              </a:rPr>
              <a:t>Focus on rested and refreshed outcomes for students </a:t>
            </a:r>
            <a:endParaRPr lang="en">
              <a:solidFill>
                <a:schemeClr val="dk1"/>
              </a:solidFill>
              <a:latin typeface="Montserrat"/>
            </a:endParaRPr>
          </a:p>
          <a:p>
            <a:endParaRPr lang="en">
              <a:solidFill>
                <a:schemeClr val="dk1"/>
              </a:solidFill>
              <a:latin typeface="Montserrat"/>
            </a:endParaRPr>
          </a:p>
          <a:p>
            <a:r>
              <a:rPr lang="en">
                <a:solidFill>
                  <a:schemeClr val="dk1"/>
                </a:solidFill>
                <a:latin typeface="Vidaloka"/>
                <a:sym typeface="Vidaloka"/>
              </a:rPr>
              <a:t>Efficient &amp; Reliable Operations </a:t>
            </a:r>
          </a:p>
          <a:p>
            <a:pPr marL="285750" indent="-285750">
              <a:buFont typeface="Arial" panose="020B0604020202020204" pitchFamily="34" charset="0"/>
              <a:buChar char="•"/>
            </a:pPr>
            <a:r>
              <a:rPr lang="en">
                <a:solidFill>
                  <a:schemeClr val="dk1"/>
                </a:solidFill>
                <a:latin typeface="Montserrat"/>
                <a:sym typeface="Vidaloka"/>
              </a:rPr>
              <a:t>Streamlined </a:t>
            </a:r>
            <a:r>
              <a:rPr lang="en-US">
                <a:solidFill>
                  <a:schemeClr val="dk1"/>
                </a:solidFill>
                <a:latin typeface="Montserrat"/>
                <a:sym typeface="Vidaloka"/>
              </a:rPr>
              <a:t>process from booking </a:t>
            </a:r>
            <a:r>
              <a:rPr lang="en-US">
                <a:solidFill>
                  <a:schemeClr val="dk1"/>
                </a:solidFill>
                <a:latin typeface="Montserrat"/>
                <a:sym typeface="Wingdings" panose="05000000000000000000" pitchFamily="2" charset="2"/>
              </a:rPr>
              <a:t></a:t>
            </a:r>
            <a:r>
              <a:rPr lang="en-US">
                <a:solidFill>
                  <a:schemeClr val="dk1"/>
                </a:solidFill>
                <a:latin typeface="Montserrat"/>
                <a:sym typeface="Vidaloka"/>
              </a:rPr>
              <a:t> check in </a:t>
            </a:r>
            <a:r>
              <a:rPr lang="en-US">
                <a:solidFill>
                  <a:schemeClr val="dk1"/>
                </a:solidFill>
                <a:latin typeface="Montserrat"/>
                <a:sym typeface="Wingdings" panose="05000000000000000000" pitchFamily="2" charset="2"/>
              </a:rPr>
              <a:t> session  reset </a:t>
            </a:r>
            <a:endParaRPr lang="en-US">
              <a:solidFill>
                <a:schemeClr val="dk1"/>
              </a:solidFill>
              <a:latin typeface="Montserrat"/>
            </a:endParaRPr>
          </a:p>
          <a:p>
            <a:pPr marL="285750" indent="-285750">
              <a:buFont typeface="Arial" panose="020B0604020202020204" pitchFamily="34" charset="0"/>
              <a:buChar char="•"/>
            </a:pPr>
            <a:r>
              <a:rPr lang="en-US">
                <a:solidFill>
                  <a:schemeClr val="dk1"/>
                </a:solidFill>
                <a:latin typeface="Montserrat"/>
                <a:sym typeface="Wingdings" panose="05000000000000000000" pitchFamily="2" charset="2"/>
              </a:rPr>
              <a:t>Well-maintained pods and standardized cleaning procedures </a:t>
            </a:r>
            <a:endParaRPr lang="en-US">
              <a:solidFill>
                <a:schemeClr val="dk1"/>
              </a:solidFill>
              <a:latin typeface="Montserrat"/>
            </a:endParaRPr>
          </a:p>
        </p:txBody>
      </p:sp>
      <p:sp>
        <p:nvSpPr>
          <p:cNvPr id="11" name="Flowchart: Process 10">
            <a:extLst>
              <a:ext uri="{FF2B5EF4-FFF2-40B4-BE49-F238E27FC236}">
                <a16:creationId xmlns:a16="http://schemas.microsoft.com/office/drawing/2014/main" id="{D19AE36C-9290-9304-07A2-8FD2CC26CCC7}"/>
              </a:ext>
            </a:extLst>
          </p:cNvPr>
          <p:cNvSpPr/>
          <p:nvPr/>
        </p:nvSpPr>
        <p:spPr>
          <a:xfrm>
            <a:off x="4359112" y="1094222"/>
            <a:ext cx="3620554" cy="3465421"/>
          </a:xfrm>
          <a:prstGeom prst="flowChartProcess">
            <a:avLst/>
          </a:prstGeom>
          <a:solidFill>
            <a:srgbClr val="D3E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E822777-EF15-4E5C-92B4-21AF4A1227EF}"/>
              </a:ext>
            </a:extLst>
          </p:cNvPr>
          <p:cNvSpPr txBox="1"/>
          <p:nvPr/>
        </p:nvSpPr>
        <p:spPr>
          <a:xfrm>
            <a:off x="4563023" y="1128758"/>
            <a:ext cx="3212731" cy="3108543"/>
          </a:xfrm>
          <a:prstGeom prst="rect">
            <a:avLst/>
          </a:prstGeom>
          <a:noFill/>
        </p:spPr>
        <p:txBody>
          <a:bodyPr wrap="square" lIns="91440" tIns="45720" rIns="91440" bIns="45720" anchor="t">
            <a:spAutoFit/>
          </a:bodyPr>
          <a:lstStyle/>
          <a:p>
            <a:r>
              <a:rPr lang="en">
                <a:solidFill>
                  <a:schemeClr val="dk1"/>
                </a:solidFill>
                <a:latin typeface="Vidaloka"/>
                <a:sym typeface="Vidaloka"/>
              </a:rPr>
              <a:t>Strategic Resources &amp; Partnerships </a:t>
            </a:r>
          </a:p>
          <a:p>
            <a:pPr marL="285750" indent="-285750">
              <a:buFont typeface="Arial" panose="020B0604020202020204" pitchFamily="34" charset="0"/>
              <a:buChar char="•"/>
            </a:pPr>
            <a:r>
              <a:rPr lang="en">
                <a:solidFill>
                  <a:schemeClr val="dk1"/>
                </a:solidFill>
                <a:latin typeface="Montserrat"/>
                <a:sym typeface="Vidaloka"/>
              </a:rPr>
              <a:t>High-quality pod equipment and campus-based locations </a:t>
            </a:r>
            <a:endParaRPr lang="en">
              <a:solidFill>
                <a:schemeClr val="dk1"/>
              </a:solidFill>
              <a:latin typeface="Montserrat"/>
            </a:endParaRPr>
          </a:p>
          <a:p>
            <a:pPr marL="285750" indent="-285750">
              <a:buFont typeface="Arial" panose="020B0604020202020204" pitchFamily="34" charset="0"/>
              <a:buChar char="•"/>
            </a:pPr>
            <a:r>
              <a:rPr lang="en">
                <a:solidFill>
                  <a:schemeClr val="dk1"/>
                </a:solidFill>
                <a:latin typeface="Montserrat"/>
                <a:sym typeface="Vidaloka"/>
              </a:rPr>
              <a:t>Integration of mobile booking and operational systems</a:t>
            </a:r>
            <a:endParaRPr lang="en">
              <a:solidFill>
                <a:schemeClr val="dk1"/>
              </a:solidFill>
              <a:latin typeface="Montserrat"/>
            </a:endParaRPr>
          </a:p>
          <a:p>
            <a:endParaRPr lang="en">
              <a:solidFill>
                <a:schemeClr val="dk1"/>
              </a:solidFill>
              <a:latin typeface="Vidaloka"/>
              <a:sym typeface="Vidaloka"/>
            </a:endParaRPr>
          </a:p>
          <a:p>
            <a:pPr lvl="2"/>
            <a:r>
              <a:rPr lang="en">
                <a:solidFill>
                  <a:schemeClr val="dk1"/>
                </a:solidFill>
                <a:latin typeface="Vidaloka"/>
                <a:sym typeface="Vidaloka"/>
              </a:rPr>
              <a:t>Continuous Improvement Focus </a:t>
            </a:r>
            <a:endParaRPr lang="en">
              <a:solidFill>
                <a:schemeClr val="dk1"/>
              </a:solidFill>
              <a:latin typeface="Vidaloka"/>
            </a:endParaRPr>
          </a:p>
          <a:p>
            <a:pPr marL="285750" lvl="2" indent="-285750">
              <a:buFont typeface="Arial" panose="020B0604020202020204" pitchFamily="34" charset="0"/>
              <a:buChar char="•"/>
            </a:pPr>
            <a:r>
              <a:rPr lang="en">
                <a:solidFill>
                  <a:schemeClr val="dk1"/>
                </a:solidFill>
                <a:latin typeface="Montserrat"/>
                <a:sym typeface="Vidaloka"/>
              </a:rPr>
              <a:t>Implementation of the </a:t>
            </a:r>
            <a:r>
              <a:rPr lang="en" b="1">
                <a:solidFill>
                  <a:schemeClr val="dk1"/>
                </a:solidFill>
                <a:latin typeface="Montserrat"/>
                <a:sym typeface="Vidaloka"/>
              </a:rPr>
              <a:t>Rest Rewards Program </a:t>
            </a:r>
            <a:endParaRPr lang="en" b="1">
              <a:solidFill>
                <a:schemeClr val="dk1"/>
              </a:solidFill>
              <a:latin typeface="Montserrat"/>
            </a:endParaRPr>
          </a:p>
          <a:p>
            <a:pPr marL="285750" lvl="2" indent="-285750">
              <a:buFont typeface="Arial" panose="020B0604020202020204" pitchFamily="34" charset="0"/>
              <a:buChar char="•"/>
            </a:pPr>
            <a:r>
              <a:rPr lang="en">
                <a:solidFill>
                  <a:schemeClr val="dk1"/>
                </a:solidFill>
                <a:latin typeface="Montserrat"/>
                <a:sym typeface="Vidaloka"/>
              </a:rPr>
              <a:t>Incentives and service enhancements to drive repeat usage </a:t>
            </a:r>
            <a:endParaRPr lang="en">
              <a:solidFill>
                <a:schemeClr val="dk1"/>
              </a:solidFill>
              <a:latin typeface="Montserrat"/>
            </a:endParaRPr>
          </a:p>
          <a:p>
            <a:pPr marL="285750" lvl="2" indent="-285750">
              <a:buFont typeface="Arial" panose="020B0604020202020204" pitchFamily="34" charset="0"/>
              <a:buChar char="•"/>
            </a:pPr>
            <a:r>
              <a:rPr lang="en">
                <a:solidFill>
                  <a:schemeClr val="dk1"/>
                </a:solidFill>
                <a:latin typeface="Montserrat"/>
                <a:sym typeface="Vidaloka"/>
              </a:rPr>
              <a:t>Ongoing staff training and process optimization </a:t>
            </a:r>
            <a:endParaRPr lang="en-US">
              <a:solidFill>
                <a:schemeClr val="dk1"/>
              </a:solidFill>
              <a:latin typeface="Montserrat"/>
            </a:endParaRPr>
          </a:p>
        </p:txBody>
      </p:sp>
    </p:spTree>
    <p:extLst>
      <p:ext uri="{BB962C8B-B14F-4D97-AF65-F5344CB8AC3E}">
        <p14:creationId xmlns:p14="http://schemas.microsoft.com/office/powerpoint/2010/main" val="970223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1" grpId="0" animBg="1"/>
      <p:bldP spid="12" grpId="0"/>
    </p:bldLst>
  </p:timing>
</p:sld>
</file>

<file path=ppt/theme/theme1.xml><?xml version="1.0" encoding="utf-8"?>
<a:theme xmlns:a="http://schemas.openxmlformats.org/drawingml/2006/main" name="Minimalist Business Slides XL by Slidesgo">
  <a:themeElements>
    <a:clrScheme name="Simple Light">
      <a:dk1>
        <a:srgbClr val="000000"/>
      </a:dk1>
      <a:lt1>
        <a:srgbClr val="E3E7F0"/>
      </a:lt1>
      <a:dk2>
        <a:srgbClr val="000000"/>
      </a:dk2>
      <a:lt2>
        <a:srgbClr val="E3E7F0"/>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218BD763AC916439A090B643D7F272B" ma:contentTypeVersion="5" ma:contentTypeDescription="Create a new document." ma:contentTypeScope="" ma:versionID="10416af66fe107a8ecee92fc1f72e53e">
  <xsd:schema xmlns:xsd="http://www.w3.org/2001/XMLSchema" xmlns:xs="http://www.w3.org/2001/XMLSchema" xmlns:p="http://schemas.microsoft.com/office/2006/metadata/properties" xmlns:ns3="cff4d971-b741-4d8d-8b57-49f4a0f2958f" targetNamespace="http://schemas.microsoft.com/office/2006/metadata/properties" ma:root="true" ma:fieldsID="db16767c695fc2bb17d5837971bd42ec" ns3:_="">
    <xsd:import namespace="cff4d971-b741-4d8d-8b57-49f4a0f2958f"/>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ff4d971-b741-4d8d-8b57-49f4a0f2958f"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cff4d971-b741-4d8d-8b57-49f4a0f2958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DB4E587-CB02-4BE8-9101-9C8F46CC70E5}">
  <ds:schemaRefs>
    <ds:schemaRef ds:uri="cff4d971-b741-4d8d-8b57-49f4a0f2958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DBA92DE-A125-40FC-A096-EB89686C268D}">
  <ds:schemaRefs>
    <ds:schemaRef ds:uri="http://schemas.microsoft.com/office/2006/documentManagement/types"/>
    <ds:schemaRef ds:uri="http://www.w3.org/XML/1998/namespace"/>
    <ds:schemaRef ds:uri="http://purl.org/dc/terms/"/>
    <ds:schemaRef ds:uri="http://purl.org/dc/elements/1.1/"/>
    <ds:schemaRef ds:uri="cff4d971-b741-4d8d-8b57-49f4a0f2958f"/>
    <ds:schemaRef ds:uri="http://schemas.openxmlformats.org/package/2006/metadata/core-properties"/>
    <ds:schemaRef ds:uri="http://schemas.microsoft.com/office/infopath/2007/PartnerControls"/>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3A77B78D-BA1F-4C10-A286-A06168083D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1978</Words>
  <Application>Microsoft Macintosh PowerPoint</Application>
  <PresentationFormat>On-screen Show (16:9)</PresentationFormat>
  <Paragraphs>245</Paragraphs>
  <Slides>20</Slides>
  <Notes>20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Montserrat</vt:lpstr>
      <vt:lpstr>Courier New</vt:lpstr>
      <vt:lpstr>Arial</vt:lpstr>
      <vt:lpstr>Calibri</vt:lpstr>
      <vt:lpstr>Vidaloka</vt:lpstr>
      <vt:lpstr>Merriweather Light</vt:lpstr>
      <vt:lpstr>Open Sans</vt:lpstr>
      <vt:lpstr>Minimalist Business Slides XL by Slidesgo</vt:lpstr>
      <vt:lpstr>PowerPoint Presentation</vt:lpstr>
      <vt:lpstr>Our Business Concept</vt:lpstr>
      <vt:lpstr>Customer Value Proposition</vt:lpstr>
      <vt:lpstr>Our Vision</vt:lpstr>
      <vt:lpstr>PowerPoint Presentation</vt:lpstr>
      <vt:lpstr>Financial Objectives</vt:lpstr>
      <vt:lpstr>Corporate Social Responsibility Key Initiatives</vt:lpstr>
      <vt:lpstr>PowerPoint Presentation</vt:lpstr>
      <vt:lpstr>National Expansion?</vt:lpstr>
      <vt:lpstr>Global Expansion Details </vt:lpstr>
      <vt:lpstr>Expansion/Entry Strategies</vt:lpstr>
      <vt:lpstr>PowerPoint Presentation</vt:lpstr>
      <vt:lpstr>Employee Motivation Initiatives</vt:lpstr>
      <vt:lpstr>Announcing the Departure of 2 Key Employees</vt:lpstr>
      <vt:lpstr>PowerPoint Presentation</vt:lpstr>
      <vt:lpstr>PowerPoint Presentation</vt:lpstr>
      <vt:lpstr>PowerPoint Presentation</vt:lpstr>
      <vt:lpstr>Rationale on the Sale of the Business</vt:lpstr>
      <vt:lpstr>Improvement Initiative </vt:lpstr>
      <vt:lpstr>A Successful Business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Priscilla Chang</cp:lastModifiedBy>
  <cp:revision>2</cp:revision>
  <dcterms:modified xsi:type="dcterms:W3CDTF">2026-04-14T01:40:08Z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0x0101009218BD763AC916439A090B643D7F272B</vt:lpwstr>
  </property>
</Properties>
</file>